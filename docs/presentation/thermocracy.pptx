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(~10s)
This is Thermocracy. It settles a question every office argues about and nobody can actually answer: is it you, or is it the room?
FRAME
Dark title card. The product name at display size, the tagline beneath it, and the freezing-to-roasting scale running under both, labelled at each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(~20s)
We built a board where anyone on a floor picks their spot and taps one of five buttons — freezing to roasting. Those votes become a live heat map of the floor, and a board that refuses to average away a room that disagrees with itself. Let us show you what that looks like on a real afternoon.
FRAME
Light slide. One-sentence answer across the top, then three equal cards — the vote, the map, and the refusal to average. Card three is tinted to mark it as the unusual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(~18s)
So. One Tuesday, Level 7. At twenty to three, Priya is at the north window seats, and has been quietly writing off half a row of desks every afternoon since the weather turned.
FRAME
Dark slide. A large warm-coloured disc with Priya's initial, their name and desk beside it, a timestamp, and their complaint set large as a pull quote. Nothing else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(~20s)
Forty metres away, at the core desks, Daniel keeps a blanket under the desk. In July. Same floor, same minute, one setpoint — twenty-two degrees — serving both of them. Move that number in either direction and you simply choose which of these two people to upset.
FRAME
Same layout as the previous slide, cold disc this time, so the two read as a pair. The setpoint fact lands underneath as a single line: one number is serving both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(~22s)
And this is why we built it. Three people lose here. The person sitting there has no way to report comfort that isn't an awkward email. Facilities get opinions one at a time, with no idea how many people agree. And whoever signs off the repair never sees evidence that the fault is physical — so the duct never gets fixed, and someone just nudges the setpoint again. Back to Tuesday.
FRAME
Light slide, the one step out of the story. Three stacked rows, each a coloured disc, a bold role, and what that person is missing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(~20s)
So Priya taps. Pick the spot — it is remembered next time — and hit one of five buttons. Two seconds, no ticket, no login. One vote per person per spot, changeable whenever the room changes its mind, and after two hours it expires on its own. Daniel taps too. So do nine other people on that floor.
FRAME
Light slide, two columns. Left: the vote panel at close to actual size — Priya's spot in the picker, the five buttons with Roasting pressed, and the line the board says back. Right: the three rules that govern a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(~28s)
Eleven votes are in. Three freezing, three roasting, one person comfortable. And the average lands on exactly zero — about right. Every survey, every sensor, every thermostat in that building would report Level 7 as fine. Ten of those eleven people are not fine. This is the moment a normal tool gets it wrong.
FRAME
Dark slide, the hinge of the whole deck. Left: two large stat callouts — the mean, and how many people are actually comfortable. Right: eleven votes as dots, needle dead centre, with the verdict an average would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(~32s)
Because when at least four people have voted, at least a quarter fall on each side, and most of the room is uncomfortable, the board declares that spot split — and then refuses to summarise it. The verdict won't pick a direction. The needle goes dashed, because the average of two camps is a lie. And it tells Priya and Daniel what it actually means: this is not a temperature problem. This is one spot pretending to be two, and turning the thermostat would just move the complaint to the other group. This is the part we are proudest of.
FRAME
Light slide, the centrepiece. Left: the three conditions in a tinted card, each with the reason it exists, and beneath them the verdict the board actually prints, with its Split chip. Right: the six things that change the moment it fires, and the explanation the board gives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(~26s)
All of it lands on Level 7's actual floor plan. The size of a patch is how many people voted — confidence. The intensity is how far from comfortable they are — severity. Grey means nobody has voted there: unknown, not fine. And the open floor is drawn in two colours at once, because there is no honest single colour for a place whose occupants disagree.
FRAME
Light slide. Level 7's floor plan with the afternoon on it — a hot patch at the windows, a cold one at the core, and the open floor rendered as overlapping cold and warm blobs. Right column: the four rules for reading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(~24s)
Marcus, in facilities, opens the board to every spot in the building ranked by what needs looking at. Split spots first, because no setpoint will help them. Then how far off it is and how many people said so. Quiet spots sink. Marcus marks Level 7 as someone's looking at it — and that badge appears on the map, so the floor can see something is happening and stops filing the same ticket.
FRAME
Light slide. Left: the ranked list, split spot pinned at the top, each row with its verdict, turnout and a miniature dot strip. Right: how the order is decided, then the status control Marcus uses and the badge it puts on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(~22s)
And the diagnosis is exactly what the board suggested. The window run and the shaded core share one damper — one number was always going to fail one of them. So Marcus splits the spot in two, straight from the warning, and drops each new spot where it really sits on the plan.
FRAME
Light slide, two-by-two. The diagnosis Marcus reaches, and the three things the board lets them do about it. The last card is tinted — it is the board proposing the fix.
CUTTABLE: this slide can be dropped for the short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(~22s)
Ninety minutes later. One damper rebalanced — the only physical work anybody did. Two spots where there used to be one that could never be right, both settled, and both still being voted on, so it stays honest. Priya and Daniel never spoke to each other. They both just tapped a button.
FRAME
The same floor plan as three slides ago, now calm: two separate spots where the split was, both green, both badged ADJUSTED. Right column is short — the story is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(~22s)
That was seven features, and not one of them had to be explained to Priya, Daniel or Marcus. The vote, the spot picker, the dot plot, split detection, the heat map, the ranked list, and the status everyone on the floor can see.
FRAME
Light slide, two columns of ticked items. Every feature the story used, named plainly, with the beat it did its work in. The one slide an evaluator can check off against.
CUTTABLE: this slide can be dropped for the short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(~28s)
Three things separate this from a survey or a sensor. One: it refuses to average a split room — it detects when a mean would be a lie and reports the disagreement instead. Two: it shows the shape of opinion rather than a score, so three freezing and three roasting can't hide behind a zero. Three: it expires, so this is always a picture of now. A sensor measures the air. This measures the people in it, and they are the ones filing the tickets.
FRAME
Dark slide. Three cards, each a claim with its supporting sentence, the first tinted because it is the one nothing else does. One line underneath separates it from a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(~10s)
Thermocracy. Is it you, or is it the room? Now the floor can answer. Thank you.
FRAME
Dark close, mirroring the title card. The name, the question it opened with, the answer, and the scenario's result as the last line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A1F"/>
        </a:solidFill>
      </p:bgPr>
    </p:bg>
    <p:spTree>
      <p:nvGrpSpPr>
        <p:cNvPr id="1" name=""/>
        <p:cNvGrpSpPr/>
        <p:nvPr/>
      </p:nvGrpSpPr>
      <p:grpSpPr>
        <a:xfrm>
          <a:off x="0" y="0"/>
          <a:ext cx="0" cy="0"/>
          <a:chOff x="0" y="0"/>
          <a:chExt cx="0" cy="0"/>
        </a:xfrm>
      </p:grpSpPr>
      <p:sp>
        <p:nvSpPr>
          <p:cNvPr id="2" name="Text 0"/>
          <p:cNvSpPr txBox="1"/>
          <p:nvPr/>
        </p:nvSpPr>
        <p:spPr>
          <a:xfrm>
            <a:off x="566928" y="2048256"/>
            <a:ext cx="11057839" cy="1234440"/>
          </a:xfrm>
          <a:prstGeom prst="rect">
            <a:avLst/>
          </a:prstGeom>
          <a:noFill/>
          <a:ln/>
        </p:spPr>
        <p:txBody>
          <a:bodyPr wrap="square" lIns="0" tIns="0" rIns="0" bIns="0" rtlCol="0" anchor="t"/>
          <a:lstStyle/>
          <a:p>
            <a:pPr algn="l" indent="0" marL="0">
              <a:buNone/>
            </a:pPr>
            <a:r>
              <a:rPr lang="en-US" sz="7000" b="1" spc="-200" kern="0" dirty="0">
                <a:solidFill>
                  <a:srgbClr val="E6EEF1"/>
                </a:solidFill>
                <a:latin typeface="Calibri" pitchFamily="34" charset="0"/>
                <a:ea typeface="Calibri" pitchFamily="34" charset="-122"/>
                <a:cs typeface="Calibri" pitchFamily="34" charset="-120"/>
              </a:rPr>
              <a:t>Thermocracy</a:t>
            </a:r>
            <a:endParaRPr lang="en-US" sz="7000" dirty="0"/>
          </a:p>
        </p:txBody>
      </p:sp>
      <p:sp>
        <p:nvSpPr>
          <p:cNvPr id="3" name="Text 1"/>
          <p:cNvSpPr txBox="1"/>
          <p:nvPr/>
        </p:nvSpPr>
        <p:spPr>
          <a:xfrm>
            <a:off x="566928" y="3364992"/>
            <a:ext cx="11057839" cy="548640"/>
          </a:xfrm>
          <a:prstGeom prst="rect">
            <a:avLst/>
          </a:prstGeom>
          <a:noFill/>
          <a:ln/>
        </p:spPr>
        <p:txBody>
          <a:bodyPr wrap="square" lIns="0" tIns="0" rIns="0" bIns="0" rtlCol="0" anchor="t"/>
          <a:lstStyle/>
          <a:p>
            <a:pPr algn="l" indent="0" marL="0">
              <a:buNone/>
            </a:pPr>
            <a:r>
              <a:rPr lang="en-US" sz="2700" dirty="0">
                <a:solidFill>
                  <a:srgbClr val="78BBD8"/>
                </a:solidFill>
                <a:latin typeface="Calibri" pitchFamily="34" charset="0"/>
                <a:ea typeface="Calibri" pitchFamily="34" charset="-122"/>
                <a:cs typeface="Calibri" pitchFamily="34" charset="-120"/>
              </a:rPr>
              <a:t>Is it you, or is it the room?</a:t>
            </a:r>
            <a:endParaRPr lang="en-US" sz="2700" dirty="0"/>
          </a:p>
        </p:txBody>
      </p:sp>
      <p:sp>
        <p:nvSpPr>
          <p:cNvPr id="4" name="Shape 2"/>
          <p:cNvSpPr/>
          <p:nvPr/>
        </p:nvSpPr>
        <p:spPr>
          <a:xfrm>
            <a:off x="566928" y="4517136"/>
            <a:ext cx="296563" cy="155448"/>
          </a:xfrm>
          <a:prstGeom prst="rect">
            <a:avLst/>
          </a:prstGeom>
          <a:solidFill>
            <a:srgbClr val="5D9EE0"/>
          </a:solidFill>
          <a:ln/>
        </p:spPr>
      </p:sp>
      <p:sp>
        <p:nvSpPr>
          <p:cNvPr id="5" name="Shape 3"/>
          <p:cNvSpPr/>
          <p:nvPr/>
        </p:nvSpPr>
        <p:spPr>
          <a:xfrm>
            <a:off x="843374" y="4517136"/>
            <a:ext cx="296563" cy="155448"/>
          </a:xfrm>
          <a:prstGeom prst="rect">
            <a:avLst/>
          </a:prstGeom>
          <a:solidFill>
            <a:srgbClr val="60A1DF"/>
          </a:solidFill>
          <a:ln/>
        </p:spPr>
      </p:sp>
      <p:sp>
        <p:nvSpPr>
          <p:cNvPr id="6" name="Shape 4"/>
          <p:cNvSpPr/>
          <p:nvPr/>
        </p:nvSpPr>
        <p:spPr>
          <a:xfrm>
            <a:off x="1119820" y="4517136"/>
            <a:ext cx="296563" cy="155448"/>
          </a:xfrm>
          <a:prstGeom prst="rect">
            <a:avLst/>
          </a:prstGeom>
          <a:solidFill>
            <a:srgbClr val="63A4DE"/>
          </a:solidFill>
          <a:ln/>
        </p:spPr>
      </p:sp>
      <p:sp>
        <p:nvSpPr>
          <p:cNvPr id="7" name="Shape 5"/>
          <p:cNvSpPr/>
          <p:nvPr/>
        </p:nvSpPr>
        <p:spPr>
          <a:xfrm>
            <a:off x="1396266" y="4517136"/>
            <a:ext cx="296563" cy="155448"/>
          </a:xfrm>
          <a:prstGeom prst="rect">
            <a:avLst/>
          </a:prstGeom>
          <a:solidFill>
            <a:srgbClr val="65A7DE"/>
          </a:solidFill>
          <a:ln/>
        </p:spPr>
      </p:sp>
      <p:sp>
        <p:nvSpPr>
          <p:cNvPr id="8" name="Shape 6"/>
          <p:cNvSpPr/>
          <p:nvPr/>
        </p:nvSpPr>
        <p:spPr>
          <a:xfrm>
            <a:off x="1672712" y="4517136"/>
            <a:ext cx="296563" cy="155448"/>
          </a:xfrm>
          <a:prstGeom prst="rect">
            <a:avLst/>
          </a:prstGeom>
          <a:solidFill>
            <a:srgbClr val="68AADD"/>
          </a:solidFill>
          <a:ln/>
        </p:spPr>
      </p:sp>
      <p:sp>
        <p:nvSpPr>
          <p:cNvPr id="9" name="Shape 7"/>
          <p:cNvSpPr/>
          <p:nvPr/>
        </p:nvSpPr>
        <p:spPr>
          <a:xfrm>
            <a:off x="1949158" y="4517136"/>
            <a:ext cx="296563" cy="155448"/>
          </a:xfrm>
          <a:prstGeom prst="rect">
            <a:avLst/>
          </a:prstGeom>
          <a:solidFill>
            <a:srgbClr val="6BADDC"/>
          </a:solidFill>
          <a:ln/>
        </p:spPr>
      </p:sp>
      <p:sp>
        <p:nvSpPr>
          <p:cNvPr id="10" name="Shape 8"/>
          <p:cNvSpPr/>
          <p:nvPr/>
        </p:nvSpPr>
        <p:spPr>
          <a:xfrm>
            <a:off x="2225604" y="4517136"/>
            <a:ext cx="296563" cy="155448"/>
          </a:xfrm>
          <a:prstGeom prst="rect">
            <a:avLst/>
          </a:prstGeom>
          <a:solidFill>
            <a:srgbClr val="6EB0DB"/>
          </a:solidFill>
          <a:ln/>
        </p:spPr>
      </p:sp>
      <p:sp>
        <p:nvSpPr>
          <p:cNvPr id="11" name="Shape 9"/>
          <p:cNvSpPr/>
          <p:nvPr/>
        </p:nvSpPr>
        <p:spPr>
          <a:xfrm>
            <a:off x="2502050" y="4517136"/>
            <a:ext cx="296563" cy="155448"/>
          </a:xfrm>
          <a:prstGeom prst="rect">
            <a:avLst/>
          </a:prstGeom>
          <a:solidFill>
            <a:srgbClr val="70B3DA"/>
          </a:solidFill>
          <a:ln/>
        </p:spPr>
      </p:sp>
      <p:sp>
        <p:nvSpPr>
          <p:cNvPr id="12" name="Shape 10"/>
          <p:cNvSpPr/>
          <p:nvPr/>
        </p:nvSpPr>
        <p:spPr>
          <a:xfrm>
            <a:off x="2778496" y="4517136"/>
            <a:ext cx="296563" cy="155448"/>
          </a:xfrm>
          <a:prstGeom prst="rect">
            <a:avLst/>
          </a:prstGeom>
          <a:solidFill>
            <a:srgbClr val="73B6D9"/>
          </a:solidFill>
          <a:ln/>
        </p:spPr>
      </p:sp>
      <p:sp>
        <p:nvSpPr>
          <p:cNvPr id="13" name="Shape 11"/>
          <p:cNvSpPr/>
          <p:nvPr/>
        </p:nvSpPr>
        <p:spPr>
          <a:xfrm>
            <a:off x="3054942" y="4517136"/>
            <a:ext cx="296563" cy="155448"/>
          </a:xfrm>
          <a:prstGeom prst="rect">
            <a:avLst/>
          </a:prstGeom>
          <a:solidFill>
            <a:srgbClr val="76B9D9"/>
          </a:solidFill>
          <a:ln/>
        </p:spPr>
      </p:sp>
      <p:sp>
        <p:nvSpPr>
          <p:cNvPr id="14" name="Shape 12"/>
          <p:cNvSpPr/>
          <p:nvPr/>
        </p:nvSpPr>
        <p:spPr>
          <a:xfrm>
            <a:off x="3331388" y="4517136"/>
            <a:ext cx="296563" cy="155448"/>
          </a:xfrm>
          <a:prstGeom prst="rect">
            <a:avLst/>
          </a:prstGeom>
          <a:solidFill>
            <a:srgbClr val="77BBD6"/>
          </a:solidFill>
          <a:ln/>
        </p:spPr>
      </p:sp>
      <p:sp>
        <p:nvSpPr>
          <p:cNvPr id="15" name="Shape 13"/>
          <p:cNvSpPr/>
          <p:nvPr/>
        </p:nvSpPr>
        <p:spPr>
          <a:xfrm>
            <a:off x="3607834" y="4517136"/>
            <a:ext cx="296563" cy="155448"/>
          </a:xfrm>
          <a:prstGeom prst="rect">
            <a:avLst/>
          </a:prstGeom>
          <a:solidFill>
            <a:srgbClr val="74BBCF"/>
          </a:solidFill>
          <a:ln/>
        </p:spPr>
      </p:sp>
      <p:sp>
        <p:nvSpPr>
          <p:cNvPr id="16" name="Shape 14"/>
          <p:cNvSpPr/>
          <p:nvPr/>
        </p:nvSpPr>
        <p:spPr>
          <a:xfrm>
            <a:off x="3884280" y="4517136"/>
            <a:ext cx="296563" cy="155448"/>
          </a:xfrm>
          <a:prstGeom prst="rect">
            <a:avLst/>
          </a:prstGeom>
          <a:solidFill>
            <a:srgbClr val="70BBC8"/>
          </a:solidFill>
          <a:ln/>
        </p:spPr>
      </p:sp>
      <p:sp>
        <p:nvSpPr>
          <p:cNvPr id="17" name="Shape 15"/>
          <p:cNvSpPr/>
          <p:nvPr/>
        </p:nvSpPr>
        <p:spPr>
          <a:xfrm>
            <a:off x="4160726" y="4517136"/>
            <a:ext cx="296563" cy="155448"/>
          </a:xfrm>
          <a:prstGeom prst="rect">
            <a:avLst/>
          </a:prstGeom>
          <a:solidFill>
            <a:srgbClr val="6DBBC1"/>
          </a:solidFill>
          <a:ln/>
        </p:spPr>
      </p:sp>
      <p:sp>
        <p:nvSpPr>
          <p:cNvPr id="18" name="Shape 16"/>
          <p:cNvSpPr/>
          <p:nvPr/>
        </p:nvSpPr>
        <p:spPr>
          <a:xfrm>
            <a:off x="4437172" y="4517136"/>
            <a:ext cx="296563" cy="155448"/>
          </a:xfrm>
          <a:prstGeom prst="rect">
            <a:avLst/>
          </a:prstGeom>
          <a:solidFill>
            <a:srgbClr val="69BBBA"/>
          </a:solidFill>
          <a:ln/>
        </p:spPr>
      </p:sp>
      <p:sp>
        <p:nvSpPr>
          <p:cNvPr id="19" name="Shape 17"/>
          <p:cNvSpPr/>
          <p:nvPr/>
        </p:nvSpPr>
        <p:spPr>
          <a:xfrm>
            <a:off x="4713618" y="4517136"/>
            <a:ext cx="296563" cy="155448"/>
          </a:xfrm>
          <a:prstGeom prst="rect">
            <a:avLst/>
          </a:prstGeom>
          <a:solidFill>
            <a:srgbClr val="66BCB3"/>
          </a:solidFill>
          <a:ln/>
        </p:spPr>
      </p:sp>
      <p:sp>
        <p:nvSpPr>
          <p:cNvPr id="20" name="Shape 18"/>
          <p:cNvSpPr/>
          <p:nvPr/>
        </p:nvSpPr>
        <p:spPr>
          <a:xfrm>
            <a:off x="4990064" y="4517136"/>
            <a:ext cx="296563" cy="155448"/>
          </a:xfrm>
          <a:prstGeom prst="rect">
            <a:avLst/>
          </a:prstGeom>
          <a:solidFill>
            <a:srgbClr val="62BCAC"/>
          </a:solidFill>
          <a:ln/>
        </p:spPr>
      </p:sp>
      <p:sp>
        <p:nvSpPr>
          <p:cNvPr id="21" name="Shape 19"/>
          <p:cNvSpPr/>
          <p:nvPr/>
        </p:nvSpPr>
        <p:spPr>
          <a:xfrm>
            <a:off x="5266510" y="4517136"/>
            <a:ext cx="296563" cy="155448"/>
          </a:xfrm>
          <a:prstGeom prst="rect">
            <a:avLst/>
          </a:prstGeom>
          <a:solidFill>
            <a:srgbClr val="5FBCA5"/>
          </a:solidFill>
          <a:ln/>
        </p:spPr>
      </p:sp>
      <p:sp>
        <p:nvSpPr>
          <p:cNvPr id="22" name="Shape 20"/>
          <p:cNvSpPr/>
          <p:nvPr/>
        </p:nvSpPr>
        <p:spPr>
          <a:xfrm>
            <a:off x="5542956" y="4517136"/>
            <a:ext cx="296563" cy="155448"/>
          </a:xfrm>
          <a:prstGeom prst="rect">
            <a:avLst/>
          </a:prstGeom>
          <a:solidFill>
            <a:srgbClr val="5BBC9E"/>
          </a:solidFill>
          <a:ln/>
        </p:spPr>
      </p:sp>
      <p:sp>
        <p:nvSpPr>
          <p:cNvPr id="23" name="Shape 21"/>
          <p:cNvSpPr/>
          <p:nvPr/>
        </p:nvSpPr>
        <p:spPr>
          <a:xfrm>
            <a:off x="5819402" y="4517136"/>
            <a:ext cx="296563" cy="155448"/>
          </a:xfrm>
          <a:prstGeom prst="rect">
            <a:avLst/>
          </a:prstGeom>
          <a:solidFill>
            <a:srgbClr val="58BC97"/>
          </a:solidFill>
          <a:ln/>
        </p:spPr>
      </p:sp>
      <p:sp>
        <p:nvSpPr>
          <p:cNvPr id="24" name="Shape 22"/>
          <p:cNvSpPr/>
          <p:nvPr/>
        </p:nvSpPr>
        <p:spPr>
          <a:xfrm>
            <a:off x="6095848" y="4517136"/>
            <a:ext cx="296563" cy="155448"/>
          </a:xfrm>
          <a:prstGeom prst="rect">
            <a:avLst/>
          </a:prstGeom>
          <a:solidFill>
            <a:srgbClr val="5DBB90"/>
          </a:solidFill>
          <a:ln/>
        </p:spPr>
      </p:sp>
      <p:sp>
        <p:nvSpPr>
          <p:cNvPr id="25" name="Shape 23"/>
          <p:cNvSpPr/>
          <p:nvPr/>
        </p:nvSpPr>
        <p:spPr>
          <a:xfrm>
            <a:off x="6372294" y="4517136"/>
            <a:ext cx="296563" cy="155448"/>
          </a:xfrm>
          <a:prstGeom prst="rect">
            <a:avLst/>
          </a:prstGeom>
          <a:solidFill>
            <a:srgbClr val="6CB98A"/>
          </a:solidFill>
          <a:ln/>
        </p:spPr>
      </p:sp>
      <p:sp>
        <p:nvSpPr>
          <p:cNvPr id="26" name="Shape 24"/>
          <p:cNvSpPr/>
          <p:nvPr/>
        </p:nvSpPr>
        <p:spPr>
          <a:xfrm>
            <a:off x="6648740" y="4517136"/>
            <a:ext cx="296563" cy="155448"/>
          </a:xfrm>
          <a:prstGeom prst="rect">
            <a:avLst/>
          </a:prstGeom>
          <a:solidFill>
            <a:srgbClr val="7BB784"/>
          </a:solidFill>
          <a:ln/>
        </p:spPr>
      </p:sp>
      <p:sp>
        <p:nvSpPr>
          <p:cNvPr id="27" name="Shape 25"/>
          <p:cNvSpPr/>
          <p:nvPr/>
        </p:nvSpPr>
        <p:spPr>
          <a:xfrm>
            <a:off x="6925186" y="4517136"/>
            <a:ext cx="296563" cy="155448"/>
          </a:xfrm>
          <a:prstGeom prst="rect">
            <a:avLst/>
          </a:prstGeom>
          <a:solidFill>
            <a:srgbClr val="8AB47D"/>
          </a:solidFill>
          <a:ln/>
        </p:spPr>
      </p:sp>
      <p:sp>
        <p:nvSpPr>
          <p:cNvPr id="28" name="Shape 26"/>
          <p:cNvSpPr/>
          <p:nvPr/>
        </p:nvSpPr>
        <p:spPr>
          <a:xfrm>
            <a:off x="7201632" y="4517136"/>
            <a:ext cx="296563" cy="155448"/>
          </a:xfrm>
          <a:prstGeom prst="rect">
            <a:avLst/>
          </a:prstGeom>
          <a:solidFill>
            <a:srgbClr val="99B277"/>
          </a:solidFill>
          <a:ln/>
        </p:spPr>
      </p:sp>
      <p:sp>
        <p:nvSpPr>
          <p:cNvPr id="29" name="Shape 27"/>
          <p:cNvSpPr/>
          <p:nvPr/>
        </p:nvSpPr>
        <p:spPr>
          <a:xfrm>
            <a:off x="7478078" y="4517136"/>
            <a:ext cx="296563" cy="155448"/>
          </a:xfrm>
          <a:prstGeom prst="rect">
            <a:avLst/>
          </a:prstGeom>
          <a:solidFill>
            <a:srgbClr val="A8B071"/>
          </a:solidFill>
          <a:ln/>
        </p:spPr>
      </p:sp>
      <p:sp>
        <p:nvSpPr>
          <p:cNvPr id="30" name="Shape 28"/>
          <p:cNvSpPr/>
          <p:nvPr/>
        </p:nvSpPr>
        <p:spPr>
          <a:xfrm>
            <a:off x="7754523" y="4517136"/>
            <a:ext cx="296563" cy="155448"/>
          </a:xfrm>
          <a:prstGeom prst="rect">
            <a:avLst/>
          </a:prstGeom>
          <a:solidFill>
            <a:srgbClr val="B7AE6B"/>
          </a:solidFill>
          <a:ln/>
        </p:spPr>
      </p:sp>
      <p:sp>
        <p:nvSpPr>
          <p:cNvPr id="31" name="Shape 29"/>
          <p:cNvSpPr/>
          <p:nvPr/>
        </p:nvSpPr>
        <p:spPr>
          <a:xfrm>
            <a:off x="8030969" y="4517136"/>
            <a:ext cx="296563" cy="155448"/>
          </a:xfrm>
          <a:prstGeom prst="rect">
            <a:avLst/>
          </a:prstGeom>
          <a:solidFill>
            <a:srgbClr val="C6AC65"/>
          </a:solidFill>
          <a:ln/>
        </p:spPr>
      </p:sp>
      <p:sp>
        <p:nvSpPr>
          <p:cNvPr id="32" name="Shape 30"/>
          <p:cNvSpPr/>
          <p:nvPr/>
        </p:nvSpPr>
        <p:spPr>
          <a:xfrm>
            <a:off x="8307415" y="4517136"/>
            <a:ext cx="296563" cy="155448"/>
          </a:xfrm>
          <a:prstGeom prst="rect">
            <a:avLst/>
          </a:prstGeom>
          <a:solidFill>
            <a:srgbClr val="D5AA5F"/>
          </a:solidFill>
          <a:ln/>
        </p:spPr>
      </p:sp>
      <p:sp>
        <p:nvSpPr>
          <p:cNvPr id="33" name="Shape 31"/>
          <p:cNvSpPr/>
          <p:nvPr/>
        </p:nvSpPr>
        <p:spPr>
          <a:xfrm>
            <a:off x="8583861" y="4517136"/>
            <a:ext cx="296563" cy="155448"/>
          </a:xfrm>
          <a:prstGeom prst="rect">
            <a:avLst/>
          </a:prstGeom>
          <a:solidFill>
            <a:srgbClr val="E4A859"/>
          </a:solidFill>
          <a:ln/>
        </p:spPr>
      </p:sp>
      <p:sp>
        <p:nvSpPr>
          <p:cNvPr id="34" name="Shape 32"/>
          <p:cNvSpPr/>
          <p:nvPr/>
        </p:nvSpPr>
        <p:spPr>
          <a:xfrm>
            <a:off x="8860307" y="4517136"/>
            <a:ext cx="296563" cy="155448"/>
          </a:xfrm>
          <a:prstGeom prst="rect">
            <a:avLst/>
          </a:prstGeom>
          <a:solidFill>
            <a:srgbClr val="E7A357"/>
          </a:solidFill>
          <a:ln/>
        </p:spPr>
      </p:sp>
      <p:sp>
        <p:nvSpPr>
          <p:cNvPr id="35" name="Shape 33"/>
          <p:cNvSpPr/>
          <p:nvPr/>
        </p:nvSpPr>
        <p:spPr>
          <a:xfrm>
            <a:off x="9136753" y="4517136"/>
            <a:ext cx="296563" cy="155448"/>
          </a:xfrm>
          <a:prstGeom prst="rect">
            <a:avLst/>
          </a:prstGeom>
          <a:solidFill>
            <a:srgbClr val="E79D56"/>
          </a:solidFill>
          <a:ln/>
        </p:spPr>
      </p:sp>
      <p:sp>
        <p:nvSpPr>
          <p:cNvPr id="36" name="Shape 34"/>
          <p:cNvSpPr/>
          <p:nvPr/>
        </p:nvSpPr>
        <p:spPr>
          <a:xfrm>
            <a:off x="9413199" y="4517136"/>
            <a:ext cx="296563" cy="155448"/>
          </a:xfrm>
          <a:prstGeom prst="rect">
            <a:avLst/>
          </a:prstGeom>
          <a:solidFill>
            <a:srgbClr val="E69856"/>
          </a:solidFill>
          <a:ln/>
        </p:spPr>
      </p:sp>
      <p:sp>
        <p:nvSpPr>
          <p:cNvPr id="37" name="Shape 35"/>
          <p:cNvSpPr/>
          <p:nvPr/>
        </p:nvSpPr>
        <p:spPr>
          <a:xfrm>
            <a:off x="9689645" y="4517136"/>
            <a:ext cx="296563" cy="155448"/>
          </a:xfrm>
          <a:prstGeom prst="rect">
            <a:avLst/>
          </a:prstGeom>
          <a:solidFill>
            <a:srgbClr val="E59255"/>
          </a:solidFill>
          <a:ln/>
        </p:spPr>
      </p:sp>
      <p:sp>
        <p:nvSpPr>
          <p:cNvPr id="38" name="Shape 36"/>
          <p:cNvSpPr/>
          <p:nvPr/>
        </p:nvSpPr>
        <p:spPr>
          <a:xfrm>
            <a:off x="9966091" y="4517136"/>
            <a:ext cx="296563" cy="155448"/>
          </a:xfrm>
          <a:prstGeom prst="rect">
            <a:avLst/>
          </a:prstGeom>
          <a:solidFill>
            <a:srgbClr val="E48D55"/>
          </a:solidFill>
          <a:ln/>
        </p:spPr>
      </p:sp>
      <p:sp>
        <p:nvSpPr>
          <p:cNvPr id="39" name="Shape 37"/>
          <p:cNvSpPr/>
          <p:nvPr/>
        </p:nvSpPr>
        <p:spPr>
          <a:xfrm>
            <a:off x="10242537" y="4517136"/>
            <a:ext cx="296563" cy="155448"/>
          </a:xfrm>
          <a:prstGeom prst="rect">
            <a:avLst/>
          </a:prstGeom>
          <a:solidFill>
            <a:srgbClr val="E38754"/>
          </a:solidFill>
          <a:ln/>
        </p:spPr>
      </p:sp>
      <p:sp>
        <p:nvSpPr>
          <p:cNvPr id="40" name="Shape 38"/>
          <p:cNvSpPr/>
          <p:nvPr/>
        </p:nvSpPr>
        <p:spPr>
          <a:xfrm>
            <a:off x="10518983" y="4517136"/>
            <a:ext cx="296563" cy="155448"/>
          </a:xfrm>
          <a:prstGeom prst="rect">
            <a:avLst/>
          </a:prstGeom>
          <a:solidFill>
            <a:srgbClr val="E28254"/>
          </a:solidFill>
          <a:ln/>
        </p:spPr>
      </p:sp>
      <p:sp>
        <p:nvSpPr>
          <p:cNvPr id="41" name="Shape 39"/>
          <p:cNvSpPr/>
          <p:nvPr/>
        </p:nvSpPr>
        <p:spPr>
          <a:xfrm>
            <a:off x="10795429" y="4517136"/>
            <a:ext cx="296563" cy="155448"/>
          </a:xfrm>
          <a:prstGeom prst="rect">
            <a:avLst/>
          </a:prstGeom>
          <a:solidFill>
            <a:srgbClr val="E27C53"/>
          </a:solidFill>
          <a:ln/>
        </p:spPr>
      </p:sp>
      <p:sp>
        <p:nvSpPr>
          <p:cNvPr id="42" name="Shape 40"/>
          <p:cNvSpPr/>
          <p:nvPr/>
        </p:nvSpPr>
        <p:spPr>
          <a:xfrm>
            <a:off x="11071875" y="4517136"/>
            <a:ext cx="296563" cy="155448"/>
          </a:xfrm>
          <a:prstGeom prst="rect">
            <a:avLst/>
          </a:prstGeom>
          <a:solidFill>
            <a:srgbClr val="E17753"/>
          </a:solidFill>
          <a:ln/>
        </p:spPr>
      </p:sp>
      <p:sp>
        <p:nvSpPr>
          <p:cNvPr id="43" name="Shape 41"/>
          <p:cNvSpPr/>
          <p:nvPr/>
        </p:nvSpPr>
        <p:spPr>
          <a:xfrm>
            <a:off x="11348321" y="4517136"/>
            <a:ext cx="276446" cy="155448"/>
          </a:xfrm>
          <a:prstGeom prst="rect">
            <a:avLst/>
          </a:prstGeom>
          <a:solidFill>
            <a:srgbClr val="E07152"/>
          </a:solidFill>
          <a:ln/>
        </p:spPr>
      </p:sp>
      <p:sp>
        <p:nvSpPr>
          <p:cNvPr id="44" name="Text 42"/>
          <p:cNvSpPr txBox="1"/>
          <p:nvPr/>
        </p:nvSpPr>
        <p:spPr>
          <a:xfrm>
            <a:off x="566928" y="4754880"/>
            <a:ext cx="2743200" cy="237744"/>
          </a:xfrm>
          <a:prstGeom prst="rect">
            <a:avLst/>
          </a:prstGeom>
          <a:noFill/>
          <a:ln/>
        </p:spPr>
        <p:txBody>
          <a:bodyPr wrap="square" lIns="0" tIns="0" rIns="0" bIns="0" rtlCol="0" anchor="t"/>
          <a:lstStyle/>
          <a:p>
            <a:pPr algn="l" indent="0" marL="0">
              <a:buNone/>
            </a:pPr>
            <a:r>
              <a:rPr lang="en-US" sz="1100" dirty="0">
                <a:solidFill>
                  <a:srgbClr val="93A6AF"/>
                </a:solidFill>
                <a:latin typeface="Calibri" pitchFamily="34" charset="0"/>
                <a:ea typeface="Calibri" pitchFamily="34" charset="-122"/>
                <a:cs typeface="Calibri" pitchFamily="34" charset="-120"/>
              </a:rPr>
              <a:t>freezing</a:t>
            </a:r>
            <a:endParaRPr lang="en-US" sz="1100" dirty="0"/>
          </a:p>
        </p:txBody>
      </p:sp>
      <p:sp>
        <p:nvSpPr>
          <p:cNvPr id="45" name="Text 43"/>
          <p:cNvSpPr txBox="1"/>
          <p:nvPr/>
        </p:nvSpPr>
        <p:spPr>
          <a:xfrm>
            <a:off x="8881567" y="4754880"/>
            <a:ext cx="2743200" cy="237744"/>
          </a:xfrm>
          <a:prstGeom prst="rect">
            <a:avLst/>
          </a:prstGeom>
          <a:noFill/>
          <a:ln/>
        </p:spPr>
        <p:txBody>
          <a:bodyPr wrap="square" lIns="0" tIns="0" rIns="0" bIns="0" rtlCol="0" anchor="t"/>
          <a:lstStyle/>
          <a:p>
            <a:pPr algn="r" indent="0" marL="0">
              <a:buNone/>
            </a:pPr>
            <a:r>
              <a:rPr lang="en-US" sz="1100" dirty="0">
                <a:solidFill>
                  <a:srgbClr val="93A6AF"/>
                </a:solidFill>
                <a:latin typeface="Calibri" pitchFamily="34" charset="0"/>
                <a:ea typeface="Calibri" pitchFamily="34" charset="-122"/>
                <a:cs typeface="Calibri" pitchFamily="34" charset="-120"/>
              </a:rPr>
              <a:t>roasting</a:t>
            </a:r>
            <a:endParaRPr lang="en-US" sz="1100" dirty="0"/>
          </a:p>
        </p:txBody>
      </p:sp>
      <p:sp>
        <p:nvSpPr>
          <p:cNvPr id="46" name="Text 44"/>
          <p:cNvSpPr txBox="1"/>
          <p:nvPr/>
        </p:nvSpPr>
        <p:spPr>
          <a:xfrm>
            <a:off x="566928" y="5340096"/>
            <a:ext cx="8595360" cy="457200"/>
          </a:xfrm>
          <a:prstGeom prst="rect">
            <a:avLst/>
          </a:prstGeom>
          <a:noFill/>
          <a:ln/>
        </p:spPr>
        <p:txBody>
          <a:bodyPr wrap="square" lIns="0" tIns="0" rIns="0" bIns="0" rtlCol="0" anchor="t"/>
          <a:lstStyle/>
          <a:p>
            <a:pPr algn="l" indent="0" marL="0">
              <a:buNone/>
            </a:pPr>
            <a:r>
              <a:rPr lang="en-US" sz="1550" dirty="0">
                <a:solidFill>
                  <a:srgbClr val="93A6AF"/>
                </a:solidFill>
                <a:latin typeface="Calibri" pitchFamily="34" charset="0"/>
                <a:ea typeface="Calibri" pitchFamily="34" charset="-122"/>
                <a:cs typeface="Calibri" pitchFamily="34" charset="-120"/>
              </a:rPr>
              <a:t>A shared board for how the office actually feels — not what the thermostat is set to.</a:t>
            </a:r>
            <a:endParaRPr lang="en-US" sz="1550" dirty="0"/>
          </a:p>
        </p:txBody>
      </p:sp>
      <p:sp>
        <p:nvSpPr>
          <p:cNvPr id="47" name="Text 45"/>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93A6AF"/>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7EDF0"/>
        </a:solidFill>
      </p:bgPr>
    </p:bg>
    <p:spTree>
      <p:nvGrpSpPr>
        <p:cNvPr id="1" name=""/>
        <p:cNvGrpSpPr/>
        <p:nvPr/>
      </p:nvGrpSpPr>
      <p:grpSpPr>
        <a:xfrm>
          <a:off x="0" y="0"/>
          <a:ext cx="0" cy="0"/>
          <a:chOff x="0" y="0"/>
          <a:chExt cx="0" cy="0"/>
        </a:xfrm>
      </p:grpSpPr>
      <p:sp>
        <p:nvSpPr>
          <p:cNvPr id="2" name="Text 0"/>
          <p:cNvSpPr txBox="1"/>
          <p:nvPr/>
        </p:nvSpPr>
        <p:spPr>
          <a:xfrm>
            <a:off x="566928" y="475488"/>
            <a:ext cx="11057839" cy="713232"/>
          </a:xfrm>
          <a:prstGeom prst="rect">
            <a:avLst/>
          </a:prstGeom>
          <a:noFill/>
          <a:ln/>
        </p:spPr>
        <p:txBody>
          <a:bodyPr wrap="square" lIns="0" tIns="0" rIns="0" bIns="0" rtlCol="0" anchor="t"/>
          <a:lstStyle/>
          <a:p>
            <a:pPr algn="l" indent="0" marL="0">
              <a:buNone/>
            </a:pPr>
            <a:r>
              <a:rPr lang="en-US" sz="3400" b="1" spc="-50" kern="0" dirty="0">
                <a:solidFill>
                  <a:srgbClr val="14242C"/>
                </a:solidFill>
                <a:latin typeface="Calibri" pitchFamily="34" charset="0"/>
                <a:ea typeface="Calibri" pitchFamily="34" charset="-122"/>
                <a:cs typeface="Calibri" pitchFamily="34" charset="-120"/>
              </a:rPr>
              <a:t>What we built</a:t>
            </a:r>
            <a:endParaRPr lang="en-US" sz="3400" dirty="0"/>
          </a:p>
        </p:txBody>
      </p:sp>
      <p:sp>
        <p:nvSpPr>
          <p:cNvPr id="3" name="Text 1"/>
          <p:cNvSpPr txBox="1"/>
          <p:nvPr/>
        </p:nvSpPr>
        <p:spPr>
          <a:xfrm>
            <a:off x="566928" y="1207008"/>
            <a:ext cx="10149840" cy="566928"/>
          </a:xfrm>
          <a:prstGeom prst="rect">
            <a:avLst/>
          </a:prstGeom>
          <a:noFill/>
          <a:ln/>
        </p:spPr>
        <p:txBody>
          <a:bodyPr wrap="square" lIns="0" tIns="0" rIns="0" bIns="0" rtlCol="0" anchor="t"/>
          <a:lstStyle/>
          <a:p>
            <a:pPr algn="l" indent="0" marL="0">
              <a:buNone/>
            </a:pPr>
            <a:r>
              <a:rPr lang="en-US" sz="1700" dirty="0">
                <a:solidFill>
                  <a:srgbClr val="5F737D"/>
                </a:solidFill>
                <a:latin typeface="Calibri" pitchFamily="34" charset="0"/>
                <a:ea typeface="Calibri" pitchFamily="34" charset="-122"/>
                <a:cs typeface="Calibri" pitchFamily="34" charset="-120"/>
              </a:rPr>
              <a:t>A board where anyone on a floor taps how it feels where they are sitting — and the building answers back.</a:t>
            </a:r>
            <a:endParaRPr lang="en-US" sz="1700" dirty="0"/>
          </a:p>
        </p:txBody>
      </p:sp>
      <p:sp>
        <p:nvSpPr>
          <p:cNvPr id="4" name="Shape 2"/>
          <p:cNvSpPr/>
          <p:nvPr/>
        </p:nvSpPr>
        <p:spPr>
          <a:xfrm>
            <a:off x="566928" y="2884932"/>
            <a:ext cx="3454298" cy="2414016"/>
          </a:xfrm>
          <a:prstGeom prst="roundRect">
            <a:avLst>
              <a:gd name="adj" fmla="val 2273"/>
            </a:avLst>
          </a:prstGeom>
          <a:solidFill>
            <a:srgbClr val="FFFFFF"/>
          </a:solidFill>
          <a:ln w="12700">
            <a:solidFill>
              <a:srgbClr val="E1E9ED"/>
            </a:solidFill>
            <a:prstDash val="solid"/>
          </a:ln>
          <a:effectLst>
            <a:outerShdw sx="100000" sy="100000" kx="0" ky="0" algn="bl" rotWithShape="0" blurRad="127000" dist="38100" dir="5400000">
              <a:srgbClr val="14242C">
                <a:alpha val="12000"/>
              </a:srgbClr>
            </a:outerShdw>
          </a:effectLst>
        </p:spPr>
      </p:sp>
      <p:sp>
        <p:nvSpPr>
          <p:cNvPr id="5" name="Shape 3"/>
          <p:cNvSpPr/>
          <p:nvPr/>
        </p:nvSpPr>
        <p:spPr>
          <a:xfrm>
            <a:off x="877824" y="3195828"/>
            <a:ext cx="420624" cy="420624"/>
          </a:xfrm>
          <a:prstGeom prst="ellipse">
            <a:avLst/>
          </a:prstGeom>
          <a:solidFill>
            <a:srgbClr val="14242C"/>
          </a:solidFill>
          <a:ln/>
        </p:spPr>
      </p:sp>
      <p:sp>
        <p:nvSpPr>
          <p:cNvPr id="6" name="Text 4"/>
          <p:cNvSpPr txBox="1"/>
          <p:nvPr/>
        </p:nvSpPr>
        <p:spPr>
          <a:xfrm>
            <a:off x="877824" y="3206801"/>
            <a:ext cx="420624" cy="402336"/>
          </a:xfrm>
          <a:prstGeom prst="rect">
            <a:avLst/>
          </a:prstGeom>
          <a:noFill/>
          <a:ln/>
        </p:spPr>
        <p:txBody>
          <a:bodyPr wrap="square" lIns="0" tIns="0" rIns="0" bIns="0" rtlCol="0" anchor="ctr"/>
          <a:lstStyle/>
          <a:p>
            <a:pPr algn="ctr" indent="0" marL="0">
              <a:buNone/>
            </a:pPr>
            <a:r>
              <a:rPr lang="en-US" sz="1500" b="1" dirty="0">
                <a:solidFill>
                  <a:srgbClr val="E7EDF0"/>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877824" y="3762756"/>
            <a:ext cx="2832506" cy="365760"/>
          </a:xfrm>
          <a:prstGeom prst="rect">
            <a:avLst/>
          </a:prstGeom>
          <a:noFill/>
          <a:ln/>
        </p:spPr>
        <p:txBody>
          <a:bodyPr wrap="square" lIns="0" tIns="0" rIns="0" bIns="0" rtlCol="0" anchor="t"/>
          <a:lstStyle/>
          <a:p>
            <a:pPr algn="l" indent="0" marL="0">
              <a:buNone/>
            </a:pPr>
            <a:r>
              <a:rPr lang="en-US" sz="1900" b="1" spc="-20" kern="0" dirty="0">
                <a:solidFill>
                  <a:srgbClr val="14242C"/>
                </a:solidFill>
                <a:latin typeface="Calibri" pitchFamily="34" charset="0"/>
                <a:ea typeface="Calibri" pitchFamily="34" charset="-122"/>
                <a:cs typeface="Calibri" pitchFamily="34" charset="-120"/>
              </a:rPr>
              <a:t>Five buttons</a:t>
            </a:r>
            <a:endParaRPr lang="en-US" sz="1900" dirty="0"/>
          </a:p>
        </p:txBody>
      </p:sp>
      <p:sp>
        <p:nvSpPr>
          <p:cNvPr id="8" name="Text 6"/>
          <p:cNvSpPr txBox="1"/>
          <p:nvPr/>
        </p:nvSpPr>
        <p:spPr>
          <a:xfrm>
            <a:off x="877824" y="4274820"/>
            <a:ext cx="2832506" cy="859536"/>
          </a:xfrm>
          <a:prstGeom prst="rect">
            <a:avLst/>
          </a:prstGeom>
          <a:noFill/>
          <a:ln/>
        </p:spPr>
        <p:txBody>
          <a:bodyPr wrap="square" lIns="0" tIns="0" rIns="0" bIns="0" rtlCol="0" anchor="t"/>
          <a:lstStyle/>
          <a:p>
            <a:pPr algn="l" indent="0" marL="0">
              <a:lnSpc>
                <a:spcPts val="1800"/>
              </a:lnSpc>
              <a:buNone/>
            </a:pPr>
            <a:r>
              <a:rPr lang="en-US" sz="1350" dirty="0">
                <a:solidFill>
                  <a:srgbClr val="5F737D"/>
                </a:solidFill>
                <a:latin typeface="Calibri" pitchFamily="34" charset="0"/>
                <a:ea typeface="Calibri" pitchFamily="34" charset="-122"/>
                <a:cs typeface="Calibri" pitchFamily="34" charset="-120"/>
              </a:rPr>
              <a:t>Freezing to roasting. Pick your spot, tap once. Two seconds, no ticket, no login.</a:t>
            </a:r>
            <a:endParaRPr lang="en-US" sz="1350" dirty="0"/>
          </a:p>
        </p:txBody>
      </p:sp>
      <p:sp>
        <p:nvSpPr>
          <p:cNvPr id="9" name="Shape 7"/>
          <p:cNvSpPr/>
          <p:nvPr/>
        </p:nvSpPr>
        <p:spPr>
          <a:xfrm>
            <a:off x="4368698" y="2884932"/>
            <a:ext cx="3454298" cy="2414016"/>
          </a:xfrm>
          <a:prstGeom prst="roundRect">
            <a:avLst>
              <a:gd name="adj" fmla="val 2273"/>
            </a:avLst>
          </a:prstGeom>
          <a:solidFill>
            <a:srgbClr val="FFFFFF"/>
          </a:solidFill>
          <a:ln w="12700">
            <a:solidFill>
              <a:srgbClr val="E1E9ED"/>
            </a:solidFill>
            <a:prstDash val="solid"/>
          </a:ln>
          <a:effectLst>
            <a:outerShdw sx="100000" sy="100000" kx="0" ky="0" algn="bl" rotWithShape="0" blurRad="127000" dist="38100" dir="5400000">
              <a:srgbClr val="14242C">
                <a:alpha val="12000"/>
              </a:srgbClr>
            </a:outerShdw>
          </a:effectLst>
        </p:spPr>
      </p:sp>
      <p:sp>
        <p:nvSpPr>
          <p:cNvPr id="10" name="Shape 8"/>
          <p:cNvSpPr/>
          <p:nvPr/>
        </p:nvSpPr>
        <p:spPr>
          <a:xfrm>
            <a:off x="4679594" y="3195828"/>
            <a:ext cx="420624" cy="420624"/>
          </a:xfrm>
          <a:prstGeom prst="ellipse">
            <a:avLst/>
          </a:prstGeom>
          <a:solidFill>
            <a:srgbClr val="14242C"/>
          </a:solidFill>
          <a:ln/>
        </p:spPr>
      </p:sp>
      <p:sp>
        <p:nvSpPr>
          <p:cNvPr id="11" name="Text 9"/>
          <p:cNvSpPr txBox="1"/>
          <p:nvPr/>
        </p:nvSpPr>
        <p:spPr>
          <a:xfrm>
            <a:off x="4679594" y="3206801"/>
            <a:ext cx="420624" cy="402336"/>
          </a:xfrm>
          <a:prstGeom prst="rect">
            <a:avLst/>
          </a:prstGeom>
          <a:noFill/>
          <a:ln/>
        </p:spPr>
        <p:txBody>
          <a:bodyPr wrap="square" lIns="0" tIns="0" rIns="0" bIns="0" rtlCol="0" anchor="ctr"/>
          <a:lstStyle/>
          <a:p>
            <a:pPr algn="ctr" indent="0" marL="0">
              <a:buNone/>
            </a:pPr>
            <a:r>
              <a:rPr lang="en-US" sz="1500" b="1" dirty="0">
                <a:solidFill>
                  <a:srgbClr val="E7EDF0"/>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4679594" y="3762756"/>
            <a:ext cx="2832506" cy="365760"/>
          </a:xfrm>
          <a:prstGeom prst="rect">
            <a:avLst/>
          </a:prstGeom>
          <a:noFill/>
          <a:ln/>
        </p:spPr>
        <p:txBody>
          <a:bodyPr wrap="square" lIns="0" tIns="0" rIns="0" bIns="0" rtlCol="0" anchor="t"/>
          <a:lstStyle/>
          <a:p>
            <a:pPr algn="l" indent="0" marL="0">
              <a:buNone/>
            </a:pPr>
            <a:r>
              <a:rPr lang="en-US" sz="1900" b="1" spc="-20" kern="0" dirty="0">
                <a:solidFill>
                  <a:srgbClr val="14242C"/>
                </a:solidFill>
                <a:latin typeface="Calibri" pitchFamily="34" charset="0"/>
                <a:ea typeface="Calibri" pitchFamily="34" charset="-122"/>
                <a:cs typeface="Calibri" pitchFamily="34" charset="-120"/>
              </a:rPr>
              <a:t>A live heat map</a:t>
            </a:r>
            <a:endParaRPr lang="en-US" sz="1900" dirty="0"/>
          </a:p>
        </p:txBody>
      </p:sp>
      <p:sp>
        <p:nvSpPr>
          <p:cNvPr id="13" name="Text 11"/>
          <p:cNvSpPr txBox="1"/>
          <p:nvPr/>
        </p:nvSpPr>
        <p:spPr>
          <a:xfrm>
            <a:off x="4679594" y="4274820"/>
            <a:ext cx="2832506" cy="859536"/>
          </a:xfrm>
          <a:prstGeom prst="rect">
            <a:avLst/>
          </a:prstGeom>
          <a:noFill/>
          <a:ln/>
        </p:spPr>
        <p:txBody>
          <a:bodyPr wrap="square" lIns="0" tIns="0" rIns="0" bIns="0" rtlCol="0" anchor="t"/>
          <a:lstStyle/>
          <a:p>
            <a:pPr algn="l" indent="0" marL="0">
              <a:lnSpc>
                <a:spcPts val="1800"/>
              </a:lnSpc>
              <a:buNone/>
            </a:pPr>
            <a:r>
              <a:rPr lang="en-US" sz="1350" dirty="0">
                <a:solidFill>
                  <a:srgbClr val="5F737D"/>
                </a:solidFill>
                <a:latin typeface="Calibri" pitchFamily="34" charset="0"/>
                <a:ea typeface="Calibri" pitchFamily="34" charset="-122"/>
                <a:cs typeface="Calibri" pitchFamily="34" charset="-120"/>
              </a:rPr>
              <a:t>Those votes land on your floor plan as the warm and cold patches they actually are.</a:t>
            </a:r>
            <a:endParaRPr lang="en-US" sz="1350" dirty="0"/>
          </a:p>
        </p:txBody>
      </p:sp>
      <p:sp>
        <p:nvSpPr>
          <p:cNvPr id="14" name="Shape 12"/>
          <p:cNvSpPr/>
          <p:nvPr/>
        </p:nvSpPr>
        <p:spPr>
          <a:xfrm>
            <a:off x="8170469" y="2884932"/>
            <a:ext cx="3454298" cy="2414016"/>
          </a:xfrm>
          <a:prstGeom prst="roundRect">
            <a:avLst>
              <a:gd name="adj" fmla="val 2273"/>
            </a:avLst>
          </a:prstGeom>
          <a:solidFill>
            <a:srgbClr val="3B9B78">
              <a:alpha val="12000"/>
            </a:srgbClr>
          </a:solidFill>
          <a:ln w="22225">
            <a:solidFill>
              <a:srgbClr val="3B9B78"/>
            </a:solidFill>
            <a:prstDash val="solid"/>
          </a:ln>
          <a:effectLst>
            <a:outerShdw sx="100000" sy="100000" kx="0" ky="0" algn="bl" rotWithShape="0" blurRad="127000" dist="38100" dir="5400000">
              <a:srgbClr val="14242C">
                <a:alpha val="12000"/>
              </a:srgbClr>
            </a:outerShdw>
          </a:effectLst>
        </p:spPr>
      </p:sp>
      <p:sp>
        <p:nvSpPr>
          <p:cNvPr id="15" name="Shape 13"/>
          <p:cNvSpPr/>
          <p:nvPr/>
        </p:nvSpPr>
        <p:spPr>
          <a:xfrm>
            <a:off x="8481365" y="3195828"/>
            <a:ext cx="420624" cy="420624"/>
          </a:xfrm>
          <a:prstGeom prst="ellipse">
            <a:avLst/>
          </a:prstGeom>
          <a:solidFill>
            <a:srgbClr val="3B9B78"/>
          </a:solidFill>
          <a:ln/>
        </p:spPr>
      </p:sp>
      <p:sp>
        <p:nvSpPr>
          <p:cNvPr id="16" name="Text 14"/>
          <p:cNvSpPr txBox="1"/>
          <p:nvPr/>
        </p:nvSpPr>
        <p:spPr>
          <a:xfrm>
            <a:off x="8481365" y="3206801"/>
            <a:ext cx="420624"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8481365" y="3762756"/>
            <a:ext cx="2832506" cy="365760"/>
          </a:xfrm>
          <a:prstGeom prst="rect">
            <a:avLst/>
          </a:prstGeom>
          <a:noFill/>
          <a:ln/>
        </p:spPr>
        <p:txBody>
          <a:bodyPr wrap="square" lIns="0" tIns="0" rIns="0" bIns="0" rtlCol="0" anchor="t"/>
          <a:lstStyle/>
          <a:p>
            <a:pPr algn="l" indent="0" marL="0">
              <a:buNone/>
            </a:pPr>
            <a:r>
              <a:rPr lang="en-US" sz="1900" b="1" spc="-20" kern="0" dirty="0">
                <a:solidFill>
                  <a:srgbClr val="14242C"/>
                </a:solidFill>
                <a:latin typeface="Calibri" pitchFamily="34" charset="0"/>
                <a:ea typeface="Calibri" pitchFamily="34" charset="-122"/>
                <a:cs typeface="Calibri" pitchFamily="34" charset="-120"/>
              </a:rPr>
              <a:t>A board that won't lie</a:t>
            </a:r>
            <a:endParaRPr lang="en-US" sz="1900" dirty="0"/>
          </a:p>
        </p:txBody>
      </p:sp>
      <p:sp>
        <p:nvSpPr>
          <p:cNvPr id="18" name="Text 16"/>
          <p:cNvSpPr txBox="1"/>
          <p:nvPr/>
        </p:nvSpPr>
        <p:spPr>
          <a:xfrm>
            <a:off x="8481365" y="4274820"/>
            <a:ext cx="2832506" cy="859536"/>
          </a:xfrm>
          <a:prstGeom prst="rect">
            <a:avLst/>
          </a:prstGeom>
          <a:noFill/>
          <a:ln/>
        </p:spPr>
        <p:txBody>
          <a:bodyPr wrap="square" lIns="0" tIns="0" rIns="0" bIns="0" rtlCol="0" anchor="t"/>
          <a:lstStyle/>
          <a:p>
            <a:pPr algn="l" indent="0" marL="0">
              <a:lnSpc>
                <a:spcPts val="1800"/>
              </a:lnSpc>
              <a:buNone/>
            </a:pPr>
            <a:r>
              <a:rPr lang="en-US" sz="1350" dirty="0">
                <a:solidFill>
                  <a:srgbClr val="5F737D"/>
                </a:solidFill>
                <a:latin typeface="Calibri" pitchFamily="34" charset="0"/>
                <a:ea typeface="Calibri" pitchFamily="34" charset="-122"/>
                <a:cs typeface="Calibri" pitchFamily="34" charset="-120"/>
              </a:rPr>
              <a:t>When one spot disagrees with itself, it reports the disagreement instead of averaging it away.</a:t>
            </a:r>
            <a:endParaRPr lang="en-US" sz="1350" dirty="0"/>
          </a:p>
        </p:txBody>
      </p:sp>
      <p:sp>
        <p:nvSpPr>
          <p:cNvPr id="19" name="Text 17"/>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5F737D"/>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A1F"/>
        </a:solidFill>
      </p:bgPr>
    </p:bg>
    <p:spTree>
      <p:nvGrpSpPr>
        <p:cNvPr id="1" name=""/>
        <p:cNvGrpSpPr/>
        <p:nvPr/>
      </p:nvGrpSpPr>
      <p:grpSpPr>
        <a:xfrm>
          <a:off x="0" y="0"/>
          <a:ext cx="0" cy="0"/>
          <a:chOff x="0" y="0"/>
          <a:chExt cx="0" cy="0"/>
        </a:xfrm>
      </p:grpSpPr>
      <p:sp>
        <p:nvSpPr>
          <p:cNvPr id="2" name="Text 0"/>
          <p:cNvSpPr txBox="1"/>
          <p:nvPr/>
        </p:nvSpPr>
        <p:spPr>
          <a:xfrm>
            <a:off x="566928" y="566928"/>
            <a:ext cx="11057839" cy="274320"/>
          </a:xfrm>
          <a:prstGeom prst="rect">
            <a:avLst/>
          </a:prstGeom>
          <a:noFill/>
          <a:ln/>
        </p:spPr>
        <p:txBody>
          <a:bodyPr wrap="square" lIns="0" tIns="0" rIns="0" bIns="0" rtlCol="0" anchor="t"/>
          <a:lstStyle/>
          <a:p>
            <a:pPr algn="l" indent="0" marL="0">
              <a:buNone/>
            </a:pPr>
            <a:r>
              <a:rPr lang="en-US" sz="1100" b="1" spc="140" kern="0" dirty="0">
                <a:solidFill>
                  <a:srgbClr val="93A6AF"/>
                </a:solidFill>
                <a:latin typeface="Calibri" pitchFamily="34" charset="0"/>
                <a:ea typeface="Calibri" pitchFamily="34" charset="-122"/>
                <a:cs typeface="Calibri" pitchFamily="34" charset="-120"/>
              </a:rPr>
              <a:t>2:40PM — ONE TUESDAY ON LEVEL 7</a:t>
            </a:r>
            <a:endParaRPr lang="en-US" sz="1100" dirty="0"/>
          </a:p>
        </p:txBody>
      </p:sp>
      <p:sp>
        <p:nvSpPr>
          <p:cNvPr id="3" name="Shape 1"/>
          <p:cNvSpPr/>
          <p:nvPr/>
        </p:nvSpPr>
        <p:spPr>
          <a:xfrm>
            <a:off x="566928" y="1627632"/>
            <a:ext cx="1051560" cy="1051560"/>
          </a:xfrm>
          <a:prstGeom prst="ellipse">
            <a:avLst/>
          </a:prstGeom>
          <a:solidFill>
            <a:srgbClr val="E07152"/>
          </a:solidFill>
          <a:ln/>
        </p:spPr>
      </p:sp>
      <p:sp>
        <p:nvSpPr>
          <p:cNvPr id="4" name="Text 2"/>
          <p:cNvSpPr txBox="1"/>
          <p:nvPr/>
        </p:nvSpPr>
        <p:spPr>
          <a:xfrm>
            <a:off x="566928" y="1638605"/>
            <a:ext cx="1051560" cy="1033272"/>
          </a:xfrm>
          <a:prstGeom prst="rect">
            <a:avLst/>
          </a:prstGeom>
          <a:noFill/>
          <a:ln/>
        </p:spPr>
        <p:txBody>
          <a:bodyPr wrap="square" lIns="0" tIns="0" rIns="0" bIns="0" rtlCol="0" anchor="ctr"/>
          <a:lstStyle/>
          <a:p>
            <a:pPr algn="ctr" indent="0" marL="0">
              <a:buNone/>
            </a:pPr>
            <a:r>
              <a:rPr lang="en-US" sz="4000" b="1" dirty="0">
                <a:solidFill>
                  <a:srgbClr val="101A1F"/>
                </a:solidFill>
                <a:latin typeface="Calibri" pitchFamily="34" charset="0"/>
                <a:ea typeface="Calibri" pitchFamily="34" charset="-122"/>
                <a:cs typeface="Calibri" pitchFamily="34" charset="-120"/>
              </a:rPr>
              <a:t>P</a:t>
            </a:r>
            <a:endParaRPr lang="en-US" sz="4000" dirty="0"/>
          </a:p>
        </p:txBody>
      </p:sp>
      <p:sp>
        <p:nvSpPr>
          <p:cNvPr id="5" name="Text 3"/>
          <p:cNvSpPr txBox="1"/>
          <p:nvPr/>
        </p:nvSpPr>
        <p:spPr>
          <a:xfrm>
            <a:off x="1892808" y="1737360"/>
            <a:ext cx="5943600" cy="420624"/>
          </a:xfrm>
          <a:prstGeom prst="rect">
            <a:avLst/>
          </a:prstGeom>
          <a:noFill/>
          <a:ln/>
        </p:spPr>
        <p:txBody>
          <a:bodyPr wrap="square" lIns="0" tIns="0" rIns="0" bIns="0" rtlCol="0" anchor="t"/>
          <a:lstStyle/>
          <a:p>
            <a:pPr algn="l" indent="0" marL="0">
              <a:buNone/>
            </a:pPr>
            <a:r>
              <a:rPr lang="en-US" sz="2700" b="1" spc="-50" kern="0" dirty="0">
                <a:solidFill>
                  <a:srgbClr val="E6EEF1"/>
                </a:solidFill>
                <a:latin typeface="Calibri" pitchFamily="34" charset="0"/>
                <a:ea typeface="Calibri" pitchFamily="34" charset="-122"/>
                <a:cs typeface="Calibri" pitchFamily="34" charset="-120"/>
              </a:rPr>
              <a:t>Priya</a:t>
            </a:r>
            <a:endParaRPr lang="en-US" sz="2700" dirty="0"/>
          </a:p>
        </p:txBody>
      </p:sp>
      <p:sp>
        <p:nvSpPr>
          <p:cNvPr id="6" name="Text 4"/>
          <p:cNvSpPr txBox="1"/>
          <p:nvPr/>
        </p:nvSpPr>
        <p:spPr>
          <a:xfrm>
            <a:off x="1892808" y="2212848"/>
            <a:ext cx="5943600" cy="329184"/>
          </a:xfrm>
          <a:prstGeom prst="rect">
            <a:avLst/>
          </a:prstGeom>
          <a:noFill/>
          <a:ln/>
        </p:spPr>
        <p:txBody>
          <a:bodyPr wrap="square" lIns="0" tIns="0" rIns="0" bIns="0" rtlCol="0" anchor="t"/>
          <a:lstStyle/>
          <a:p>
            <a:pPr algn="l" indent="0" marL="0">
              <a:buNone/>
            </a:pPr>
            <a:r>
              <a:rPr lang="en-US" sz="1450" dirty="0">
                <a:solidFill>
                  <a:srgbClr val="93A6AF"/>
                </a:solidFill>
                <a:latin typeface="Calibri" pitchFamily="34" charset="0"/>
                <a:ea typeface="Calibri" pitchFamily="34" charset="-122"/>
                <a:cs typeface="Calibri" pitchFamily="34" charset="-120"/>
              </a:rPr>
              <a:t>Level 7 — north window seats</a:t>
            </a:r>
            <a:endParaRPr lang="en-US" sz="1450" dirty="0"/>
          </a:p>
        </p:txBody>
      </p:sp>
      <p:sp>
        <p:nvSpPr>
          <p:cNvPr id="7" name="Text 5"/>
          <p:cNvSpPr txBox="1"/>
          <p:nvPr/>
        </p:nvSpPr>
        <p:spPr>
          <a:xfrm>
            <a:off x="566928" y="3346704"/>
            <a:ext cx="10692079" cy="1554480"/>
          </a:xfrm>
          <a:prstGeom prst="rect">
            <a:avLst/>
          </a:prstGeom>
          <a:noFill/>
          <a:ln/>
        </p:spPr>
        <p:txBody>
          <a:bodyPr wrap="square" lIns="0" tIns="0" rIns="0" bIns="0" rtlCol="0" anchor="t"/>
          <a:lstStyle/>
          <a:p>
            <a:pPr algn="l" indent="0" marL="0">
              <a:lnSpc>
                <a:spcPts val="4600"/>
              </a:lnSpc>
              <a:buNone/>
            </a:pPr>
            <a:r>
              <a:rPr lang="en-US" sz="3300" spc="-50" kern="0" dirty="0">
                <a:solidFill>
                  <a:srgbClr val="E07152"/>
                </a:solidFill>
                <a:latin typeface="Calibri" pitchFamily="34" charset="0"/>
                <a:ea typeface="Calibri" pitchFamily="34" charset="-122"/>
                <a:cs typeface="Calibri" pitchFamily="34" charset="-120"/>
              </a:rPr>
              <a:t>“It's roasting by two every afternoon. We've stopped booking the window desks.”</a:t>
            </a:r>
            <a:endParaRPr lang="en-US" sz="3300" dirty="0"/>
          </a:p>
        </p:txBody>
      </p:sp>
      <p:sp>
        <p:nvSpPr>
          <p:cNvPr id="8" name="Text 6"/>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93A6AF"/>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A1F"/>
        </a:solidFill>
      </p:bgPr>
    </p:bg>
    <p:spTree>
      <p:nvGrpSpPr>
        <p:cNvPr id="1" name=""/>
        <p:cNvGrpSpPr/>
        <p:nvPr/>
      </p:nvGrpSpPr>
      <p:grpSpPr>
        <a:xfrm>
          <a:off x="0" y="0"/>
          <a:ext cx="0" cy="0"/>
          <a:chOff x="0" y="0"/>
          <a:chExt cx="0" cy="0"/>
        </a:xfrm>
      </p:grpSpPr>
      <p:sp>
        <p:nvSpPr>
          <p:cNvPr id="2" name="Text 0"/>
          <p:cNvSpPr txBox="1"/>
          <p:nvPr/>
        </p:nvSpPr>
        <p:spPr>
          <a:xfrm>
            <a:off x="566928" y="566928"/>
            <a:ext cx="11057839" cy="274320"/>
          </a:xfrm>
          <a:prstGeom prst="rect">
            <a:avLst/>
          </a:prstGeom>
          <a:noFill/>
          <a:ln/>
        </p:spPr>
        <p:txBody>
          <a:bodyPr wrap="square" lIns="0" tIns="0" rIns="0" bIns="0" rtlCol="0" anchor="t"/>
          <a:lstStyle/>
          <a:p>
            <a:pPr algn="l" indent="0" marL="0">
              <a:buNone/>
            </a:pPr>
            <a:r>
              <a:rPr lang="en-US" sz="1100" b="1" spc="140" kern="0" dirty="0">
                <a:solidFill>
                  <a:srgbClr val="93A6AF"/>
                </a:solidFill>
                <a:latin typeface="Calibri" pitchFamily="34" charset="0"/>
                <a:ea typeface="Calibri" pitchFamily="34" charset="-122"/>
                <a:cs typeface="Calibri" pitchFamily="34" charset="-120"/>
              </a:rPr>
              <a:t>2:41PM — FORTY METRES AWAY</a:t>
            </a:r>
            <a:endParaRPr lang="en-US" sz="1100" dirty="0"/>
          </a:p>
        </p:txBody>
      </p:sp>
      <p:sp>
        <p:nvSpPr>
          <p:cNvPr id="3" name="Shape 1"/>
          <p:cNvSpPr/>
          <p:nvPr/>
        </p:nvSpPr>
        <p:spPr>
          <a:xfrm>
            <a:off x="566928" y="1627632"/>
            <a:ext cx="1051560" cy="1051560"/>
          </a:xfrm>
          <a:prstGeom prst="ellipse">
            <a:avLst/>
          </a:prstGeom>
          <a:solidFill>
            <a:srgbClr val="5D9EE0"/>
          </a:solidFill>
          <a:ln/>
        </p:spPr>
      </p:sp>
      <p:sp>
        <p:nvSpPr>
          <p:cNvPr id="4" name="Text 2"/>
          <p:cNvSpPr txBox="1"/>
          <p:nvPr/>
        </p:nvSpPr>
        <p:spPr>
          <a:xfrm>
            <a:off x="566928" y="1638605"/>
            <a:ext cx="1051560" cy="1033272"/>
          </a:xfrm>
          <a:prstGeom prst="rect">
            <a:avLst/>
          </a:prstGeom>
          <a:noFill/>
          <a:ln/>
        </p:spPr>
        <p:txBody>
          <a:bodyPr wrap="square" lIns="0" tIns="0" rIns="0" bIns="0" rtlCol="0" anchor="ctr"/>
          <a:lstStyle/>
          <a:p>
            <a:pPr algn="ctr" indent="0" marL="0">
              <a:buNone/>
            </a:pPr>
            <a:r>
              <a:rPr lang="en-US" sz="4000" b="1" dirty="0">
                <a:solidFill>
                  <a:srgbClr val="101A1F"/>
                </a:solidFill>
                <a:latin typeface="Calibri" pitchFamily="34" charset="0"/>
                <a:ea typeface="Calibri" pitchFamily="34" charset="-122"/>
                <a:cs typeface="Calibri" pitchFamily="34" charset="-120"/>
              </a:rPr>
              <a:t>D</a:t>
            </a:r>
            <a:endParaRPr lang="en-US" sz="4000" dirty="0"/>
          </a:p>
        </p:txBody>
      </p:sp>
      <p:sp>
        <p:nvSpPr>
          <p:cNvPr id="5" name="Text 3"/>
          <p:cNvSpPr txBox="1"/>
          <p:nvPr/>
        </p:nvSpPr>
        <p:spPr>
          <a:xfrm>
            <a:off x="1892808" y="1737360"/>
            <a:ext cx="5943600" cy="420624"/>
          </a:xfrm>
          <a:prstGeom prst="rect">
            <a:avLst/>
          </a:prstGeom>
          <a:noFill/>
          <a:ln/>
        </p:spPr>
        <p:txBody>
          <a:bodyPr wrap="square" lIns="0" tIns="0" rIns="0" bIns="0" rtlCol="0" anchor="t"/>
          <a:lstStyle/>
          <a:p>
            <a:pPr algn="l" indent="0" marL="0">
              <a:buNone/>
            </a:pPr>
            <a:r>
              <a:rPr lang="en-US" sz="2700" b="1" spc="-50" kern="0" dirty="0">
                <a:solidFill>
                  <a:srgbClr val="E6EEF1"/>
                </a:solidFill>
                <a:latin typeface="Calibri" pitchFamily="34" charset="0"/>
                <a:ea typeface="Calibri" pitchFamily="34" charset="-122"/>
                <a:cs typeface="Calibri" pitchFamily="34" charset="-120"/>
              </a:rPr>
              <a:t>Daniel</a:t>
            </a:r>
            <a:endParaRPr lang="en-US" sz="2700" dirty="0"/>
          </a:p>
        </p:txBody>
      </p:sp>
      <p:sp>
        <p:nvSpPr>
          <p:cNvPr id="6" name="Text 4"/>
          <p:cNvSpPr txBox="1"/>
          <p:nvPr/>
        </p:nvSpPr>
        <p:spPr>
          <a:xfrm>
            <a:off x="1892808" y="2212848"/>
            <a:ext cx="5943600" cy="329184"/>
          </a:xfrm>
          <a:prstGeom prst="rect">
            <a:avLst/>
          </a:prstGeom>
          <a:noFill/>
          <a:ln/>
        </p:spPr>
        <p:txBody>
          <a:bodyPr wrap="square" lIns="0" tIns="0" rIns="0" bIns="0" rtlCol="0" anchor="t"/>
          <a:lstStyle/>
          <a:p>
            <a:pPr algn="l" indent="0" marL="0">
              <a:buNone/>
            </a:pPr>
            <a:r>
              <a:rPr lang="en-US" sz="1450" dirty="0">
                <a:solidFill>
                  <a:srgbClr val="93A6AF"/>
                </a:solidFill>
                <a:latin typeface="Calibri" pitchFamily="34" charset="0"/>
                <a:ea typeface="Calibri" pitchFamily="34" charset="-122"/>
                <a:cs typeface="Calibri" pitchFamily="34" charset="-120"/>
              </a:rPr>
              <a:t>Level 7 — core desks</a:t>
            </a:r>
            <a:endParaRPr lang="en-US" sz="1450" dirty="0"/>
          </a:p>
        </p:txBody>
      </p:sp>
      <p:sp>
        <p:nvSpPr>
          <p:cNvPr id="7" name="Text 5"/>
          <p:cNvSpPr txBox="1"/>
          <p:nvPr/>
        </p:nvSpPr>
        <p:spPr>
          <a:xfrm>
            <a:off x="566928" y="3346704"/>
            <a:ext cx="10692079" cy="1554480"/>
          </a:xfrm>
          <a:prstGeom prst="rect">
            <a:avLst/>
          </a:prstGeom>
          <a:noFill/>
          <a:ln/>
        </p:spPr>
        <p:txBody>
          <a:bodyPr wrap="square" lIns="0" tIns="0" rIns="0" bIns="0" rtlCol="0" anchor="t"/>
          <a:lstStyle/>
          <a:p>
            <a:pPr algn="l" indent="0" marL="0">
              <a:lnSpc>
                <a:spcPts val="4600"/>
              </a:lnSpc>
              <a:buNone/>
            </a:pPr>
            <a:r>
              <a:rPr lang="en-US" sz="3300" spc="-50" kern="0" dirty="0">
                <a:solidFill>
                  <a:srgbClr val="5D9EE0"/>
                </a:solidFill>
                <a:latin typeface="Calibri" pitchFamily="34" charset="0"/>
                <a:ea typeface="Calibri" pitchFamily="34" charset="-122"/>
                <a:cs typeface="Calibri" pitchFamily="34" charset="-120"/>
              </a:rPr>
              <a:t>“I keep a blanket under my desk. In July.”</a:t>
            </a:r>
            <a:endParaRPr lang="en-US" sz="3300" dirty="0"/>
          </a:p>
        </p:txBody>
      </p:sp>
      <p:sp>
        <p:nvSpPr>
          <p:cNvPr id="8" name="Shape 6"/>
          <p:cNvSpPr/>
          <p:nvPr/>
        </p:nvSpPr>
        <p:spPr>
          <a:xfrm>
            <a:off x="9338767" y="1627632"/>
            <a:ext cx="2286000" cy="1051560"/>
          </a:xfrm>
          <a:prstGeom prst="roundRect">
            <a:avLst>
              <a:gd name="adj" fmla="val 5217"/>
            </a:avLst>
          </a:prstGeom>
          <a:solidFill>
            <a:srgbClr val="1D2D35"/>
          </a:solidFill>
          <a:ln w="12700">
            <a:solidFill>
              <a:srgbClr val="223139"/>
            </a:solidFill>
            <a:prstDash val="solid"/>
          </a:ln>
        </p:spPr>
      </p:sp>
      <p:sp>
        <p:nvSpPr>
          <p:cNvPr id="9" name="Text 7"/>
          <p:cNvSpPr txBox="1"/>
          <p:nvPr/>
        </p:nvSpPr>
        <p:spPr>
          <a:xfrm>
            <a:off x="9338767" y="1773936"/>
            <a:ext cx="2286000" cy="512064"/>
          </a:xfrm>
          <a:prstGeom prst="rect">
            <a:avLst/>
          </a:prstGeom>
          <a:noFill/>
          <a:ln/>
        </p:spPr>
        <p:txBody>
          <a:bodyPr wrap="square" lIns="0" tIns="0" rIns="0" bIns="0" rtlCol="0" anchor="t"/>
          <a:lstStyle/>
          <a:p>
            <a:pPr algn="ctr" indent="0" marL="0">
              <a:buNone/>
            </a:pPr>
            <a:r>
              <a:rPr lang="en-US" sz="3200" b="1" spc="-100" kern="0" dirty="0">
                <a:solidFill>
                  <a:srgbClr val="E6EEF1"/>
                </a:solidFill>
                <a:latin typeface="Calibri" pitchFamily="34" charset="0"/>
                <a:ea typeface="Calibri" pitchFamily="34" charset="-122"/>
                <a:cs typeface="Calibri" pitchFamily="34" charset="-120"/>
              </a:rPr>
              <a:t>22.0°C</a:t>
            </a:r>
            <a:endParaRPr lang="en-US" sz="3200" dirty="0"/>
          </a:p>
        </p:txBody>
      </p:sp>
      <p:sp>
        <p:nvSpPr>
          <p:cNvPr id="10" name="Text 8"/>
          <p:cNvSpPr txBox="1"/>
          <p:nvPr/>
        </p:nvSpPr>
        <p:spPr>
          <a:xfrm>
            <a:off x="9338767" y="2304288"/>
            <a:ext cx="2286000" cy="274320"/>
          </a:xfrm>
          <a:prstGeom prst="rect">
            <a:avLst/>
          </a:prstGeom>
          <a:noFill/>
          <a:ln/>
        </p:spPr>
        <p:txBody>
          <a:bodyPr wrap="square" lIns="0" tIns="0" rIns="0" bIns="0" rtlCol="0" anchor="t"/>
          <a:lstStyle/>
          <a:p>
            <a:pPr algn="ctr" indent="0" marL="0">
              <a:buNone/>
            </a:pPr>
            <a:r>
              <a:rPr lang="en-US" sz="1150" dirty="0">
                <a:solidFill>
                  <a:srgbClr val="93A6AF"/>
                </a:solidFill>
                <a:latin typeface="Calibri" pitchFamily="34" charset="0"/>
                <a:ea typeface="Calibri" pitchFamily="34" charset="-122"/>
                <a:cs typeface="Calibri" pitchFamily="34" charset="-120"/>
              </a:rPr>
              <a:t>the whole floor</a:t>
            </a:r>
            <a:endParaRPr lang="en-US" sz="1150" dirty="0"/>
          </a:p>
        </p:txBody>
      </p:sp>
      <p:sp>
        <p:nvSpPr>
          <p:cNvPr id="11" name="Text 9"/>
          <p:cNvSpPr txBox="1"/>
          <p:nvPr/>
        </p:nvSpPr>
        <p:spPr>
          <a:xfrm>
            <a:off x="566928" y="5413248"/>
            <a:ext cx="11057839" cy="548640"/>
          </a:xfrm>
          <a:prstGeom prst="rect">
            <a:avLst/>
          </a:prstGeom>
          <a:noFill/>
          <a:ln/>
        </p:spPr>
        <p:txBody>
          <a:bodyPr wrap="square" lIns="0" tIns="0" rIns="0" bIns="0" rtlCol="0" anchor="t"/>
          <a:lstStyle/>
          <a:p>
            <a:pPr algn="l" indent="0" marL="0">
              <a:buNone/>
            </a:pPr>
            <a:r>
              <a:rPr lang="en-US" sz="1900" b="1" spc="-30" kern="0" dirty="0">
                <a:solidFill>
                  <a:srgbClr val="E6EEF1"/>
                </a:solidFill>
                <a:latin typeface="Calibri" pitchFamily="34" charset="0"/>
                <a:ea typeface="Calibri" pitchFamily="34" charset="-122"/>
                <a:cs typeface="Calibri" pitchFamily="34" charset="-120"/>
              </a:rPr>
              <a:t>Same floor. Same minute. One setpoint, serving both of them.</a:t>
            </a:r>
            <a:endParaRPr lang="en-US" sz="1900" dirty="0"/>
          </a:p>
        </p:txBody>
      </p:sp>
      <p:sp>
        <p:nvSpPr>
          <p:cNvPr id="12" name="Text 10"/>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93A6AF"/>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7EDF0"/>
        </a:solidFill>
      </p:bgPr>
    </p:bg>
    <p:spTree>
      <p:nvGrpSpPr>
        <p:cNvPr id="1" name=""/>
        <p:cNvGrpSpPr/>
        <p:nvPr/>
      </p:nvGrpSpPr>
      <p:grpSpPr>
        <a:xfrm>
          <a:off x="0" y="0"/>
          <a:ext cx="0" cy="0"/>
          <a:chOff x="0" y="0"/>
          <a:chExt cx="0" cy="0"/>
        </a:xfrm>
      </p:grpSpPr>
      <p:sp>
        <p:nvSpPr>
          <p:cNvPr id="2" name="Text 0"/>
          <p:cNvSpPr txBox="1"/>
          <p:nvPr/>
        </p:nvSpPr>
        <p:spPr>
          <a:xfrm>
            <a:off x="566928" y="475488"/>
            <a:ext cx="11057839" cy="713232"/>
          </a:xfrm>
          <a:prstGeom prst="rect">
            <a:avLst/>
          </a:prstGeom>
          <a:noFill/>
          <a:ln/>
        </p:spPr>
        <p:txBody>
          <a:bodyPr wrap="square" lIns="0" tIns="0" rIns="0" bIns="0" rtlCol="0" anchor="t"/>
          <a:lstStyle/>
          <a:p>
            <a:pPr algn="l" indent="0" marL="0">
              <a:buNone/>
            </a:pPr>
            <a:r>
              <a:rPr lang="en-US" sz="3400" b="1" spc="-50" kern="0" dirty="0">
                <a:solidFill>
                  <a:srgbClr val="14242C"/>
                </a:solidFill>
                <a:latin typeface="Calibri" pitchFamily="34" charset="0"/>
                <a:ea typeface="Calibri" pitchFamily="34" charset="-122"/>
                <a:cs typeface="Calibri" pitchFamily="34" charset="-120"/>
              </a:rPr>
              <a:t>Why we built it</a:t>
            </a:r>
            <a:endParaRPr lang="en-US" sz="3400" dirty="0"/>
          </a:p>
        </p:txBody>
      </p:sp>
      <p:sp>
        <p:nvSpPr>
          <p:cNvPr id="3" name="Text 1"/>
          <p:cNvSpPr txBox="1"/>
          <p:nvPr/>
        </p:nvSpPr>
        <p:spPr>
          <a:xfrm>
            <a:off x="566928" y="1188720"/>
            <a:ext cx="9692640" cy="384048"/>
          </a:xfrm>
          <a:prstGeom prst="rect">
            <a:avLst/>
          </a:prstGeom>
          <a:noFill/>
          <a:ln/>
        </p:spPr>
        <p:txBody>
          <a:bodyPr wrap="square" lIns="0" tIns="0" rIns="0" bIns="0" rtlCol="0" anchor="t"/>
          <a:lstStyle/>
          <a:p>
            <a:pPr algn="l" indent="0" marL="0">
              <a:buNone/>
            </a:pPr>
            <a:r>
              <a:rPr lang="en-US" sz="1650" dirty="0">
                <a:solidFill>
                  <a:srgbClr val="5F737D"/>
                </a:solidFill>
                <a:latin typeface="Calibri" pitchFamily="34" charset="0"/>
                <a:ea typeface="Calibri" pitchFamily="34" charset="-122"/>
                <a:cs typeface="Calibri" pitchFamily="34" charset="-120"/>
              </a:rPr>
              <a:t>This happens on every floor, every summer, and nobody in the chain can fix it alone.</a:t>
            </a:r>
            <a:endParaRPr lang="en-US" sz="1650" dirty="0"/>
          </a:p>
        </p:txBody>
      </p:sp>
      <p:sp>
        <p:nvSpPr>
          <p:cNvPr id="4" name="Shape 2"/>
          <p:cNvSpPr/>
          <p:nvPr/>
        </p:nvSpPr>
        <p:spPr>
          <a:xfrm>
            <a:off x="566928" y="2199132"/>
            <a:ext cx="457200" cy="457200"/>
          </a:xfrm>
          <a:prstGeom prst="ellipse">
            <a:avLst/>
          </a:prstGeom>
          <a:solidFill>
            <a:srgbClr val="2A6DB5"/>
          </a:solidFill>
          <a:ln/>
        </p:spPr>
      </p:sp>
      <p:sp>
        <p:nvSpPr>
          <p:cNvPr id="5" name="Text 3"/>
          <p:cNvSpPr txBox="1"/>
          <p:nvPr/>
        </p:nvSpPr>
        <p:spPr>
          <a:xfrm>
            <a:off x="566928" y="2210105"/>
            <a:ext cx="457200"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43584" y="2144268"/>
            <a:ext cx="10381183" cy="347472"/>
          </a:xfrm>
          <a:prstGeom prst="rect">
            <a:avLst/>
          </a:prstGeom>
          <a:noFill/>
          <a:ln/>
        </p:spPr>
        <p:txBody>
          <a:bodyPr wrap="square" lIns="0" tIns="0" rIns="0" bIns="0" rtlCol="0" anchor="t"/>
          <a:lstStyle/>
          <a:p>
            <a:pPr algn="l" indent="0" marL="0">
              <a:buNone/>
            </a:pPr>
            <a:r>
              <a:rPr lang="en-US" sz="1850" b="1" spc="-20" kern="0" dirty="0">
                <a:solidFill>
                  <a:srgbClr val="14242C"/>
                </a:solidFill>
                <a:latin typeface="Calibri" pitchFamily="34" charset="0"/>
                <a:ea typeface="Calibri" pitchFamily="34" charset="-122"/>
                <a:cs typeface="Calibri" pitchFamily="34" charset="-120"/>
              </a:rPr>
              <a:t>The person sitting there</a:t>
            </a:r>
            <a:endParaRPr lang="en-US" sz="1850" dirty="0"/>
          </a:p>
        </p:txBody>
      </p:sp>
      <p:sp>
        <p:nvSpPr>
          <p:cNvPr id="7" name="Text 5"/>
          <p:cNvSpPr txBox="1"/>
          <p:nvPr/>
        </p:nvSpPr>
        <p:spPr>
          <a:xfrm>
            <a:off x="1243584" y="2528316"/>
            <a:ext cx="9692640" cy="658368"/>
          </a:xfrm>
          <a:prstGeom prst="rect">
            <a:avLst/>
          </a:prstGeom>
          <a:noFill/>
          <a:ln/>
        </p:spPr>
        <p:txBody>
          <a:bodyPr wrap="square" lIns="0" tIns="0" rIns="0" bIns="0" rtlCol="0" anchor="t"/>
          <a:lstStyle/>
          <a:p>
            <a:pPr algn="l" indent="0" marL="0">
              <a:lnSpc>
                <a:spcPts val="1900"/>
              </a:lnSpc>
              <a:buNone/>
            </a:pPr>
            <a:r>
              <a:rPr lang="en-US" sz="1400" dirty="0">
                <a:solidFill>
                  <a:srgbClr val="5F737D"/>
                </a:solidFill>
                <a:latin typeface="Calibri" pitchFamily="34" charset="0"/>
                <a:ea typeface="Calibri" pitchFamily="34" charset="-122"/>
                <a:cs typeface="Calibri" pitchFamily="34" charset="-120"/>
              </a:rPr>
              <a:t>Has no way to report comfort that isn't an awkward email about their own cardigan.</a:t>
            </a:r>
            <a:endParaRPr lang="en-US" sz="1400" dirty="0"/>
          </a:p>
        </p:txBody>
      </p:sp>
      <p:sp>
        <p:nvSpPr>
          <p:cNvPr id="8" name="Shape 6"/>
          <p:cNvSpPr/>
          <p:nvPr/>
        </p:nvSpPr>
        <p:spPr>
          <a:xfrm>
            <a:off x="566928" y="3479292"/>
            <a:ext cx="457200" cy="457200"/>
          </a:xfrm>
          <a:prstGeom prst="ellipse">
            <a:avLst/>
          </a:prstGeom>
          <a:solidFill>
            <a:srgbClr val="3B9B78"/>
          </a:solidFill>
          <a:ln/>
        </p:spPr>
      </p:sp>
      <p:sp>
        <p:nvSpPr>
          <p:cNvPr id="9" name="Text 7"/>
          <p:cNvSpPr txBox="1"/>
          <p:nvPr/>
        </p:nvSpPr>
        <p:spPr>
          <a:xfrm>
            <a:off x="566928" y="3490265"/>
            <a:ext cx="457200"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243584" y="3424428"/>
            <a:ext cx="10381183" cy="347472"/>
          </a:xfrm>
          <a:prstGeom prst="rect">
            <a:avLst/>
          </a:prstGeom>
          <a:noFill/>
          <a:ln/>
        </p:spPr>
        <p:txBody>
          <a:bodyPr wrap="square" lIns="0" tIns="0" rIns="0" bIns="0" rtlCol="0" anchor="t"/>
          <a:lstStyle/>
          <a:p>
            <a:pPr algn="l" indent="0" marL="0">
              <a:buNone/>
            </a:pPr>
            <a:r>
              <a:rPr lang="en-US" sz="1850" b="1" spc="-20" kern="0" dirty="0">
                <a:solidFill>
                  <a:srgbClr val="14242C"/>
                </a:solidFill>
                <a:latin typeface="Calibri" pitchFamily="34" charset="0"/>
                <a:ea typeface="Calibri" pitchFamily="34" charset="-122"/>
                <a:cs typeface="Calibri" pitchFamily="34" charset="-120"/>
              </a:rPr>
              <a:t>Facilities</a:t>
            </a:r>
            <a:endParaRPr lang="en-US" sz="1850" dirty="0"/>
          </a:p>
        </p:txBody>
      </p:sp>
      <p:sp>
        <p:nvSpPr>
          <p:cNvPr id="11" name="Text 9"/>
          <p:cNvSpPr txBox="1"/>
          <p:nvPr/>
        </p:nvSpPr>
        <p:spPr>
          <a:xfrm>
            <a:off x="1243584" y="3808476"/>
            <a:ext cx="9692640" cy="658368"/>
          </a:xfrm>
          <a:prstGeom prst="rect">
            <a:avLst/>
          </a:prstGeom>
          <a:noFill/>
          <a:ln/>
        </p:spPr>
        <p:txBody>
          <a:bodyPr wrap="square" lIns="0" tIns="0" rIns="0" bIns="0" rtlCol="0" anchor="t"/>
          <a:lstStyle/>
          <a:p>
            <a:pPr algn="l" indent="0" marL="0">
              <a:lnSpc>
                <a:spcPts val="1900"/>
              </a:lnSpc>
              <a:buNone/>
            </a:pPr>
            <a:r>
              <a:rPr lang="en-US" sz="1400" dirty="0">
                <a:solidFill>
                  <a:srgbClr val="5F737D"/>
                </a:solidFill>
                <a:latin typeface="Calibri" pitchFamily="34" charset="0"/>
                <a:ea typeface="Calibri" pitchFamily="34" charset="-122"/>
                <a:cs typeface="Calibri" pitchFamily="34" charset="-120"/>
              </a:rPr>
              <a:t>Get opinions one at a time, with no idea how many people agree, or whether it is still true an hour later.</a:t>
            </a:r>
            <a:endParaRPr lang="en-US" sz="1400" dirty="0"/>
          </a:p>
        </p:txBody>
      </p:sp>
      <p:sp>
        <p:nvSpPr>
          <p:cNvPr id="12" name="Shape 10"/>
          <p:cNvSpPr/>
          <p:nvPr/>
        </p:nvSpPr>
        <p:spPr>
          <a:xfrm>
            <a:off x="566928" y="4759452"/>
            <a:ext cx="457200" cy="457200"/>
          </a:xfrm>
          <a:prstGeom prst="ellipse">
            <a:avLst/>
          </a:prstGeom>
          <a:solidFill>
            <a:srgbClr val="DE9036"/>
          </a:solidFill>
          <a:ln/>
        </p:spPr>
      </p:sp>
      <p:sp>
        <p:nvSpPr>
          <p:cNvPr id="13" name="Text 11"/>
          <p:cNvSpPr txBox="1"/>
          <p:nvPr/>
        </p:nvSpPr>
        <p:spPr>
          <a:xfrm>
            <a:off x="566928" y="4770425"/>
            <a:ext cx="457200"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243584" y="4704588"/>
            <a:ext cx="10381183" cy="347472"/>
          </a:xfrm>
          <a:prstGeom prst="rect">
            <a:avLst/>
          </a:prstGeom>
          <a:noFill/>
          <a:ln/>
        </p:spPr>
        <p:txBody>
          <a:bodyPr wrap="square" lIns="0" tIns="0" rIns="0" bIns="0" rtlCol="0" anchor="t"/>
          <a:lstStyle/>
          <a:p>
            <a:pPr algn="l" indent="0" marL="0">
              <a:buNone/>
            </a:pPr>
            <a:r>
              <a:rPr lang="en-US" sz="1850" b="1" spc="-20" kern="0" dirty="0">
                <a:solidFill>
                  <a:srgbClr val="14242C"/>
                </a:solidFill>
                <a:latin typeface="Calibri" pitchFamily="34" charset="0"/>
                <a:ea typeface="Calibri" pitchFamily="34" charset="-122"/>
                <a:cs typeface="Calibri" pitchFamily="34" charset="-120"/>
              </a:rPr>
              <a:t>Whoever signs off the fix</a:t>
            </a:r>
            <a:endParaRPr lang="en-US" sz="1850" dirty="0"/>
          </a:p>
        </p:txBody>
      </p:sp>
      <p:sp>
        <p:nvSpPr>
          <p:cNvPr id="15" name="Text 13"/>
          <p:cNvSpPr txBox="1"/>
          <p:nvPr/>
        </p:nvSpPr>
        <p:spPr>
          <a:xfrm>
            <a:off x="1243584" y="5088636"/>
            <a:ext cx="9692640" cy="658368"/>
          </a:xfrm>
          <a:prstGeom prst="rect">
            <a:avLst/>
          </a:prstGeom>
          <a:noFill/>
          <a:ln/>
        </p:spPr>
        <p:txBody>
          <a:bodyPr wrap="square" lIns="0" tIns="0" rIns="0" bIns="0" rtlCol="0" anchor="t"/>
          <a:lstStyle/>
          <a:p>
            <a:pPr algn="l" indent="0" marL="0">
              <a:lnSpc>
                <a:spcPts val="1900"/>
              </a:lnSpc>
              <a:buNone/>
            </a:pPr>
            <a:r>
              <a:rPr lang="en-US" sz="1400" dirty="0">
                <a:solidFill>
                  <a:srgbClr val="5F737D"/>
                </a:solidFill>
                <a:latin typeface="Calibri" pitchFamily="34" charset="0"/>
                <a:ea typeface="Calibri" pitchFamily="34" charset="-122"/>
                <a:cs typeface="Calibri" pitchFamily="34" charset="-120"/>
              </a:rPr>
              <a:t>Never sees evidence that the fault is physical, so the duct is never funded — someone just nudges the setpoint again.</a:t>
            </a:r>
            <a:endParaRPr lang="en-US" sz="1400" dirty="0"/>
          </a:p>
        </p:txBody>
      </p:sp>
      <p:sp>
        <p:nvSpPr>
          <p:cNvPr id="16" name="Text 14"/>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5F737D"/>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7EDF0"/>
        </a:solidFill>
      </p:bgPr>
    </p:bg>
    <p:spTree>
      <p:nvGrpSpPr>
        <p:cNvPr id="1" name=""/>
        <p:cNvGrpSpPr/>
        <p:nvPr/>
      </p:nvGrpSpPr>
      <p:grpSpPr>
        <a:xfrm>
          <a:off x="0" y="0"/>
          <a:ext cx="0" cy="0"/>
          <a:chOff x="0" y="0"/>
          <a:chExt cx="0" cy="0"/>
        </a:xfrm>
      </p:grpSpPr>
      <p:sp>
        <p:nvSpPr>
          <p:cNvPr id="2" name="Text 0"/>
          <p:cNvSpPr txBox="1"/>
          <p:nvPr/>
        </p:nvSpPr>
        <p:spPr>
          <a:xfrm>
            <a:off x="566928" y="475488"/>
            <a:ext cx="11057839" cy="237744"/>
          </a:xfrm>
          <a:prstGeom prst="rect">
            <a:avLst/>
          </a:prstGeom>
          <a:noFill/>
          <a:ln/>
        </p:spPr>
        <p:txBody>
          <a:bodyPr wrap="square" lIns="0" tIns="0" rIns="0" bIns="0" rtlCol="0" anchor="t"/>
          <a:lstStyle/>
          <a:p>
            <a:pPr algn="l" indent="0" marL="0">
              <a:buNone/>
            </a:pPr>
            <a:r>
              <a:rPr lang="en-US" sz="1050" b="1" spc="140" kern="0" dirty="0">
                <a:solidFill>
                  <a:srgbClr val="3B9B78"/>
                </a:solidFill>
                <a:latin typeface="Calibri" pitchFamily="34" charset="0"/>
                <a:ea typeface="Calibri" pitchFamily="34" charset="-122"/>
                <a:cs typeface="Calibri" pitchFamily="34" charset="-120"/>
              </a:rPr>
              <a:t>2:42PM</a:t>
            </a:r>
            <a:endParaRPr lang="en-US" sz="1050" dirty="0"/>
          </a:p>
        </p:txBody>
      </p:sp>
      <p:sp>
        <p:nvSpPr>
          <p:cNvPr id="3" name="Text 1"/>
          <p:cNvSpPr txBox="1"/>
          <p:nvPr/>
        </p:nvSpPr>
        <p:spPr>
          <a:xfrm>
            <a:off x="566928" y="749808"/>
            <a:ext cx="11057839" cy="713232"/>
          </a:xfrm>
          <a:prstGeom prst="rect">
            <a:avLst/>
          </a:prstGeom>
          <a:noFill/>
          <a:ln/>
        </p:spPr>
        <p:txBody>
          <a:bodyPr wrap="square" lIns="0" tIns="0" rIns="0" bIns="0" rtlCol="0" anchor="t"/>
          <a:lstStyle/>
          <a:p>
            <a:pPr algn="l" indent="0" marL="0">
              <a:buNone/>
            </a:pPr>
            <a:r>
              <a:rPr lang="en-US" sz="3400" b="1" spc="-50" kern="0" dirty="0">
                <a:solidFill>
                  <a:srgbClr val="14242C"/>
                </a:solidFill>
                <a:latin typeface="Calibri" pitchFamily="34" charset="0"/>
                <a:ea typeface="Calibri" pitchFamily="34" charset="-122"/>
                <a:cs typeface="Calibri" pitchFamily="34" charset="-120"/>
              </a:rPr>
              <a:t>So Priya taps</a:t>
            </a:r>
            <a:endParaRPr lang="en-US" sz="3400" dirty="0"/>
          </a:p>
        </p:txBody>
      </p:sp>
      <p:sp>
        <p:nvSpPr>
          <p:cNvPr id="4" name="Shape 2"/>
          <p:cNvSpPr/>
          <p:nvPr/>
        </p:nvSpPr>
        <p:spPr>
          <a:xfrm>
            <a:off x="566928" y="1627632"/>
            <a:ext cx="6144768" cy="3200400"/>
          </a:xfrm>
          <a:prstGeom prst="roundRect">
            <a:avLst>
              <a:gd name="adj" fmla="val 1714"/>
            </a:avLst>
          </a:prstGeom>
          <a:solidFill>
            <a:srgbClr val="FFFFFF"/>
          </a:solidFill>
          <a:ln w="12700">
            <a:solidFill>
              <a:srgbClr val="E1E9ED"/>
            </a:solidFill>
            <a:prstDash val="solid"/>
          </a:ln>
          <a:effectLst>
            <a:outerShdw sx="100000" sy="100000" kx="0" ky="0" algn="bl" rotWithShape="0" blurRad="127000" dist="38100" dir="5400000">
              <a:srgbClr val="14242C">
                <a:alpha val="12000"/>
              </a:srgbClr>
            </a:outerShdw>
          </a:effectLst>
        </p:spPr>
      </p:sp>
      <p:sp>
        <p:nvSpPr>
          <p:cNvPr id="5" name="Text 3"/>
          <p:cNvSpPr txBox="1"/>
          <p:nvPr/>
        </p:nvSpPr>
        <p:spPr>
          <a:xfrm>
            <a:off x="877824" y="1901952"/>
            <a:ext cx="640080" cy="274320"/>
          </a:xfrm>
          <a:prstGeom prst="rect">
            <a:avLst/>
          </a:prstGeom>
          <a:noFill/>
          <a:ln/>
        </p:spPr>
        <p:txBody>
          <a:bodyPr wrap="square" lIns="0" tIns="0" rIns="0" bIns="0" rtlCol="0" anchor="ctr"/>
          <a:lstStyle/>
          <a:p>
            <a:pPr algn="l" indent="0" marL="0">
              <a:buNone/>
            </a:pPr>
            <a:r>
              <a:rPr lang="en-US" sz="1250" dirty="0">
                <a:solidFill>
                  <a:srgbClr val="5F737D"/>
                </a:solidFill>
                <a:latin typeface="Calibri" pitchFamily="34" charset="0"/>
                <a:ea typeface="Calibri" pitchFamily="34" charset="-122"/>
                <a:cs typeface="Calibri" pitchFamily="34" charset="-120"/>
              </a:rPr>
              <a:t>I'm at</a:t>
            </a:r>
            <a:endParaRPr lang="en-US" sz="1250" dirty="0"/>
          </a:p>
        </p:txBody>
      </p:sp>
      <p:sp>
        <p:nvSpPr>
          <p:cNvPr id="6" name="Shape 4"/>
          <p:cNvSpPr/>
          <p:nvPr/>
        </p:nvSpPr>
        <p:spPr>
          <a:xfrm>
            <a:off x="1536192" y="1865376"/>
            <a:ext cx="4864608" cy="384048"/>
          </a:xfrm>
          <a:prstGeom prst="roundRect">
            <a:avLst>
              <a:gd name="adj" fmla="val 28571"/>
            </a:avLst>
          </a:prstGeom>
          <a:solidFill>
            <a:srgbClr val="F3F7F9"/>
          </a:solidFill>
          <a:ln w="15875">
            <a:solidFill>
              <a:srgbClr val="CDD9DF"/>
            </a:solidFill>
            <a:prstDash val="solid"/>
          </a:ln>
        </p:spPr>
      </p:sp>
      <p:sp>
        <p:nvSpPr>
          <p:cNvPr id="7" name="Text 5"/>
          <p:cNvSpPr txBox="1"/>
          <p:nvPr/>
        </p:nvSpPr>
        <p:spPr>
          <a:xfrm>
            <a:off x="1664208" y="1865376"/>
            <a:ext cx="4590288" cy="384048"/>
          </a:xfrm>
          <a:prstGeom prst="rect">
            <a:avLst/>
          </a:prstGeom>
          <a:noFill/>
          <a:ln/>
        </p:spPr>
        <p:txBody>
          <a:bodyPr wrap="square" lIns="0" tIns="0" rIns="0" bIns="0" rtlCol="0" anchor="ctr"/>
          <a:lstStyle/>
          <a:p>
            <a:pPr algn="l" indent="0" marL="0">
              <a:buNone/>
            </a:pPr>
            <a:r>
              <a:rPr lang="en-US" sz="1350" dirty="0">
                <a:solidFill>
                  <a:srgbClr val="14242C"/>
                </a:solidFill>
                <a:latin typeface="Calibri" pitchFamily="34" charset="0"/>
                <a:ea typeface="Calibri" pitchFamily="34" charset="-122"/>
                <a:cs typeface="Calibri" pitchFamily="34" charset="-120"/>
              </a:rPr>
              <a:t>Level 7 — North window seats</a:t>
            </a:r>
            <a:endParaRPr lang="en-US" sz="1350" dirty="0"/>
          </a:p>
        </p:txBody>
      </p:sp>
      <p:sp>
        <p:nvSpPr>
          <p:cNvPr id="8" name="Shape 6"/>
          <p:cNvSpPr/>
          <p:nvPr/>
        </p:nvSpPr>
        <p:spPr>
          <a:xfrm>
            <a:off x="877824" y="2487168"/>
            <a:ext cx="1046074" cy="932688"/>
          </a:xfrm>
          <a:prstGeom prst="roundRect">
            <a:avLst>
              <a:gd name="adj" fmla="val 15686"/>
            </a:avLst>
          </a:prstGeom>
          <a:solidFill>
            <a:srgbClr val="F3F7F9"/>
          </a:solidFill>
          <a:ln w="15875">
            <a:solidFill>
              <a:srgbClr val="CDD9DF"/>
            </a:solidFill>
            <a:prstDash val="solid"/>
          </a:ln>
        </p:spPr>
      </p:sp>
      <p:sp>
        <p:nvSpPr>
          <p:cNvPr id="9" name="Text 7"/>
          <p:cNvSpPr txBox="1"/>
          <p:nvPr/>
        </p:nvSpPr>
        <p:spPr>
          <a:xfrm>
            <a:off x="877824" y="2606040"/>
            <a:ext cx="1046074" cy="365760"/>
          </a:xfrm>
          <a:prstGeom prst="rect">
            <a:avLst/>
          </a:prstGeom>
          <a:noFill/>
          <a:ln/>
        </p:spPr>
        <p:txBody>
          <a:bodyPr wrap="square" lIns="0" tIns="0" rIns="0" bIns="0" rtlCol="0" anchor="t"/>
          <a:lstStyle/>
          <a:p>
            <a:pPr algn="ctr" indent="0" marL="0">
              <a:buNone/>
            </a:pPr>
            <a:r>
              <a:rPr lang="en-US" sz="1900" dirty="0">
                <a:solidFill>
                  <a:srgbClr val="14242C"/>
                </a:solidFill>
                <a:latin typeface="Segoe UI Emoji" pitchFamily="34" charset="0"/>
                <a:ea typeface="Segoe UI Emoji" pitchFamily="34" charset="-122"/>
                <a:cs typeface="Segoe UI Emoji" pitchFamily="34" charset="-120"/>
              </a:rPr>
              <a:t>🥶</a:t>
            </a:r>
            <a:endParaRPr lang="en-US" sz="1900" dirty="0"/>
          </a:p>
        </p:txBody>
      </p:sp>
      <p:sp>
        <p:nvSpPr>
          <p:cNvPr id="10" name="Text 8"/>
          <p:cNvSpPr txBox="1"/>
          <p:nvPr/>
        </p:nvSpPr>
        <p:spPr>
          <a:xfrm>
            <a:off x="877824" y="3017520"/>
            <a:ext cx="1046074" cy="274320"/>
          </a:xfrm>
          <a:prstGeom prst="rect">
            <a:avLst/>
          </a:prstGeom>
          <a:noFill/>
          <a:ln/>
        </p:spPr>
        <p:txBody>
          <a:bodyPr wrap="square" lIns="0" tIns="0" rIns="0" bIns="0" rtlCol="0" anchor="t"/>
          <a:lstStyle/>
          <a:p>
            <a:pPr algn="ctr" indent="0" marL="0">
              <a:buNone/>
            </a:pPr>
            <a:r>
              <a:rPr lang="en-US" sz="1050" dirty="0">
                <a:solidFill>
                  <a:srgbClr val="14242C"/>
                </a:solidFill>
                <a:latin typeface="Calibri" pitchFamily="34" charset="0"/>
                <a:ea typeface="Calibri" pitchFamily="34" charset="-122"/>
                <a:cs typeface="Calibri" pitchFamily="34" charset="-120"/>
              </a:rPr>
              <a:t>Freezing</a:t>
            </a:r>
            <a:endParaRPr lang="en-US" sz="1050" dirty="0"/>
          </a:p>
        </p:txBody>
      </p:sp>
      <p:sp>
        <p:nvSpPr>
          <p:cNvPr id="11" name="Shape 9"/>
          <p:cNvSpPr/>
          <p:nvPr/>
        </p:nvSpPr>
        <p:spPr>
          <a:xfrm>
            <a:off x="1997050" y="2487168"/>
            <a:ext cx="1046074" cy="932688"/>
          </a:xfrm>
          <a:prstGeom prst="roundRect">
            <a:avLst>
              <a:gd name="adj" fmla="val 15686"/>
            </a:avLst>
          </a:prstGeom>
          <a:solidFill>
            <a:srgbClr val="F3F7F9"/>
          </a:solidFill>
          <a:ln w="15875">
            <a:solidFill>
              <a:srgbClr val="CDD9DF"/>
            </a:solidFill>
            <a:prstDash val="solid"/>
          </a:ln>
        </p:spPr>
      </p:sp>
      <p:sp>
        <p:nvSpPr>
          <p:cNvPr id="12" name="Text 10"/>
          <p:cNvSpPr txBox="1"/>
          <p:nvPr/>
        </p:nvSpPr>
        <p:spPr>
          <a:xfrm>
            <a:off x="1997050" y="2606040"/>
            <a:ext cx="1046074" cy="365760"/>
          </a:xfrm>
          <a:prstGeom prst="rect">
            <a:avLst/>
          </a:prstGeom>
          <a:noFill/>
          <a:ln/>
        </p:spPr>
        <p:txBody>
          <a:bodyPr wrap="square" lIns="0" tIns="0" rIns="0" bIns="0" rtlCol="0" anchor="t"/>
          <a:lstStyle/>
          <a:p>
            <a:pPr algn="ctr" indent="0" marL="0">
              <a:buNone/>
            </a:pPr>
            <a:r>
              <a:rPr lang="en-US" sz="1900" dirty="0">
                <a:solidFill>
                  <a:srgbClr val="14242C"/>
                </a:solidFill>
                <a:latin typeface="Segoe UI Emoji" pitchFamily="34" charset="0"/>
                <a:ea typeface="Segoe UI Emoji" pitchFamily="34" charset="-122"/>
                <a:cs typeface="Segoe UI Emoji" pitchFamily="34" charset="-120"/>
              </a:rPr>
              <a:t>🧥</a:t>
            </a:r>
            <a:endParaRPr lang="en-US" sz="1900" dirty="0"/>
          </a:p>
        </p:txBody>
      </p:sp>
      <p:sp>
        <p:nvSpPr>
          <p:cNvPr id="13" name="Text 11"/>
          <p:cNvSpPr txBox="1"/>
          <p:nvPr/>
        </p:nvSpPr>
        <p:spPr>
          <a:xfrm>
            <a:off x="1997050" y="3017520"/>
            <a:ext cx="1046074" cy="274320"/>
          </a:xfrm>
          <a:prstGeom prst="rect">
            <a:avLst/>
          </a:prstGeom>
          <a:noFill/>
          <a:ln/>
        </p:spPr>
        <p:txBody>
          <a:bodyPr wrap="square" lIns="0" tIns="0" rIns="0" bIns="0" rtlCol="0" anchor="t"/>
          <a:lstStyle/>
          <a:p>
            <a:pPr algn="ctr" indent="0" marL="0">
              <a:buNone/>
            </a:pPr>
            <a:r>
              <a:rPr lang="en-US" sz="1050" dirty="0">
                <a:solidFill>
                  <a:srgbClr val="14242C"/>
                </a:solidFill>
                <a:latin typeface="Calibri" pitchFamily="34" charset="0"/>
                <a:ea typeface="Calibri" pitchFamily="34" charset="-122"/>
                <a:cs typeface="Calibri" pitchFamily="34" charset="-120"/>
              </a:rPr>
              <a:t>Chilly</a:t>
            </a:r>
            <a:endParaRPr lang="en-US" sz="1050" dirty="0"/>
          </a:p>
        </p:txBody>
      </p:sp>
      <p:sp>
        <p:nvSpPr>
          <p:cNvPr id="14" name="Shape 12"/>
          <p:cNvSpPr/>
          <p:nvPr/>
        </p:nvSpPr>
        <p:spPr>
          <a:xfrm>
            <a:off x="3116275" y="2487168"/>
            <a:ext cx="1046074" cy="932688"/>
          </a:xfrm>
          <a:prstGeom prst="roundRect">
            <a:avLst>
              <a:gd name="adj" fmla="val 15686"/>
            </a:avLst>
          </a:prstGeom>
          <a:solidFill>
            <a:srgbClr val="F3F7F9"/>
          </a:solidFill>
          <a:ln w="15875">
            <a:solidFill>
              <a:srgbClr val="CDD9DF"/>
            </a:solidFill>
            <a:prstDash val="solid"/>
          </a:ln>
        </p:spPr>
      </p:sp>
      <p:sp>
        <p:nvSpPr>
          <p:cNvPr id="15" name="Text 13"/>
          <p:cNvSpPr txBox="1"/>
          <p:nvPr/>
        </p:nvSpPr>
        <p:spPr>
          <a:xfrm>
            <a:off x="3116275" y="2606040"/>
            <a:ext cx="1046074" cy="365760"/>
          </a:xfrm>
          <a:prstGeom prst="rect">
            <a:avLst/>
          </a:prstGeom>
          <a:noFill/>
          <a:ln/>
        </p:spPr>
        <p:txBody>
          <a:bodyPr wrap="square" lIns="0" tIns="0" rIns="0" bIns="0" rtlCol="0" anchor="t"/>
          <a:lstStyle/>
          <a:p>
            <a:pPr algn="ctr" indent="0" marL="0">
              <a:buNone/>
            </a:pPr>
            <a:r>
              <a:rPr lang="en-US" sz="1900" dirty="0">
                <a:solidFill>
                  <a:srgbClr val="14242C"/>
                </a:solidFill>
                <a:latin typeface="Segoe UI Emoji" pitchFamily="34" charset="0"/>
                <a:ea typeface="Segoe UI Emoji" pitchFamily="34" charset="-122"/>
                <a:cs typeface="Segoe UI Emoji" pitchFamily="34" charset="-120"/>
              </a:rPr>
              <a:t>😌</a:t>
            </a:r>
            <a:endParaRPr lang="en-US" sz="1900" dirty="0"/>
          </a:p>
        </p:txBody>
      </p:sp>
      <p:sp>
        <p:nvSpPr>
          <p:cNvPr id="16" name="Text 14"/>
          <p:cNvSpPr txBox="1"/>
          <p:nvPr/>
        </p:nvSpPr>
        <p:spPr>
          <a:xfrm>
            <a:off x="3116275" y="3017520"/>
            <a:ext cx="1046074" cy="274320"/>
          </a:xfrm>
          <a:prstGeom prst="rect">
            <a:avLst/>
          </a:prstGeom>
          <a:noFill/>
          <a:ln/>
        </p:spPr>
        <p:txBody>
          <a:bodyPr wrap="square" lIns="0" tIns="0" rIns="0" bIns="0" rtlCol="0" anchor="t"/>
          <a:lstStyle/>
          <a:p>
            <a:pPr algn="ctr" indent="0" marL="0">
              <a:buNone/>
            </a:pPr>
            <a:r>
              <a:rPr lang="en-US" sz="1050" dirty="0">
                <a:solidFill>
                  <a:srgbClr val="14242C"/>
                </a:solidFill>
                <a:latin typeface="Calibri" pitchFamily="34" charset="0"/>
                <a:ea typeface="Calibri" pitchFamily="34" charset="-122"/>
                <a:cs typeface="Calibri" pitchFamily="34" charset="-120"/>
              </a:rPr>
              <a:t>Just nice</a:t>
            </a:r>
            <a:endParaRPr lang="en-US" sz="1050" dirty="0"/>
          </a:p>
        </p:txBody>
      </p:sp>
      <p:sp>
        <p:nvSpPr>
          <p:cNvPr id="17" name="Shape 15"/>
          <p:cNvSpPr/>
          <p:nvPr/>
        </p:nvSpPr>
        <p:spPr>
          <a:xfrm>
            <a:off x="4235501" y="2487168"/>
            <a:ext cx="1046074" cy="932688"/>
          </a:xfrm>
          <a:prstGeom prst="roundRect">
            <a:avLst>
              <a:gd name="adj" fmla="val 15686"/>
            </a:avLst>
          </a:prstGeom>
          <a:solidFill>
            <a:srgbClr val="F3F7F9"/>
          </a:solidFill>
          <a:ln w="15875">
            <a:solidFill>
              <a:srgbClr val="CDD9DF"/>
            </a:solidFill>
            <a:prstDash val="solid"/>
          </a:ln>
        </p:spPr>
      </p:sp>
      <p:sp>
        <p:nvSpPr>
          <p:cNvPr id="18" name="Text 16"/>
          <p:cNvSpPr txBox="1"/>
          <p:nvPr/>
        </p:nvSpPr>
        <p:spPr>
          <a:xfrm>
            <a:off x="4235501" y="2606040"/>
            <a:ext cx="1046074" cy="365760"/>
          </a:xfrm>
          <a:prstGeom prst="rect">
            <a:avLst/>
          </a:prstGeom>
          <a:noFill/>
          <a:ln/>
        </p:spPr>
        <p:txBody>
          <a:bodyPr wrap="square" lIns="0" tIns="0" rIns="0" bIns="0" rtlCol="0" anchor="t"/>
          <a:lstStyle/>
          <a:p>
            <a:pPr algn="ctr" indent="0" marL="0">
              <a:buNone/>
            </a:pPr>
            <a:r>
              <a:rPr lang="en-US" sz="1900" dirty="0">
                <a:solidFill>
                  <a:srgbClr val="14242C"/>
                </a:solidFill>
                <a:latin typeface="Segoe UI Emoji" pitchFamily="34" charset="0"/>
                <a:ea typeface="Segoe UI Emoji" pitchFamily="34" charset="-122"/>
                <a:cs typeface="Segoe UI Emoji" pitchFamily="34" charset="-120"/>
              </a:rPr>
              <a:t>🫠</a:t>
            </a:r>
            <a:endParaRPr lang="en-US" sz="1900" dirty="0"/>
          </a:p>
        </p:txBody>
      </p:sp>
      <p:sp>
        <p:nvSpPr>
          <p:cNvPr id="19" name="Text 17"/>
          <p:cNvSpPr txBox="1"/>
          <p:nvPr/>
        </p:nvSpPr>
        <p:spPr>
          <a:xfrm>
            <a:off x="4235501" y="3017520"/>
            <a:ext cx="1046074" cy="274320"/>
          </a:xfrm>
          <a:prstGeom prst="rect">
            <a:avLst/>
          </a:prstGeom>
          <a:noFill/>
          <a:ln/>
        </p:spPr>
        <p:txBody>
          <a:bodyPr wrap="square" lIns="0" tIns="0" rIns="0" bIns="0" rtlCol="0" anchor="t"/>
          <a:lstStyle/>
          <a:p>
            <a:pPr algn="ctr" indent="0" marL="0">
              <a:buNone/>
            </a:pPr>
            <a:r>
              <a:rPr lang="en-US" sz="1050" dirty="0">
                <a:solidFill>
                  <a:srgbClr val="14242C"/>
                </a:solidFill>
                <a:latin typeface="Calibri" pitchFamily="34" charset="0"/>
                <a:ea typeface="Calibri" pitchFamily="34" charset="-122"/>
                <a:cs typeface="Calibri" pitchFamily="34" charset="-120"/>
              </a:rPr>
              <a:t>Warm</a:t>
            </a:r>
            <a:endParaRPr lang="en-US" sz="1050" dirty="0"/>
          </a:p>
        </p:txBody>
      </p:sp>
      <p:sp>
        <p:nvSpPr>
          <p:cNvPr id="20" name="Shape 18"/>
          <p:cNvSpPr/>
          <p:nvPr/>
        </p:nvSpPr>
        <p:spPr>
          <a:xfrm>
            <a:off x="5354726" y="2487168"/>
            <a:ext cx="1046074" cy="932688"/>
          </a:xfrm>
          <a:prstGeom prst="roundRect">
            <a:avLst>
              <a:gd name="adj" fmla="val 15686"/>
            </a:avLst>
          </a:prstGeom>
          <a:solidFill>
            <a:srgbClr val="C64C2C">
              <a:alpha val="16000"/>
            </a:srgbClr>
          </a:solidFill>
          <a:ln w="25400">
            <a:solidFill>
              <a:srgbClr val="C64C2C"/>
            </a:solidFill>
            <a:prstDash val="solid"/>
          </a:ln>
        </p:spPr>
      </p:sp>
      <p:sp>
        <p:nvSpPr>
          <p:cNvPr id="21" name="Text 19"/>
          <p:cNvSpPr txBox="1"/>
          <p:nvPr/>
        </p:nvSpPr>
        <p:spPr>
          <a:xfrm>
            <a:off x="5354726" y="2606040"/>
            <a:ext cx="1046074" cy="365760"/>
          </a:xfrm>
          <a:prstGeom prst="rect">
            <a:avLst/>
          </a:prstGeom>
          <a:noFill/>
          <a:ln/>
        </p:spPr>
        <p:txBody>
          <a:bodyPr wrap="square" lIns="0" tIns="0" rIns="0" bIns="0" rtlCol="0" anchor="t"/>
          <a:lstStyle/>
          <a:p>
            <a:pPr algn="ctr" indent="0" marL="0">
              <a:buNone/>
            </a:pPr>
            <a:r>
              <a:rPr lang="en-US" sz="1900" dirty="0">
                <a:solidFill>
                  <a:srgbClr val="14242C"/>
                </a:solidFill>
                <a:latin typeface="Segoe UI Emoji" pitchFamily="34" charset="0"/>
                <a:ea typeface="Segoe UI Emoji" pitchFamily="34" charset="-122"/>
                <a:cs typeface="Segoe UI Emoji" pitchFamily="34" charset="-120"/>
              </a:rPr>
              <a:t>🥵</a:t>
            </a:r>
            <a:endParaRPr lang="en-US" sz="1900" dirty="0"/>
          </a:p>
        </p:txBody>
      </p:sp>
      <p:sp>
        <p:nvSpPr>
          <p:cNvPr id="22" name="Text 20"/>
          <p:cNvSpPr txBox="1"/>
          <p:nvPr/>
        </p:nvSpPr>
        <p:spPr>
          <a:xfrm>
            <a:off x="5354726" y="3017520"/>
            <a:ext cx="1046074" cy="274320"/>
          </a:xfrm>
          <a:prstGeom prst="rect">
            <a:avLst/>
          </a:prstGeom>
          <a:noFill/>
          <a:ln/>
        </p:spPr>
        <p:txBody>
          <a:bodyPr wrap="square" lIns="0" tIns="0" rIns="0" bIns="0" rtlCol="0" anchor="t"/>
          <a:lstStyle/>
          <a:p>
            <a:pPr algn="ctr" indent="0" marL="0">
              <a:buNone/>
            </a:pPr>
            <a:r>
              <a:rPr lang="en-US" sz="1050" b="1" dirty="0">
                <a:solidFill>
                  <a:srgbClr val="C64C2C"/>
                </a:solidFill>
                <a:latin typeface="Calibri" pitchFamily="34" charset="0"/>
                <a:ea typeface="Calibri" pitchFamily="34" charset="-122"/>
                <a:cs typeface="Calibri" pitchFamily="34" charset="-120"/>
              </a:rPr>
              <a:t>Roasting</a:t>
            </a:r>
            <a:endParaRPr lang="en-US" sz="1050" dirty="0"/>
          </a:p>
        </p:txBody>
      </p:sp>
      <p:sp>
        <p:nvSpPr>
          <p:cNvPr id="23" name="Text 21"/>
          <p:cNvSpPr txBox="1"/>
          <p:nvPr/>
        </p:nvSpPr>
        <p:spPr>
          <a:xfrm>
            <a:off x="877824" y="3639312"/>
            <a:ext cx="5522976" cy="329184"/>
          </a:xfrm>
          <a:prstGeom prst="rect">
            <a:avLst/>
          </a:prstGeom>
          <a:noFill/>
          <a:ln/>
        </p:spPr>
        <p:txBody>
          <a:bodyPr wrap="square" lIns="0" tIns="0" rIns="0" bIns="0" rtlCol="0" anchor="t"/>
          <a:lstStyle/>
          <a:p>
            <a:pPr algn="l" indent="0" marL="0">
              <a:buNone/>
            </a:pPr>
            <a:r>
              <a:rPr lang="en-US" sz="1300" dirty="0">
                <a:solidFill>
                  <a:srgbClr val="5F737D"/>
                </a:solidFill>
                <a:latin typeface="Calibri" pitchFamily="34" charset="0"/>
                <a:ea typeface="Calibri" pitchFamily="34" charset="-122"/>
                <a:cs typeface="Calibri" pitchFamily="34" charset="-120"/>
              </a:rPr>
              <a:t>You said roasting, just now. Tap again to change it.</a:t>
            </a:r>
            <a:endParaRPr lang="en-US" sz="1300" dirty="0"/>
          </a:p>
        </p:txBody>
      </p:sp>
      <p:sp>
        <p:nvSpPr>
          <p:cNvPr id="24" name="Text 22"/>
          <p:cNvSpPr txBox="1"/>
          <p:nvPr/>
        </p:nvSpPr>
        <p:spPr>
          <a:xfrm>
            <a:off x="877824" y="4059936"/>
            <a:ext cx="5522976" cy="475488"/>
          </a:xfrm>
          <a:prstGeom prst="rect">
            <a:avLst/>
          </a:prstGeom>
          <a:noFill/>
          <a:ln/>
        </p:spPr>
        <p:txBody>
          <a:bodyPr wrap="square" lIns="0" tIns="0" rIns="0" bIns="0" rtlCol="0" anchor="t"/>
          <a:lstStyle/>
          <a:p>
            <a:pPr algn="l" indent="0" marL="0">
              <a:buNone/>
            </a:pPr>
            <a:r>
              <a:rPr lang="en-US" sz="1200" i="1" dirty="0">
                <a:solidFill>
                  <a:srgbClr val="3B9B78"/>
                </a:solidFill>
                <a:latin typeface="Calibri" pitchFamily="34" charset="0"/>
                <a:ea typeface="Calibri" pitchFamily="34" charset="-122"/>
                <a:cs typeface="Calibri" pitchFamily="34" charset="-120"/>
              </a:rPr>
              <a:t>Two hours after that tap, the vote expires on its own.</a:t>
            </a:r>
            <a:endParaRPr lang="en-US" sz="1200" dirty="0"/>
          </a:p>
        </p:txBody>
      </p:sp>
      <p:sp>
        <p:nvSpPr>
          <p:cNvPr id="25" name="Shape 23"/>
          <p:cNvSpPr/>
          <p:nvPr/>
        </p:nvSpPr>
        <p:spPr>
          <a:xfrm>
            <a:off x="7168896" y="1819656"/>
            <a:ext cx="91440" cy="91440"/>
          </a:xfrm>
          <a:prstGeom prst="roundRect">
            <a:avLst>
              <a:gd name="adj" fmla="val 500000"/>
            </a:avLst>
          </a:prstGeom>
          <a:solidFill>
            <a:srgbClr val="3B9B78"/>
          </a:solidFill>
          <a:ln/>
        </p:spPr>
      </p:sp>
      <p:sp>
        <p:nvSpPr>
          <p:cNvPr id="26" name="Text 24"/>
          <p:cNvSpPr txBox="1"/>
          <p:nvPr/>
        </p:nvSpPr>
        <p:spPr>
          <a:xfrm>
            <a:off x="7406640" y="1755648"/>
            <a:ext cx="4218127" cy="786384"/>
          </a:xfrm>
          <a:prstGeom prst="rect">
            <a:avLst/>
          </a:prstGeom>
          <a:noFill/>
          <a:ln/>
        </p:spPr>
        <p:txBody>
          <a:bodyPr wrap="square" lIns="0" tIns="0" rIns="0" bIns="0" rtlCol="0" anchor="t"/>
          <a:lstStyle/>
          <a:p>
            <a:pPr algn="l" indent="0" marL="0">
              <a:lnSpc>
                <a:spcPts val="1900"/>
              </a:lnSpc>
              <a:buNone/>
            </a:pPr>
            <a:r>
              <a:rPr lang="en-US" sz="1400" dirty="0">
                <a:solidFill>
                  <a:srgbClr val="14242C"/>
                </a:solidFill>
                <a:latin typeface="Calibri" pitchFamily="34" charset="0"/>
                <a:ea typeface="Calibri" pitchFamily="34" charset="-122"/>
                <a:cs typeface="Calibri" pitchFamily="34" charset="-120"/>
              </a:rPr>
              <a:t>Five points, freezing to roasting — enough range to be useful, few enough to tap without thinking.</a:t>
            </a:r>
            <a:endParaRPr lang="en-US" sz="1400" dirty="0"/>
          </a:p>
        </p:txBody>
      </p:sp>
      <p:sp>
        <p:nvSpPr>
          <p:cNvPr id="27" name="Shape 25"/>
          <p:cNvSpPr/>
          <p:nvPr/>
        </p:nvSpPr>
        <p:spPr>
          <a:xfrm>
            <a:off x="7168896" y="2752344"/>
            <a:ext cx="91440" cy="91440"/>
          </a:xfrm>
          <a:prstGeom prst="roundRect">
            <a:avLst>
              <a:gd name="adj" fmla="val 500000"/>
            </a:avLst>
          </a:prstGeom>
          <a:solidFill>
            <a:srgbClr val="3B9B78"/>
          </a:solidFill>
          <a:ln/>
        </p:spPr>
      </p:sp>
      <p:sp>
        <p:nvSpPr>
          <p:cNvPr id="28" name="Text 26"/>
          <p:cNvSpPr txBox="1"/>
          <p:nvPr/>
        </p:nvSpPr>
        <p:spPr>
          <a:xfrm>
            <a:off x="7406640" y="2688336"/>
            <a:ext cx="4218127" cy="786384"/>
          </a:xfrm>
          <a:prstGeom prst="rect">
            <a:avLst/>
          </a:prstGeom>
          <a:noFill/>
          <a:ln/>
        </p:spPr>
        <p:txBody>
          <a:bodyPr wrap="square" lIns="0" tIns="0" rIns="0" bIns="0" rtlCol="0" anchor="t"/>
          <a:lstStyle/>
          <a:p>
            <a:pPr algn="l" indent="0" marL="0">
              <a:lnSpc>
                <a:spcPts val="1900"/>
              </a:lnSpc>
              <a:buNone/>
            </a:pPr>
            <a:r>
              <a:rPr lang="en-US" sz="1400" dirty="0">
                <a:solidFill>
                  <a:srgbClr val="14242C"/>
                </a:solidFill>
                <a:latin typeface="Calibri" pitchFamily="34" charset="0"/>
                <a:ea typeface="Calibri" pitchFamily="34" charset="-122"/>
                <a:cs typeface="Calibri" pitchFamily="34" charset="-120"/>
              </a:rPr>
              <a:t>One vote per person, per spot. Change it any time the room changes its mind.</a:t>
            </a:r>
            <a:endParaRPr lang="en-US" sz="1400" dirty="0"/>
          </a:p>
        </p:txBody>
      </p:sp>
      <p:sp>
        <p:nvSpPr>
          <p:cNvPr id="29" name="Shape 27"/>
          <p:cNvSpPr/>
          <p:nvPr/>
        </p:nvSpPr>
        <p:spPr>
          <a:xfrm>
            <a:off x="7168896" y="3685032"/>
            <a:ext cx="91440" cy="91440"/>
          </a:xfrm>
          <a:prstGeom prst="roundRect">
            <a:avLst>
              <a:gd name="adj" fmla="val 500000"/>
            </a:avLst>
          </a:prstGeom>
          <a:solidFill>
            <a:srgbClr val="3B9B78"/>
          </a:solidFill>
          <a:ln/>
        </p:spPr>
      </p:sp>
      <p:sp>
        <p:nvSpPr>
          <p:cNvPr id="30" name="Text 28"/>
          <p:cNvSpPr txBox="1"/>
          <p:nvPr/>
        </p:nvSpPr>
        <p:spPr>
          <a:xfrm>
            <a:off x="7406640" y="3621024"/>
            <a:ext cx="4218127" cy="786384"/>
          </a:xfrm>
          <a:prstGeom prst="rect">
            <a:avLst/>
          </a:prstGeom>
          <a:noFill/>
          <a:ln/>
        </p:spPr>
        <p:txBody>
          <a:bodyPr wrap="square" lIns="0" tIns="0" rIns="0" bIns="0" rtlCol="0" anchor="t"/>
          <a:lstStyle/>
          <a:p>
            <a:pPr algn="l" indent="0" marL="0">
              <a:lnSpc>
                <a:spcPts val="1900"/>
              </a:lnSpc>
              <a:buNone/>
            </a:pPr>
            <a:r>
              <a:rPr lang="en-US" sz="1400" dirty="0">
                <a:solidFill>
                  <a:srgbClr val="14242C"/>
                </a:solidFill>
                <a:latin typeface="Calibri" pitchFamily="34" charset="0"/>
                <a:ea typeface="Calibri" pitchFamily="34" charset="-122"/>
                <a:cs typeface="Calibri" pitchFamily="34" charset="-120"/>
              </a:rPr>
              <a:t>After two hours it expires on its own, so the board is always how the floor feels now.</a:t>
            </a:r>
            <a:endParaRPr lang="en-US" sz="1400" dirty="0"/>
          </a:p>
        </p:txBody>
      </p:sp>
      <p:sp>
        <p:nvSpPr>
          <p:cNvPr id="31" name="Text 29"/>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5F737D"/>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A1F"/>
        </a:solidFill>
      </p:bgPr>
    </p:bg>
    <p:spTree>
      <p:nvGrpSpPr>
        <p:cNvPr id="1" name=""/>
        <p:cNvGrpSpPr/>
        <p:nvPr/>
      </p:nvGrpSpPr>
      <p:grpSpPr>
        <a:xfrm>
          <a:off x="0" y="0"/>
          <a:ext cx="0" cy="0"/>
          <a:chOff x="0" y="0"/>
          <a:chExt cx="0" cy="0"/>
        </a:xfrm>
      </p:grpSpPr>
      <p:sp>
        <p:nvSpPr>
          <p:cNvPr id="2" name="Text 0"/>
          <p:cNvSpPr txBox="1"/>
          <p:nvPr/>
        </p:nvSpPr>
        <p:spPr>
          <a:xfrm>
            <a:off x="566928" y="475488"/>
            <a:ext cx="11057839" cy="237744"/>
          </a:xfrm>
          <a:prstGeom prst="rect">
            <a:avLst/>
          </a:prstGeom>
          <a:noFill/>
          <a:ln/>
        </p:spPr>
        <p:txBody>
          <a:bodyPr wrap="square" lIns="0" tIns="0" rIns="0" bIns="0" rtlCol="0" anchor="t"/>
          <a:lstStyle/>
          <a:p>
            <a:pPr algn="l" indent="0" marL="0">
              <a:buNone/>
            </a:pPr>
            <a:r>
              <a:rPr lang="en-US" sz="1050" b="1" spc="140" kern="0" dirty="0">
                <a:solidFill>
                  <a:srgbClr val="56BC93"/>
                </a:solidFill>
                <a:latin typeface="Calibri" pitchFamily="34" charset="0"/>
                <a:ea typeface="Calibri" pitchFamily="34" charset="-122"/>
                <a:cs typeface="Calibri" pitchFamily="34" charset="-120"/>
              </a:rPr>
              <a:t>2:55PM</a:t>
            </a:r>
            <a:endParaRPr lang="en-US" sz="1050" dirty="0"/>
          </a:p>
        </p:txBody>
      </p:sp>
      <p:sp>
        <p:nvSpPr>
          <p:cNvPr id="3" name="Text 1"/>
          <p:cNvSpPr txBox="1"/>
          <p:nvPr/>
        </p:nvSpPr>
        <p:spPr>
          <a:xfrm>
            <a:off x="566928" y="749808"/>
            <a:ext cx="11057839" cy="713232"/>
          </a:xfrm>
          <a:prstGeom prst="rect">
            <a:avLst/>
          </a:prstGeom>
          <a:noFill/>
          <a:ln/>
        </p:spPr>
        <p:txBody>
          <a:bodyPr wrap="square" lIns="0" tIns="0" rIns="0" bIns="0" rtlCol="0" anchor="t"/>
          <a:lstStyle/>
          <a:p>
            <a:pPr algn="l" indent="0" marL="0">
              <a:buNone/>
            </a:pPr>
            <a:r>
              <a:rPr lang="en-US" sz="3400" b="1" spc="-50" kern="0" dirty="0">
                <a:solidFill>
                  <a:srgbClr val="E6EEF1"/>
                </a:solidFill>
                <a:latin typeface="Calibri" pitchFamily="34" charset="0"/>
                <a:ea typeface="Calibri" pitchFamily="34" charset="-122"/>
                <a:cs typeface="Calibri" pitchFamily="34" charset="-120"/>
              </a:rPr>
              <a:t>Eleven votes. One average.</a:t>
            </a:r>
            <a:endParaRPr lang="en-US" sz="3400" dirty="0"/>
          </a:p>
        </p:txBody>
      </p:sp>
      <p:sp>
        <p:nvSpPr>
          <p:cNvPr id="4" name="Text 2"/>
          <p:cNvSpPr txBox="1"/>
          <p:nvPr/>
        </p:nvSpPr>
        <p:spPr>
          <a:xfrm>
            <a:off x="566928" y="1627632"/>
            <a:ext cx="4114800" cy="841248"/>
          </a:xfrm>
          <a:prstGeom prst="rect">
            <a:avLst/>
          </a:prstGeom>
          <a:noFill/>
          <a:ln/>
        </p:spPr>
        <p:txBody>
          <a:bodyPr wrap="square" lIns="0" tIns="0" rIns="0" bIns="0" rtlCol="0" anchor="t"/>
          <a:lstStyle/>
          <a:p>
            <a:pPr algn="l" indent="0" marL="0">
              <a:buNone/>
            </a:pPr>
            <a:r>
              <a:rPr lang="en-US" sz="5400" b="1" spc="-160" kern="0" dirty="0">
                <a:solidFill>
                  <a:srgbClr val="E6EEF1"/>
                </a:solidFill>
                <a:latin typeface="Calibri" pitchFamily="34" charset="0"/>
                <a:ea typeface="Calibri" pitchFamily="34" charset="-122"/>
                <a:cs typeface="Calibri" pitchFamily="34" charset="-120"/>
              </a:rPr>
              <a:t>0.0</a:t>
            </a:r>
            <a:endParaRPr lang="en-US" sz="5400" dirty="0"/>
          </a:p>
        </p:txBody>
      </p:sp>
      <p:sp>
        <p:nvSpPr>
          <p:cNvPr id="5" name="Text 3"/>
          <p:cNvSpPr txBox="1"/>
          <p:nvPr/>
        </p:nvSpPr>
        <p:spPr>
          <a:xfrm>
            <a:off x="566928" y="2505456"/>
            <a:ext cx="4114800" cy="292608"/>
          </a:xfrm>
          <a:prstGeom prst="rect">
            <a:avLst/>
          </a:prstGeom>
          <a:noFill/>
          <a:ln/>
        </p:spPr>
        <p:txBody>
          <a:bodyPr wrap="square" lIns="0" tIns="0" rIns="0" bIns="0" rtlCol="0" anchor="t"/>
          <a:lstStyle/>
          <a:p>
            <a:pPr algn="l" indent="0" marL="0">
              <a:buNone/>
            </a:pPr>
            <a:r>
              <a:rPr lang="en-US" sz="1400" b="1" dirty="0">
                <a:solidFill>
                  <a:srgbClr val="E6EEF1"/>
                </a:solidFill>
                <a:latin typeface="Calibri" pitchFamily="34" charset="0"/>
                <a:ea typeface="Calibri" pitchFamily="34" charset="-122"/>
                <a:cs typeface="Calibri" pitchFamily="34" charset="-120"/>
              </a:rPr>
              <a:t>mean of 11 votes</a:t>
            </a:r>
            <a:endParaRPr lang="en-US" sz="1400" dirty="0"/>
          </a:p>
        </p:txBody>
      </p:sp>
      <p:sp>
        <p:nvSpPr>
          <p:cNvPr id="6" name="Text 4"/>
          <p:cNvSpPr txBox="1"/>
          <p:nvPr/>
        </p:nvSpPr>
        <p:spPr>
          <a:xfrm>
            <a:off x="566928" y="2816352"/>
            <a:ext cx="4114800" cy="457200"/>
          </a:xfrm>
          <a:prstGeom prst="rect">
            <a:avLst/>
          </a:prstGeom>
          <a:noFill/>
          <a:ln/>
        </p:spPr>
        <p:txBody>
          <a:bodyPr wrap="square" lIns="0" tIns="0" rIns="0" bIns="0" rtlCol="0" anchor="t"/>
          <a:lstStyle/>
          <a:p>
            <a:pPr algn="l" indent="0" marL="0">
              <a:buNone/>
            </a:pPr>
            <a:r>
              <a:rPr lang="en-US" sz="1200" dirty="0">
                <a:solidFill>
                  <a:srgbClr val="93A6AF"/>
                </a:solidFill>
                <a:latin typeface="Calibri" pitchFamily="34" charset="0"/>
                <a:ea typeface="Calibri" pitchFamily="34" charset="-122"/>
                <a:cs typeface="Calibri" pitchFamily="34" charset="-120"/>
              </a:rPr>
              <a:t>which any average reports as “about right”</a:t>
            </a:r>
            <a:endParaRPr lang="en-US" sz="1200" dirty="0"/>
          </a:p>
        </p:txBody>
      </p:sp>
      <p:sp>
        <p:nvSpPr>
          <p:cNvPr id="7" name="Text 5"/>
          <p:cNvSpPr txBox="1"/>
          <p:nvPr/>
        </p:nvSpPr>
        <p:spPr>
          <a:xfrm>
            <a:off x="566928" y="3383280"/>
            <a:ext cx="4114800" cy="841248"/>
          </a:xfrm>
          <a:prstGeom prst="rect">
            <a:avLst/>
          </a:prstGeom>
          <a:noFill/>
          <a:ln/>
        </p:spPr>
        <p:txBody>
          <a:bodyPr wrap="square" lIns="0" tIns="0" rIns="0" bIns="0" rtlCol="0" anchor="t"/>
          <a:lstStyle/>
          <a:p>
            <a:pPr algn="l" indent="0" marL="0">
              <a:buNone/>
            </a:pPr>
            <a:r>
              <a:rPr lang="en-US" sz="5400" b="1" spc="-160" kern="0" dirty="0">
                <a:solidFill>
                  <a:srgbClr val="E07152"/>
                </a:solidFill>
                <a:latin typeface="Calibri" pitchFamily="34" charset="0"/>
                <a:ea typeface="Calibri" pitchFamily="34" charset="-122"/>
                <a:cs typeface="Calibri" pitchFamily="34" charset="-120"/>
              </a:rPr>
              <a:t>1 of 11</a:t>
            </a:r>
            <a:endParaRPr lang="en-US" sz="5400" dirty="0"/>
          </a:p>
        </p:txBody>
      </p:sp>
      <p:sp>
        <p:nvSpPr>
          <p:cNvPr id="8" name="Text 6"/>
          <p:cNvSpPr txBox="1"/>
          <p:nvPr/>
        </p:nvSpPr>
        <p:spPr>
          <a:xfrm>
            <a:off x="566928" y="4261104"/>
            <a:ext cx="4114800" cy="292608"/>
          </a:xfrm>
          <a:prstGeom prst="rect">
            <a:avLst/>
          </a:prstGeom>
          <a:noFill/>
          <a:ln/>
        </p:spPr>
        <p:txBody>
          <a:bodyPr wrap="square" lIns="0" tIns="0" rIns="0" bIns="0" rtlCol="0" anchor="t"/>
          <a:lstStyle/>
          <a:p>
            <a:pPr algn="l" indent="0" marL="0">
              <a:buNone/>
            </a:pPr>
            <a:r>
              <a:rPr lang="en-US" sz="1400" b="1" dirty="0">
                <a:solidFill>
                  <a:srgbClr val="E6EEF1"/>
                </a:solidFill>
                <a:latin typeface="Calibri" pitchFamily="34" charset="0"/>
                <a:ea typeface="Calibri" pitchFamily="34" charset="-122"/>
                <a:cs typeface="Calibri" pitchFamily="34" charset="-120"/>
              </a:rPr>
              <a:t>people actually comfortable</a:t>
            </a:r>
            <a:endParaRPr lang="en-US" sz="1400" dirty="0"/>
          </a:p>
        </p:txBody>
      </p:sp>
      <p:sp>
        <p:nvSpPr>
          <p:cNvPr id="9" name="Text 7"/>
          <p:cNvSpPr txBox="1"/>
          <p:nvPr/>
        </p:nvSpPr>
        <p:spPr>
          <a:xfrm>
            <a:off x="566928" y="4572000"/>
            <a:ext cx="4114800" cy="457200"/>
          </a:xfrm>
          <a:prstGeom prst="rect">
            <a:avLst/>
          </a:prstGeom>
          <a:noFill/>
          <a:ln/>
        </p:spPr>
        <p:txBody>
          <a:bodyPr wrap="square" lIns="0" tIns="0" rIns="0" bIns="0" rtlCol="0" anchor="t"/>
          <a:lstStyle/>
          <a:p>
            <a:pPr algn="l" indent="0" marL="0">
              <a:buNone/>
            </a:pPr>
            <a:r>
              <a:rPr lang="en-US" sz="1200" dirty="0">
                <a:solidFill>
                  <a:srgbClr val="93A6AF"/>
                </a:solidFill>
                <a:latin typeface="Calibri" pitchFamily="34" charset="0"/>
                <a:ea typeface="Calibri" pitchFamily="34" charset="-122"/>
                <a:cs typeface="Calibri" pitchFamily="34" charset="-120"/>
              </a:rPr>
              <a:t>the other ten are at the ends of the scale</a:t>
            </a:r>
            <a:endParaRPr lang="en-US" sz="1200" dirty="0"/>
          </a:p>
        </p:txBody>
      </p:sp>
      <p:sp>
        <p:nvSpPr>
          <p:cNvPr id="10" name="Shape 8"/>
          <p:cNvSpPr/>
          <p:nvPr/>
        </p:nvSpPr>
        <p:spPr>
          <a:xfrm>
            <a:off x="5230368" y="2084832"/>
            <a:ext cx="1242304" cy="960120"/>
          </a:xfrm>
          <a:prstGeom prst="rect">
            <a:avLst/>
          </a:prstGeom>
          <a:solidFill>
            <a:srgbClr val="5D9EE0">
              <a:alpha val="10000"/>
            </a:srgbClr>
          </a:solidFill>
          <a:ln/>
        </p:spPr>
      </p:sp>
      <p:sp>
        <p:nvSpPr>
          <p:cNvPr id="11" name="Shape 9"/>
          <p:cNvSpPr/>
          <p:nvPr/>
        </p:nvSpPr>
        <p:spPr>
          <a:xfrm>
            <a:off x="5760080" y="2784348"/>
            <a:ext cx="182880" cy="182880"/>
          </a:xfrm>
          <a:prstGeom prst="ellipse">
            <a:avLst/>
          </a:prstGeom>
          <a:solidFill>
            <a:srgbClr val="5D9EE0"/>
          </a:solidFill>
          <a:ln/>
        </p:spPr>
      </p:sp>
      <p:sp>
        <p:nvSpPr>
          <p:cNvPr id="12" name="Shape 10"/>
          <p:cNvSpPr/>
          <p:nvPr/>
        </p:nvSpPr>
        <p:spPr>
          <a:xfrm>
            <a:off x="5760080" y="2569464"/>
            <a:ext cx="182880" cy="182880"/>
          </a:xfrm>
          <a:prstGeom prst="ellipse">
            <a:avLst/>
          </a:prstGeom>
          <a:solidFill>
            <a:srgbClr val="5D9EE0"/>
          </a:solidFill>
          <a:ln/>
        </p:spPr>
      </p:sp>
      <p:sp>
        <p:nvSpPr>
          <p:cNvPr id="13" name="Shape 11"/>
          <p:cNvSpPr/>
          <p:nvPr/>
        </p:nvSpPr>
        <p:spPr>
          <a:xfrm>
            <a:off x="5760080" y="2354580"/>
            <a:ext cx="182880" cy="182880"/>
          </a:xfrm>
          <a:prstGeom prst="ellipse">
            <a:avLst/>
          </a:prstGeom>
          <a:solidFill>
            <a:srgbClr val="5D9EE0"/>
          </a:solidFill>
          <a:ln/>
        </p:spPr>
      </p:sp>
      <p:sp>
        <p:nvSpPr>
          <p:cNvPr id="14" name="Shape 12"/>
          <p:cNvSpPr/>
          <p:nvPr/>
        </p:nvSpPr>
        <p:spPr>
          <a:xfrm>
            <a:off x="6518392" y="2084832"/>
            <a:ext cx="1242304" cy="960120"/>
          </a:xfrm>
          <a:prstGeom prst="rect">
            <a:avLst/>
          </a:prstGeom>
          <a:solidFill>
            <a:srgbClr val="78BBD8">
              <a:alpha val="10000"/>
            </a:srgbClr>
          </a:solidFill>
          <a:ln/>
        </p:spPr>
      </p:sp>
      <p:sp>
        <p:nvSpPr>
          <p:cNvPr id="15" name="Shape 13"/>
          <p:cNvSpPr/>
          <p:nvPr/>
        </p:nvSpPr>
        <p:spPr>
          <a:xfrm>
            <a:off x="7048104" y="2784348"/>
            <a:ext cx="182880" cy="182880"/>
          </a:xfrm>
          <a:prstGeom prst="ellipse">
            <a:avLst/>
          </a:prstGeom>
          <a:solidFill>
            <a:srgbClr val="78BBD8"/>
          </a:solidFill>
          <a:ln/>
        </p:spPr>
      </p:sp>
      <p:sp>
        <p:nvSpPr>
          <p:cNvPr id="16" name="Shape 14"/>
          <p:cNvSpPr/>
          <p:nvPr/>
        </p:nvSpPr>
        <p:spPr>
          <a:xfrm>
            <a:off x="7048104" y="2569464"/>
            <a:ext cx="182880" cy="182880"/>
          </a:xfrm>
          <a:prstGeom prst="ellipse">
            <a:avLst/>
          </a:prstGeom>
          <a:solidFill>
            <a:srgbClr val="78BBD8"/>
          </a:solidFill>
          <a:ln/>
        </p:spPr>
      </p:sp>
      <p:sp>
        <p:nvSpPr>
          <p:cNvPr id="17" name="Shape 15"/>
          <p:cNvSpPr/>
          <p:nvPr/>
        </p:nvSpPr>
        <p:spPr>
          <a:xfrm>
            <a:off x="7806416" y="2084832"/>
            <a:ext cx="1242304" cy="960120"/>
          </a:xfrm>
          <a:prstGeom prst="rect">
            <a:avLst/>
          </a:prstGeom>
          <a:solidFill>
            <a:srgbClr val="56BC93">
              <a:alpha val="10000"/>
            </a:srgbClr>
          </a:solidFill>
          <a:ln/>
        </p:spPr>
      </p:sp>
      <p:sp>
        <p:nvSpPr>
          <p:cNvPr id="18" name="Shape 16"/>
          <p:cNvSpPr/>
          <p:nvPr/>
        </p:nvSpPr>
        <p:spPr>
          <a:xfrm>
            <a:off x="8336128" y="2784348"/>
            <a:ext cx="182880" cy="182880"/>
          </a:xfrm>
          <a:prstGeom prst="ellipse">
            <a:avLst/>
          </a:prstGeom>
          <a:solidFill>
            <a:srgbClr val="56BC93"/>
          </a:solidFill>
          <a:ln/>
        </p:spPr>
      </p:sp>
      <p:sp>
        <p:nvSpPr>
          <p:cNvPr id="19" name="Shape 17"/>
          <p:cNvSpPr/>
          <p:nvPr/>
        </p:nvSpPr>
        <p:spPr>
          <a:xfrm>
            <a:off x="9094440" y="2084832"/>
            <a:ext cx="1242304" cy="960120"/>
          </a:xfrm>
          <a:prstGeom prst="rect">
            <a:avLst/>
          </a:prstGeom>
          <a:solidFill>
            <a:srgbClr val="E8A757">
              <a:alpha val="10000"/>
            </a:srgbClr>
          </a:solidFill>
          <a:ln/>
        </p:spPr>
      </p:sp>
      <p:sp>
        <p:nvSpPr>
          <p:cNvPr id="20" name="Shape 18"/>
          <p:cNvSpPr/>
          <p:nvPr/>
        </p:nvSpPr>
        <p:spPr>
          <a:xfrm>
            <a:off x="9624151" y="2784348"/>
            <a:ext cx="182880" cy="182880"/>
          </a:xfrm>
          <a:prstGeom prst="ellipse">
            <a:avLst/>
          </a:prstGeom>
          <a:solidFill>
            <a:srgbClr val="E8A757"/>
          </a:solidFill>
          <a:ln/>
        </p:spPr>
      </p:sp>
      <p:sp>
        <p:nvSpPr>
          <p:cNvPr id="21" name="Shape 19"/>
          <p:cNvSpPr/>
          <p:nvPr/>
        </p:nvSpPr>
        <p:spPr>
          <a:xfrm>
            <a:off x="9624151" y="2569464"/>
            <a:ext cx="182880" cy="182880"/>
          </a:xfrm>
          <a:prstGeom prst="ellipse">
            <a:avLst/>
          </a:prstGeom>
          <a:solidFill>
            <a:srgbClr val="E8A757"/>
          </a:solidFill>
          <a:ln/>
        </p:spPr>
      </p:sp>
      <p:sp>
        <p:nvSpPr>
          <p:cNvPr id="22" name="Shape 20"/>
          <p:cNvSpPr/>
          <p:nvPr/>
        </p:nvSpPr>
        <p:spPr>
          <a:xfrm>
            <a:off x="10382463" y="2084832"/>
            <a:ext cx="1242304" cy="960120"/>
          </a:xfrm>
          <a:prstGeom prst="rect">
            <a:avLst/>
          </a:prstGeom>
          <a:solidFill>
            <a:srgbClr val="E07152">
              <a:alpha val="10000"/>
            </a:srgbClr>
          </a:solidFill>
          <a:ln/>
        </p:spPr>
      </p:sp>
      <p:sp>
        <p:nvSpPr>
          <p:cNvPr id="23" name="Shape 21"/>
          <p:cNvSpPr/>
          <p:nvPr/>
        </p:nvSpPr>
        <p:spPr>
          <a:xfrm>
            <a:off x="10912175" y="2784348"/>
            <a:ext cx="182880" cy="182880"/>
          </a:xfrm>
          <a:prstGeom prst="ellipse">
            <a:avLst/>
          </a:prstGeom>
          <a:solidFill>
            <a:srgbClr val="E07152"/>
          </a:solidFill>
          <a:ln/>
        </p:spPr>
      </p:sp>
      <p:sp>
        <p:nvSpPr>
          <p:cNvPr id="24" name="Shape 22"/>
          <p:cNvSpPr/>
          <p:nvPr/>
        </p:nvSpPr>
        <p:spPr>
          <a:xfrm>
            <a:off x="10912175" y="2569464"/>
            <a:ext cx="182880" cy="182880"/>
          </a:xfrm>
          <a:prstGeom prst="ellipse">
            <a:avLst/>
          </a:prstGeom>
          <a:solidFill>
            <a:srgbClr val="E07152"/>
          </a:solidFill>
          <a:ln/>
        </p:spPr>
      </p:sp>
      <p:sp>
        <p:nvSpPr>
          <p:cNvPr id="25" name="Shape 23"/>
          <p:cNvSpPr/>
          <p:nvPr/>
        </p:nvSpPr>
        <p:spPr>
          <a:xfrm>
            <a:off x="10912175" y="2354580"/>
            <a:ext cx="182880" cy="182880"/>
          </a:xfrm>
          <a:prstGeom prst="ellipse">
            <a:avLst/>
          </a:prstGeom>
          <a:solidFill>
            <a:srgbClr val="E07152"/>
          </a:solidFill>
          <a:ln/>
        </p:spPr>
      </p:sp>
      <p:sp>
        <p:nvSpPr>
          <p:cNvPr id="26" name="Shape 24"/>
          <p:cNvSpPr/>
          <p:nvPr/>
        </p:nvSpPr>
        <p:spPr>
          <a:xfrm>
            <a:off x="5230368" y="3086100"/>
            <a:ext cx="179977" cy="68580"/>
          </a:xfrm>
          <a:prstGeom prst="rect">
            <a:avLst/>
          </a:prstGeom>
          <a:solidFill>
            <a:srgbClr val="5D9EE0"/>
          </a:solidFill>
          <a:ln/>
        </p:spPr>
      </p:sp>
      <p:sp>
        <p:nvSpPr>
          <p:cNvPr id="27" name="Shape 25"/>
          <p:cNvSpPr/>
          <p:nvPr/>
        </p:nvSpPr>
        <p:spPr>
          <a:xfrm>
            <a:off x="5390228" y="3086100"/>
            <a:ext cx="179977" cy="68580"/>
          </a:xfrm>
          <a:prstGeom prst="rect">
            <a:avLst/>
          </a:prstGeom>
          <a:solidFill>
            <a:srgbClr val="60A1DF"/>
          </a:solidFill>
          <a:ln/>
        </p:spPr>
      </p:sp>
      <p:sp>
        <p:nvSpPr>
          <p:cNvPr id="28" name="Shape 26"/>
          <p:cNvSpPr/>
          <p:nvPr/>
        </p:nvSpPr>
        <p:spPr>
          <a:xfrm>
            <a:off x="5550088" y="3086100"/>
            <a:ext cx="179977" cy="68580"/>
          </a:xfrm>
          <a:prstGeom prst="rect">
            <a:avLst/>
          </a:prstGeom>
          <a:solidFill>
            <a:srgbClr val="63A4DE"/>
          </a:solidFill>
          <a:ln/>
        </p:spPr>
      </p:sp>
      <p:sp>
        <p:nvSpPr>
          <p:cNvPr id="29" name="Shape 27"/>
          <p:cNvSpPr/>
          <p:nvPr/>
        </p:nvSpPr>
        <p:spPr>
          <a:xfrm>
            <a:off x="5709948" y="3086100"/>
            <a:ext cx="179977" cy="68580"/>
          </a:xfrm>
          <a:prstGeom prst="rect">
            <a:avLst/>
          </a:prstGeom>
          <a:solidFill>
            <a:srgbClr val="65A7DE"/>
          </a:solidFill>
          <a:ln/>
        </p:spPr>
      </p:sp>
      <p:sp>
        <p:nvSpPr>
          <p:cNvPr id="30" name="Shape 28"/>
          <p:cNvSpPr/>
          <p:nvPr/>
        </p:nvSpPr>
        <p:spPr>
          <a:xfrm>
            <a:off x="5869808" y="3086100"/>
            <a:ext cx="179977" cy="68580"/>
          </a:xfrm>
          <a:prstGeom prst="rect">
            <a:avLst/>
          </a:prstGeom>
          <a:solidFill>
            <a:srgbClr val="68AADD"/>
          </a:solidFill>
          <a:ln/>
        </p:spPr>
      </p:sp>
      <p:sp>
        <p:nvSpPr>
          <p:cNvPr id="31" name="Shape 29"/>
          <p:cNvSpPr/>
          <p:nvPr/>
        </p:nvSpPr>
        <p:spPr>
          <a:xfrm>
            <a:off x="6029668" y="3086100"/>
            <a:ext cx="179977" cy="68580"/>
          </a:xfrm>
          <a:prstGeom prst="rect">
            <a:avLst/>
          </a:prstGeom>
          <a:solidFill>
            <a:srgbClr val="6BADDC"/>
          </a:solidFill>
          <a:ln/>
        </p:spPr>
      </p:sp>
      <p:sp>
        <p:nvSpPr>
          <p:cNvPr id="32" name="Shape 30"/>
          <p:cNvSpPr/>
          <p:nvPr/>
        </p:nvSpPr>
        <p:spPr>
          <a:xfrm>
            <a:off x="6189528" y="3086100"/>
            <a:ext cx="179977" cy="68580"/>
          </a:xfrm>
          <a:prstGeom prst="rect">
            <a:avLst/>
          </a:prstGeom>
          <a:solidFill>
            <a:srgbClr val="6EB0DB"/>
          </a:solidFill>
          <a:ln/>
        </p:spPr>
      </p:sp>
      <p:sp>
        <p:nvSpPr>
          <p:cNvPr id="33" name="Shape 31"/>
          <p:cNvSpPr/>
          <p:nvPr/>
        </p:nvSpPr>
        <p:spPr>
          <a:xfrm>
            <a:off x="6349388" y="3086100"/>
            <a:ext cx="179977" cy="68580"/>
          </a:xfrm>
          <a:prstGeom prst="rect">
            <a:avLst/>
          </a:prstGeom>
          <a:solidFill>
            <a:srgbClr val="70B3DA"/>
          </a:solidFill>
          <a:ln/>
        </p:spPr>
      </p:sp>
      <p:sp>
        <p:nvSpPr>
          <p:cNvPr id="34" name="Shape 32"/>
          <p:cNvSpPr/>
          <p:nvPr/>
        </p:nvSpPr>
        <p:spPr>
          <a:xfrm>
            <a:off x="6509248" y="3086100"/>
            <a:ext cx="179977" cy="68580"/>
          </a:xfrm>
          <a:prstGeom prst="rect">
            <a:avLst/>
          </a:prstGeom>
          <a:solidFill>
            <a:srgbClr val="73B6D9"/>
          </a:solidFill>
          <a:ln/>
        </p:spPr>
      </p:sp>
      <p:sp>
        <p:nvSpPr>
          <p:cNvPr id="35" name="Shape 33"/>
          <p:cNvSpPr/>
          <p:nvPr/>
        </p:nvSpPr>
        <p:spPr>
          <a:xfrm>
            <a:off x="6669108" y="3086100"/>
            <a:ext cx="179977" cy="68580"/>
          </a:xfrm>
          <a:prstGeom prst="rect">
            <a:avLst/>
          </a:prstGeom>
          <a:solidFill>
            <a:srgbClr val="76B9D9"/>
          </a:solidFill>
          <a:ln/>
        </p:spPr>
      </p:sp>
      <p:sp>
        <p:nvSpPr>
          <p:cNvPr id="36" name="Shape 34"/>
          <p:cNvSpPr/>
          <p:nvPr/>
        </p:nvSpPr>
        <p:spPr>
          <a:xfrm>
            <a:off x="6828968" y="3086100"/>
            <a:ext cx="179977" cy="68580"/>
          </a:xfrm>
          <a:prstGeom prst="rect">
            <a:avLst/>
          </a:prstGeom>
          <a:solidFill>
            <a:srgbClr val="77BBD6"/>
          </a:solidFill>
          <a:ln/>
        </p:spPr>
      </p:sp>
      <p:sp>
        <p:nvSpPr>
          <p:cNvPr id="37" name="Shape 35"/>
          <p:cNvSpPr/>
          <p:nvPr/>
        </p:nvSpPr>
        <p:spPr>
          <a:xfrm>
            <a:off x="6988828" y="3086100"/>
            <a:ext cx="179977" cy="68580"/>
          </a:xfrm>
          <a:prstGeom prst="rect">
            <a:avLst/>
          </a:prstGeom>
          <a:solidFill>
            <a:srgbClr val="74BBCF"/>
          </a:solidFill>
          <a:ln/>
        </p:spPr>
      </p:sp>
      <p:sp>
        <p:nvSpPr>
          <p:cNvPr id="38" name="Shape 36"/>
          <p:cNvSpPr/>
          <p:nvPr/>
        </p:nvSpPr>
        <p:spPr>
          <a:xfrm>
            <a:off x="7148688" y="3086100"/>
            <a:ext cx="179977" cy="68580"/>
          </a:xfrm>
          <a:prstGeom prst="rect">
            <a:avLst/>
          </a:prstGeom>
          <a:solidFill>
            <a:srgbClr val="70BBC8"/>
          </a:solidFill>
          <a:ln/>
        </p:spPr>
      </p:sp>
      <p:sp>
        <p:nvSpPr>
          <p:cNvPr id="39" name="Shape 37"/>
          <p:cNvSpPr/>
          <p:nvPr/>
        </p:nvSpPr>
        <p:spPr>
          <a:xfrm>
            <a:off x="7308548" y="3086100"/>
            <a:ext cx="179977" cy="68580"/>
          </a:xfrm>
          <a:prstGeom prst="rect">
            <a:avLst/>
          </a:prstGeom>
          <a:solidFill>
            <a:srgbClr val="6DBBC1"/>
          </a:solidFill>
          <a:ln/>
        </p:spPr>
      </p:sp>
      <p:sp>
        <p:nvSpPr>
          <p:cNvPr id="40" name="Shape 38"/>
          <p:cNvSpPr/>
          <p:nvPr/>
        </p:nvSpPr>
        <p:spPr>
          <a:xfrm>
            <a:off x="7468408" y="3086100"/>
            <a:ext cx="179977" cy="68580"/>
          </a:xfrm>
          <a:prstGeom prst="rect">
            <a:avLst/>
          </a:prstGeom>
          <a:solidFill>
            <a:srgbClr val="69BBBA"/>
          </a:solidFill>
          <a:ln/>
        </p:spPr>
      </p:sp>
      <p:sp>
        <p:nvSpPr>
          <p:cNvPr id="41" name="Shape 39"/>
          <p:cNvSpPr/>
          <p:nvPr/>
        </p:nvSpPr>
        <p:spPr>
          <a:xfrm>
            <a:off x="7628268" y="3086100"/>
            <a:ext cx="179977" cy="68580"/>
          </a:xfrm>
          <a:prstGeom prst="rect">
            <a:avLst/>
          </a:prstGeom>
          <a:solidFill>
            <a:srgbClr val="66BCB3"/>
          </a:solidFill>
          <a:ln/>
        </p:spPr>
      </p:sp>
      <p:sp>
        <p:nvSpPr>
          <p:cNvPr id="42" name="Shape 40"/>
          <p:cNvSpPr/>
          <p:nvPr/>
        </p:nvSpPr>
        <p:spPr>
          <a:xfrm>
            <a:off x="7788128" y="3086100"/>
            <a:ext cx="179977" cy="68580"/>
          </a:xfrm>
          <a:prstGeom prst="rect">
            <a:avLst/>
          </a:prstGeom>
          <a:solidFill>
            <a:srgbClr val="62BCAC"/>
          </a:solidFill>
          <a:ln/>
        </p:spPr>
      </p:sp>
      <p:sp>
        <p:nvSpPr>
          <p:cNvPr id="43" name="Shape 41"/>
          <p:cNvSpPr/>
          <p:nvPr/>
        </p:nvSpPr>
        <p:spPr>
          <a:xfrm>
            <a:off x="7947988" y="3086100"/>
            <a:ext cx="179977" cy="68580"/>
          </a:xfrm>
          <a:prstGeom prst="rect">
            <a:avLst/>
          </a:prstGeom>
          <a:solidFill>
            <a:srgbClr val="5FBCA5"/>
          </a:solidFill>
          <a:ln/>
        </p:spPr>
      </p:sp>
      <p:sp>
        <p:nvSpPr>
          <p:cNvPr id="44" name="Shape 42"/>
          <p:cNvSpPr/>
          <p:nvPr/>
        </p:nvSpPr>
        <p:spPr>
          <a:xfrm>
            <a:off x="8107848" y="3086100"/>
            <a:ext cx="179977" cy="68580"/>
          </a:xfrm>
          <a:prstGeom prst="rect">
            <a:avLst/>
          </a:prstGeom>
          <a:solidFill>
            <a:srgbClr val="5BBC9E"/>
          </a:solidFill>
          <a:ln/>
        </p:spPr>
      </p:sp>
      <p:sp>
        <p:nvSpPr>
          <p:cNvPr id="45" name="Shape 43"/>
          <p:cNvSpPr/>
          <p:nvPr/>
        </p:nvSpPr>
        <p:spPr>
          <a:xfrm>
            <a:off x="8267708" y="3086100"/>
            <a:ext cx="179977" cy="68580"/>
          </a:xfrm>
          <a:prstGeom prst="rect">
            <a:avLst/>
          </a:prstGeom>
          <a:solidFill>
            <a:srgbClr val="58BC97"/>
          </a:solidFill>
          <a:ln/>
        </p:spPr>
      </p:sp>
      <p:sp>
        <p:nvSpPr>
          <p:cNvPr id="46" name="Shape 44"/>
          <p:cNvSpPr/>
          <p:nvPr/>
        </p:nvSpPr>
        <p:spPr>
          <a:xfrm>
            <a:off x="8427568" y="3086100"/>
            <a:ext cx="179977" cy="68580"/>
          </a:xfrm>
          <a:prstGeom prst="rect">
            <a:avLst/>
          </a:prstGeom>
          <a:solidFill>
            <a:srgbClr val="5DBB90"/>
          </a:solidFill>
          <a:ln/>
        </p:spPr>
      </p:sp>
      <p:sp>
        <p:nvSpPr>
          <p:cNvPr id="47" name="Shape 45"/>
          <p:cNvSpPr/>
          <p:nvPr/>
        </p:nvSpPr>
        <p:spPr>
          <a:xfrm>
            <a:off x="8587428" y="3086100"/>
            <a:ext cx="179977" cy="68580"/>
          </a:xfrm>
          <a:prstGeom prst="rect">
            <a:avLst/>
          </a:prstGeom>
          <a:solidFill>
            <a:srgbClr val="6CB98A"/>
          </a:solidFill>
          <a:ln/>
        </p:spPr>
      </p:sp>
      <p:sp>
        <p:nvSpPr>
          <p:cNvPr id="48" name="Shape 46"/>
          <p:cNvSpPr/>
          <p:nvPr/>
        </p:nvSpPr>
        <p:spPr>
          <a:xfrm>
            <a:off x="8747288" y="3086100"/>
            <a:ext cx="179977" cy="68580"/>
          </a:xfrm>
          <a:prstGeom prst="rect">
            <a:avLst/>
          </a:prstGeom>
          <a:solidFill>
            <a:srgbClr val="7BB784"/>
          </a:solidFill>
          <a:ln/>
        </p:spPr>
      </p:sp>
      <p:sp>
        <p:nvSpPr>
          <p:cNvPr id="49" name="Shape 47"/>
          <p:cNvSpPr/>
          <p:nvPr/>
        </p:nvSpPr>
        <p:spPr>
          <a:xfrm>
            <a:off x="8907148" y="3086100"/>
            <a:ext cx="179977" cy="68580"/>
          </a:xfrm>
          <a:prstGeom prst="rect">
            <a:avLst/>
          </a:prstGeom>
          <a:solidFill>
            <a:srgbClr val="8AB47D"/>
          </a:solidFill>
          <a:ln/>
        </p:spPr>
      </p:sp>
      <p:sp>
        <p:nvSpPr>
          <p:cNvPr id="50" name="Shape 48"/>
          <p:cNvSpPr/>
          <p:nvPr/>
        </p:nvSpPr>
        <p:spPr>
          <a:xfrm>
            <a:off x="9067008" y="3086100"/>
            <a:ext cx="179977" cy="68580"/>
          </a:xfrm>
          <a:prstGeom prst="rect">
            <a:avLst/>
          </a:prstGeom>
          <a:solidFill>
            <a:srgbClr val="99B277"/>
          </a:solidFill>
          <a:ln/>
        </p:spPr>
      </p:sp>
      <p:sp>
        <p:nvSpPr>
          <p:cNvPr id="51" name="Shape 49"/>
          <p:cNvSpPr/>
          <p:nvPr/>
        </p:nvSpPr>
        <p:spPr>
          <a:xfrm>
            <a:off x="9226868" y="3086100"/>
            <a:ext cx="179977" cy="68580"/>
          </a:xfrm>
          <a:prstGeom prst="rect">
            <a:avLst/>
          </a:prstGeom>
          <a:solidFill>
            <a:srgbClr val="A8B071"/>
          </a:solidFill>
          <a:ln/>
        </p:spPr>
      </p:sp>
      <p:sp>
        <p:nvSpPr>
          <p:cNvPr id="52" name="Shape 50"/>
          <p:cNvSpPr/>
          <p:nvPr/>
        </p:nvSpPr>
        <p:spPr>
          <a:xfrm>
            <a:off x="9386727" y="3086100"/>
            <a:ext cx="179977" cy="68580"/>
          </a:xfrm>
          <a:prstGeom prst="rect">
            <a:avLst/>
          </a:prstGeom>
          <a:solidFill>
            <a:srgbClr val="B7AE6B"/>
          </a:solidFill>
          <a:ln/>
        </p:spPr>
      </p:sp>
      <p:sp>
        <p:nvSpPr>
          <p:cNvPr id="53" name="Shape 51"/>
          <p:cNvSpPr/>
          <p:nvPr/>
        </p:nvSpPr>
        <p:spPr>
          <a:xfrm>
            <a:off x="9546587" y="3086100"/>
            <a:ext cx="179977" cy="68580"/>
          </a:xfrm>
          <a:prstGeom prst="rect">
            <a:avLst/>
          </a:prstGeom>
          <a:solidFill>
            <a:srgbClr val="C6AC65"/>
          </a:solidFill>
          <a:ln/>
        </p:spPr>
      </p:sp>
      <p:sp>
        <p:nvSpPr>
          <p:cNvPr id="54" name="Shape 52"/>
          <p:cNvSpPr/>
          <p:nvPr/>
        </p:nvSpPr>
        <p:spPr>
          <a:xfrm>
            <a:off x="9706447" y="3086100"/>
            <a:ext cx="179977" cy="68580"/>
          </a:xfrm>
          <a:prstGeom prst="rect">
            <a:avLst/>
          </a:prstGeom>
          <a:solidFill>
            <a:srgbClr val="D5AA5F"/>
          </a:solidFill>
          <a:ln/>
        </p:spPr>
      </p:sp>
      <p:sp>
        <p:nvSpPr>
          <p:cNvPr id="55" name="Shape 53"/>
          <p:cNvSpPr/>
          <p:nvPr/>
        </p:nvSpPr>
        <p:spPr>
          <a:xfrm>
            <a:off x="9866307" y="3086100"/>
            <a:ext cx="179977" cy="68580"/>
          </a:xfrm>
          <a:prstGeom prst="rect">
            <a:avLst/>
          </a:prstGeom>
          <a:solidFill>
            <a:srgbClr val="E4A859"/>
          </a:solidFill>
          <a:ln/>
        </p:spPr>
      </p:sp>
      <p:sp>
        <p:nvSpPr>
          <p:cNvPr id="56" name="Shape 54"/>
          <p:cNvSpPr/>
          <p:nvPr/>
        </p:nvSpPr>
        <p:spPr>
          <a:xfrm>
            <a:off x="10026167" y="3086100"/>
            <a:ext cx="179977" cy="68580"/>
          </a:xfrm>
          <a:prstGeom prst="rect">
            <a:avLst/>
          </a:prstGeom>
          <a:solidFill>
            <a:srgbClr val="E7A357"/>
          </a:solidFill>
          <a:ln/>
        </p:spPr>
      </p:sp>
      <p:sp>
        <p:nvSpPr>
          <p:cNvPr id="57" name="Shape 55"/>
          <p:cNvSpPr/>
          <p:nvPr/>
        </p:nvSpPr>
        <p:spPr>
          <a:xfrm>
            <a:off x="10186027" y="3086100"/>
            <a:ext cx="179977" cy="68580"/>
          </a:xfrm>
          <a:prstGeom prst="rect">
            <a:avLst/>
          </a:prstGeom>
          <a:solidFill>
            <a:srgbClr val="E79D56"/>
          </a:solidFill>
          <a:ln/>
        </p:spPr>
      </p:sp>
      <p:sp>
        <p:nvSpPr>
          <p:cNvPr id="58" name="Shape 56"/>
          <p:cNvSpPr/>
          <p:nvPr/>
        </p:nvSpPr>
        <p:spPr>
          <a:xfrm>
            <a:off x="10345887" y="3086100"/>
            <a:ext cx="179977" cy="68580"/>
          </a:xfrm>
          <a:prstGeom prst="rect">
            <a:avLst/>
          </a:prstGeom>
          <a:solidFill>
            <a:srgbClr val="E69856"/>
          </a:solidFill>
          <a:ln/>
        </p:spPr>
      </p:sp>
      <p:sp>
        <p:nvSpPr>
          <p:cNvPr id="59" name="Shape 57"/>
          <p:cNvSpPr/>
          <p:nvPr/>
        </p:nvSpPr>
        <p:spPr>
          <a:xfrm>
            <a:off x="10505747" y="3086100"/>
            <a:ext cx="179977" cy="68580"/>
          </a:xfrm>
          <a:prstGeom prst="rect">
            <a:avLst/>
          </a:prstGeom>
          <a:solidFill>
            <a:srgbClr val="E59255"/>
          </a:solidFill>
          <a:ln/>
        </p:spPr>
      </p:sp>
      <p:sp>
        <p:nvSpPr>
          <p:cNvPr id="60" name="Shape 58"/>
          <p:cNvSpPr/>
          <p:nvPr/>
        </p:nvSpPr>
        <p:spPr>
          <a:xfrm>
            <a:off x="10665607" y="3086100"/>
            <a:ext cx="179977" cy="68580"/>
          </a:xfrm>
          <a:prstGeom prst="rect">
            <a:avLst/>
          </a:prstGeom>
          <a:solidFill>
            <a:srgbClr val="E48D55"/>
          </a:solidFill>
          <a:ln/>
        </p:spPr>
      </p:sp>
      <p:sp>
        <p:nvSpPr>
          <p:cNvPr id="61" name="Shape 59"/>
          <p:cNvSpPr/>
          <p:nvPr/>
        </p:nvSpPr>
        <p:spPr>
          <a:xfrm>
            <a:off x="10825467" y="3086100"/>
            <a:ext cx="179977" cy="68580"/>
          </a:xfrm>
          <a:prstGeom prst="rect">
            <a:avLst/>
          </a:prstGeom>
          <a:solidFill>
            <a:srgbClr val="E38754"/>
          </a:solidFill>
          <a:ln/>
        </p:spPr>
      </p:sp>
      <p:sp>
        <p:nvSpPr>
          <p:cNvPr id="62" name="Shape 60"/>
          <p:cNvSpPr/>
          <p:nvPr/>
        </p:nvSpPr>
        <p:spPr>
          <a:xfrm>
            <a:off x="10985327" y="3086100"/>
            <a:ext cx="179977" cy="68580"/>
          </a:xfrm>
          <a:prstGeom prst="rect">
            <a:avLst/>
          </a:prstGeom>
          <a:solidFill>
            <a:srgbClr val="E28254"/>
          </a:solidFill>
          <a:ln/>
        </p:spPr>
      </p:sp>
      <p:sp>
        <p:nvSpPr>
          <p:cNvPr id="63" name="Shape 61"/>
          <p:cNvSpPr/>
          <p:nvPr/>
        </p:nvSpPr>
        <p:spPr>
          <a:xfrm>
            <a:off x="11145187" y="3086100"/>
            <a:ext cx="179977" cy="68580"/>
          </a:xfrm>
          <a:prstGeom prst="rect">
            <a:avLst/>
          </a:prstGeom>
          <a:solidFill>
            <a:srgbClr val="E27C53"/>
          </a:solidFill>
          <a:ln/>
        </p:spPr>
      </p:sp>
      <p:sp>
        <p:nvSpPr>
          <p:cNvPr id="64" name="Shape 62"/>
          <p:cNvSpPr/>
          <p:nvPr/>
        </p:nvSpPr>
        <p:spPr>
          <a:xfrm>
            <a:off x="11305047" y="3086100"/>
            <a:ext cx="179977" cy="68580"/>
          </a:xfrm>
          <a:prstGeom prst="rect">
            <a:avLst/>
          </a:prstGeom>
          <a:solidFill>
            <a:srgbClr val="E17753"/>
          </a:solidFill>
          <a:ln/>
        </p:spPr>
      </p:sp>
      <p:sp>
        <p:nvSpPr>
          <p:cNvPr id="65" name="Shape 63"/>
          <p:cNvSpPr/>
          <p:nvPr/>
        </p:nvSpPr>
        <p:spPr>
          <a:xfrm>
            <a:off x="11464907" y="3086100"/>
            <a:ext cx="159860" cy="68580"/>
          </a:xfrm>
          <a:prstGeom prst="rect">
            <a:avLst/>
          </a:prstGeom>
          <a:solidFill>
            <a:srgbClr val="E07152"/>
          </a:solidFill>
          <a:ln/>
        </p:spPr>
      </p:sp>
      <p:sp>
        <p:nvSpPr>
          <p:cNvPr id="66" name="Shape 64"/>
          <p:cNvSpPr/>
          <p:nvPr/>
        </p:nvSpPr>
        <p:spPr>
          <a:xfrm>
            <a:off x="8427568" y="3154680"/>
            <a:ext cx="0" cy="155448"/>
          </a:xfrm>
          <a:prstGeom prst="line">
            <a:avLst/>
          </a:prstGeom>
          <a:noFill/>
          <a:ln w="28575">
            <a:solidFill>
              <a:srgbClr val="E6EEF1"/>
            </a:solidFill>
            <a:prstDash val="solid"/>
          </a:ln>
        </p:spPr>
      </p:sp>
      <p:sp>
        <p:nvSpPr>
          <p:cNvPr id="67" name="Text 65"/>
          <p:cNvSpPr txBox="1"/>
          <p:nvPr/>
        </p:nvSpPr>
        <p:spPr>
          <a:xfrm>
            <a:off x="5230368" y="3387852"/>
            <a:ext cx="1242304" cy="201168"/>
          </a:xfrm>
          <a:prstGeom prst="rect">
            <a:avLst/>
          </a:prstGeom>
          <a:noFill/>
          <a:ln/>
        </p:spPr>
        <p:txBody>
          <a:bodyPr wrap="square" lIns="0" tIns="0" rIns="0" bIns="0" rtlCol="0" anchor="t"/>
          <a:lstStyle/>
          <a:p>
            <a:pPr algn="ctr" indent="0" marL="0">
              <a:buNone/>
            </a:pPr>
            <a:r>
              <a:rPr lang="en-US" sz="950" dirty="0">
                <a:solidFill>
                  <a:srgbClr val="93A6AF"/>
                </a:solidFill>
                <a:latin typeface="Calibri" pitchFamily="34" charset="0"/>
                <a:ea typeface="Calibri" pitchFamily="34" charset="-122"/>
                <a:cs typeface="Calibri" pitchFamily="34" charset="-120"/>
              </a:rPr>
              <a:t>Freezing</a:t>
            </a:r>
            <a:endParaRPr lang="en-US" sz="950" dirty="0"/>
          </a:p>
        </p:txBody>
      </p:sp>
      <p:sp>
        <p:nvSpPr>
          <p:cNvPr id="68" name="Text 66"/>
          <p:cNvSpPr txBox="1"/>
          <p:nvPr/>
        </p:nvSpPr>
        <p:spPr>
          <a:xfrm>
            <a:off x="6518392" y="3387852"/>
            <a:ext cx="1242304" cy="201168"/>
          </a:xfrm>
          <a:prstGeom prst="rect">
            <a:avLst/>
          </a:prstGeom>
          <a:noFill/>
          <a:ln/>
        </p:spPr>
        <p:txBody>
          <a:bodyPr wrap="square" lIns="0" tIns="0" rIns="0" bIns="0" rtlCol="0" anchor="t"/>
          <a:lstStyle/>
          <a:p>
            <a:pPr algn="ctr" indent="0" marL="0">
              <a:buNone/>
            </a:pPr>
            <a:r>
              <a:rPr lang="en-US" sz="950" dirty="0">
                <a:solidFill>
                  <a:srgbClr val="93A6AF"/>
                </a:solidFill>
                <a:latin typeface="Calibri" pitchFamily="34" charset="0"/>
                <a:ea typeface="Calibri" pitchFamily="34" charset="-122"/>
                <a:cs typeface="Calibri" pitchFamily="34" charset="-120"/>
              </a:rPr>
              <a:t>Chilly</a:t>
            </a:r>
            <a:endParaRPr lang="en-US" sz="950" dirty="0"/>
          </a:p>
        </p:txBody>
      </p:sp>
      <p:sp>
        <p:nvSpPr>
          <p:cNvPr id="69" name="Text 67"/>
          <p:cNvSpPr txBox="1"/>
          <p:nvPr/>
        </p:nvSpPr>
        <p:spPr>
          <a:xfrm>
            <a:off x="7806416" y="3387852"/>
            <a:ext cx="1242304" cy="201168"/>
          </a:xfrm>
          <a:prstGeom prst="rect">
            <a:avLst/>
          </a:prstGeom>
          <a:noFill/>
          <a:ln/>
        </p:spPr>
        <p:txBody>
          <a:bodyPr wrap="square" lIns="0" tIns="0" rIns="0" bIns="0" rtlCol="0" anchor="t"/>
          <a:lstStyle/>
          <a:p>
            <a:pPr algn="ctr" indent="0" marL="0">
              <a:buNone/>
            </a:pPr>
            <a:r>
              <a:rPr lang="en-US" sz="950" dirty="0">
                <a:solidFill>
                  <a:srgbClr val="93A6AF"/>
                </a:solidFill>
                <a:latin typeface="Calibri" pitchFamily="34" charset="0"/>
                <a:ea typeface="Calibri" pitchFamily="34" charset="-122"/>
                <a:cs typeface="Calibri" pitchFamily="34" charset="-120"/>
              </a:rPr>
              <a:t>Just nice</a:t>
            </a:r>
            <a:endParaRPr lang="en-US" sz="950" dirty="0"/>
          </a:p>
        </p:txBody>
      </p:sp>
      <p:sp>
        <p:nvSpPr>
          <p:cNvPr id="70" name="Text 68"/>
          <p:cNvSpPr txBox="1"/>
          <p:nvPr/>
        </p:nvSpPr>
        <p:spPr>
          <a:xfrm>
            <a:off x="9094440" y="3387852"/>
            <a:ext cx="1242304" cy="201168"/>
          </a:xfrm>
          <a:prstGeom prst="rect">
            <a:avLst/>
          </a:prstGeom>
          <a:noFill/>
          <a:ln/>
        </p:spPr>
        <p:txBody>
          <a:bodyPr wrap="square" lIns="0" tIns="0" rIns="0" bIns="0" rtlCol="0" anchor="t"/>
          <a:lstStyle/>
          <a:p>
            <a:pPr algn="ctr" indent="0" marL="0">
              <a:buNone/>
            </a:pPr>
            <a:r>
              <a:rPr lang="en-US" sz="950" dirty="0">
                <a:solidFill>
                  <a:srgbClr val="93A6AF"/>
                </a:solidFill>
                <a:latin typeface="Calibri" pitchFamily="34" charset="0"/>
                <a:ea typeface="Calibri" pitchFamily="34" charset="-122"/>
                <a:cs typeface="Calibri" pitchFamily="34" charset="-120"/>
              </a:rPr>
              <a:t>Warm</a:t>
            </a:r>
            <a:endParaRPr lang="en-US" sz="950" dirty="0"/>
          </a:p>
        </p:txBody>
      </p:sp>
      <p:sp>
        <p:nvSpPr>
          <p:cNvPr id="71" name="Text 69"/>
          <p:cNvSpPr txBox="1"/>
          <p:nvPr/>
        </p:nvSpPr>
        <p:spPr>
          <a:xfrm>
            <a:off x="10382463" y="3387852"/>
            <a:ext cx="1242304" cy="201168"/>
          </a:xfrm>
          <a:prstGeom prst="rect">
            <a:avLst/>
          </a:prstGeom>
          <a:noFill/>
          <a:ln/>
        </p:spPr>
        <p:txBody>
          <a:bodyPr wrap="square" lIns="0" tIns="0" rIns="0" bIns="0" rtlCol="0" anchor="t"/>
          <a:lstStyle/>
          <a:p>
            <a:pPr algn="ctr" indent="0" marL="0">
              <a:buNone/>
            </a:pPr>
            <a:r>
              <a:rPr lang="en-US" sz="950" dirty="0">
                <a:solidFill>
                  <a:srgbClr val="93A6AF"/>
                </a:solidFill>
                <a:latin typeface="Calibri" pitchFamily="34" charset="0"/>
                <a:ea typeface="Calibri" pitchFamily="34" charset="-122"/>
                <a:cs typeface="Calibri" pitchFamily="34" charset="-120"/>
              </a:rPr>
              <a:t>Roasting</a:t>
            </a:r>
            <a:endParaRPr lang="en-US" sz="950" dirty="0"/>
          </a:p>
        </p:txBody>
      </p:sp>
      <p:sp>
        <p:nvSpPr>
          <p:cNvPr id="72" name="Text 70"/>
          <p:cNvSpPr txBox="1"/>
          <p:nvPr/>
        </p:nvSpPr>
        <p:spPr>
          <a:xfrm>
            <a:off x="5230368" y="3899916"/>
            <a:ext cx="6394399" cy="457200"/>
          </a:xfrm>
          <a:prstGeom prst="rect">
            <a:avLst/>
          </a:prstGeom>
          <a:noFill/>
          <a:ln/>
        </p:spPr>
        <p:txBody>
          <a:bodyPr wrap="square" lIns="0" tIns="0" rIns="0" bIns="0" rtlCol="0" anchor="t"/>
          <a:lstStyle/>
          <a:p>
            <a:pPr algn="l" indent="0" marL="0">
              <a:buNone/>
            </a:pPr>
            <a:r>
              <a:rPr lang="en-US" sz="2600" b="1" spc="-40" kern="0" dirty="0">
                <a:solidFill>
                  <a:srgbClr val="56BC93"/>
                </a:solidFill>
                <a:latin typeface="Calibri" pitchFamily="34" charset="0"/>
                <a:ea typeface="Calibri" pitchFamily="34" charset="-122"/>
                <a:cs typeface="Calibri" pitchFamily="34" charset="-120"/>
              </a:rPr>
              <a:t>About right</a:t>
            </a:r>
            <a:endParaRPr lang="en-US" sz="2600" dirty="0"/>
          </a:p>
        </p:txBody>
      </p:sp>
      <p:sp>
        <p:nvSpPr>
          <p:cNvPr id="73" name="Text 71"/>
          <p:cNvSpPr txBox="1"/>
          <p:nvPr/>
        </p:nvSpPr>
        <p:spPr>
          <a:xfrm>
            <a:off x="5230368" y="4430268"/>
            <a:ext cx="6394399" cy="365760"/>
          </a:xfrm>
          <a:prstGeom prst="rect">
            <a:avLst/>
          </a:prstGeom>
          <a:noFill/>
          <a:ln/>
        </p:spPr>
        <p:txBody>
          <a:bodyPr wrap="square" lIns="0" tIns="0" rIns="0" bIns="0" rtlCol="0" anchor="t"/>
          <a:lstStyle/>
          <a:p>
            <a:pPr algn="l" indent="0" marL="0">
              <a:buNone/>
            </a:pPr>
            <a:r>
              <a:rPr lang="en-US" sz="1200" dirty="0">
                <a:solidFill>
                  <a:srgbClr val="93A6AF"/>
                </a:solidFill>
                <a:latin typeface="Calibri" pitchFamily="34" charset="0"/>
                <a:ea typeface="Calibri" pitchFamily="34" charset="-122"/>
                <a:cs typeface="Calibri" pitchFamily="34" charset="-120"/>
              </a:rPr>
              <a:t>what an average concludes — and what this board refuses to print</a:t>
            </a:r>
            <a:endParaRPr lang="en-US" sz="1200" dirty="0"/>
          </a:p>
        </p:txBody>
      </p:sp>
      <p:sp>
        <p:nvSpPr>
          <p:cNvPr id="74" name="Text 72"/>
          <p:cNvSpPr txBox="1"/>
          <p:nvPr/>
        </p:nvSpPr>
        <p:spPr>
          <a:xfrm>
            <a:off x="566928" y="5541264"/>
            <a:ext cx="11057839" cy="566928"/>
          </a:xfrm>
          <a:prstGeom prst="rect">
            <a:avLst/>
          </a:prstGeom>
          <a:noFill/>
          <a:ln/>
        </p:spPr>
        <p:txBody>
          <a:bodyPr wrap="square" lIns="0" tIns="0" rIns="0" bIns="0" rtlCol="0" anchor="t"/>
          <a:lstStyle/>
          <a:p>
            <a:pPr algn="l" indent="0" marL="0">
              <a:buNone/>
            </a:pPr>
            <a:r>
              <a:rPr lang="en-US" sz="1500" dirty="0">
                <a:solidFill>
                  <a:srgbClr val="78BBD8"/>
                </a:solidFill>
                <a:latin typeface="Calibri" pitchFamily="34" charset="0"/>
                <a:ea typeface="Calibri" pitchFamily="34" charset="-122"/>
                <a:cs typeface="Calibri" pitchFamily="34" charset="-120"/>
              </a:rPr>
              <a:t>Three freezing, three roasting, one comfortable. Every survey, sensor and thermostat in the building calls this floor fine.</a:t>
            </a:r>
            <a:endParaRPr lang="en-US" sz="1500" dirty="0"/>
          </a:p>
        </p:txBody>
      </p:sp>
      <p:sp>
        <p:nvSpPr>
          <p:cNvPr id="75" name="Text 73"/>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93A6AF"/>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7EDF0"/>
        </a:solidFill>
      </p:bgPr>
    </p:bg>
    <p:spTree>
      <p:nvGrpSpPr>
        <p:cNvPr id="1" name=""/>
        <p:cNvGrpSpPr/>
        <p:nvPr/>
      </p:nvGrpSpPr>
      <p:grpSpPr>
        <a:xfrm>
          <a:off x="0" y="0"/>
          <a:ext cx="0" cy="0"/>
          <a:chOff x="0" y="0"/>
          <a:chExt cx="0" cy="0"/>
        </a:xfrm>
      </p:grpSpPr>
      <p:sp>
        <p:nvSpPr>
          <p:cNvPr id="2" name="Text 0"/>
          <p:cNvSpPr txBox="1"/>
          <p:nvPr/>
        </p:nvSpPr>
        <p:spPr>
          <a:xfrm>
            <a:off x="566928" y="475488"/>
            <a:ext cx="11057839" cy="237744"/>
          </a:xfrm>
          <a:prstGeom prst="rect">
            <a:avLst/>
          </a:prstGeom>
          <a:noFill/>
          <a:ln/>
        </p:spPr>
        <p:txBody>
          <a:bodyPr wrap="square" lIns="0" tIns="0" rIns="0" bIns="0" rtlCol="0" anchor="t"/>
          <a:lstStyle/>
          <a:p>
            <a:pPr algn="l" indent="0" marL="0">
              <a:buNone/>
            </a:pPr>
            <a:r>
              <a:rPr lang="en-US" sz="1050" b="1" spc="140" kern="0" dirty="0">
                <a:solidFill>
                  <a:srgbClr val="3B9B78"/>
                </a:solidFill>
                <a:latin typeface="Calibri" pitchFamily="34" charset="0"/>
                <a:ea typeface="Calibri" pitchFamily="34" charset="-122"/>
                <a:cs typeface="Calibri" pitchFamily="34" charset="-120"/>
              </a:rPr>
              <a:t>2:55PM — THE PART WE ARE PROUDEST OF</a:t>
            </a:r>
            <a:endParaRPr lang="en-US" sz="1050" dirty="0"/>
          </a:p>
        </p:txBody>
      </p:sp>
      <p:sp>
        <p:nvSpPr>
          <p:cNvPr id="3" name="Text 1"/>
          <p:cNvSpPr txBox="1"/>
          <p:nvPr/>
        </p:nvSpPr>
        <p:spPr>
          <a:xfrm>
            <a:off x="566928" y="749808"/>
            <a:ext cx="11057839" cy="713232"/>
          </a:xfrm>
          <a:prstGeom prst="rect">
            <a:avLst/>
          </a:prstGeom>
          <a:noFill/>
          <a:ln/>
        </p:spPr>
        <p:txBody>
          <a:bodyPr wrap="square" lIns="0" tIns="0" rIns="0" bIns="0" rtlCol="0" anchor="t"/>
          <a:lstStyle/>
          <a:p>
            <a:pPr algn="l" indent="0" marL="0">
              <a:buNone/>
            </a:pPr>
            <a:r>
              <a:rPr lang="en-US" sz="3400" b="1" spc="-50" kern="0" dirty="0">
                <a:solidFill>
                  <a:srgbClr val="14242C"/>
                </a:solidFill>
                <a:latin typeface="Calibri" pitchFamily="34" charset="0"/>
                <a:ea typeface="Calibri" pitchFamily="34" charset="-122"/>
                <a:cs typeface="Calibri" pitchFamily="34" charset="-120"/>
              </a:rPr>
              <a:t>The board refuses to say that</a:t>
            </a:r>
            <a:endParaRPr lang="en-US" sz="3400" dirty="0"/>
          </a:p>
        </p:txBody>
      </p:sp>
      <p:sp>
        <p:nvSpPr>
          <p:cNvPr id="4" name="Shape 2"/>
          <p:cNvSpPr/>
          <p:nvPr/>
        </p:nvSpPr>
        <p:spPr>
          <a:xfrm>
            <a:off x="566928" y="1664208"/>
            <a:ext cx="5440680" cy="2724912"/>
          </a:xfrm>
          <a:prstGeom prst="roundRect">
            <a:avLst>
              <a:gd name="adj" fmla="val 2013"/>
            </a:avLst>
          </a:prstGeom>
          <a:solidFill>
            <a:srgbClr val="3B9B78">
              <a:alpha val="8000"/>
            </a:srgbClr>
          </a:solidFill>
          <a:ln w="22225">
            <a:solidFill>
              <a:srgbClr val="3B9B78"/>
            </a:solidFill>
            <a:prstDash val="solid"/>
          </a:ln>
          <a:effectLst>
            <a:outerShdw sx="100000" sy="100000" kx="0" ky="0" algn="bl" rotWithShape="0" blurRad="127000" dist="38100" dir="5400000">
              <a:srgbClr val="14242C">
                <a:alpha val="12000"/>
              </a:srgbClr>
            </a:outerShdw>
          </a:effectLst>
        </p:spPr>
      </p:sp>
      <p:sp>
        <p:nvSpPr>
          <p:cNvPr id="5" name="Text 3"/>
          <p:cNvSpPr txBox="1"/>
          <p:nvPr/>
        </p:nvSpPr>
        <p:spPr>
          <a:xfrm>
            <a:off x="877824" y="1901952"/>
            <a:ext cx="4818888" cy="274320"/>
          </a:xfrm>
          <a:prstGeom prst="rect">
            <a:avLst/>
          </a:prstGeom>
          <a:noFill/>
          <a:ln/>
        </p:spPr>
        <p:txBody>
          <a:bodyPr wrap="square" lIns="0" tIns="0" rIns="0" bIns="0" rtlCol="0" anchor="t"/>
          <a:lstStyle/>
          <a:p>
            <a:pPr algn="l" indent="0" marL="0">
              <a:buNone/>
            </a:pPr>
            <a:r>
              <a:rPr lang="en-US" sz="1050" b="1" spc="140" kern="0" dirty="0">
                <a:solidFill>
                  <a:srgbClr val="3B9B78"/>
                </a:solidFill>
                <a:latin typeface="Calibri" pitchFamily="34" charset="0"/>
                <a:ea typeface="Calibri" pitchFamily="34" charset="-122"/>
                <a:cs typeface="Calibri" pitchFamily="34" charset="-120"/>
              </a:rPr>
              <a:t>WHEN ALL THREE ARE TRUE</a:t>
            </a:r>
            <a:endParaRPr lang="en-US" sz="1050" dirty="0"/>
          </a:p>
        </p:txBody>
      </p:sp>
      <p:sp>
        <p:nvSpPr>
          <p:cNvPr id="6" name="Text 4"/>
          <p:cNvSpPr txBox="1"/>
          <p:nvPr/>
        </p:nvSpPr>
        <p:spPr>
          <a:xfrm>
            <a:off x="877824" y="2267712"/>
            <a:ext cx="4818888" cy="274320"/>
          </a:xfrm>
          <a:prstGeom prst="rect">
            <a:avLst/>
          </a:prstGeom>
          <a:noFill/>
          <a:ln/>
        </p:spPr>
        <p:txBody>
          <a:bodyPr wrap="square" lIns="0" tIns="0" rIns="0" bIns="0" rtlCol="0" anchor="t"/>
          <a:lstStyle/>
          <a:p>
            <a:pPr algn="l" indent="0" marL="0">
              <a:buNone/>
            </a:pPr>
            <a:r>
              <a:rPr lang="en-US" sz="1550" b="1" spc="-20" kern="0" dirty="0">
                <a:solidFill>
                  <a:srgbClr val="14242C"/>
                </a:solidFill>
                <a:latin typeface="Calibri" pitchFamily="34" charset="0"/>
                <a:ea typeface="Calibri" pitchFamily="34" charset="-122"/>
                <a:cs typeface="Calibri" pitchFamily="34" charset="-120"/>
              </a:rPr>
              <a:t>At least 4 votes</a:t>
            </a:r>
            <a:endParaRPr lang="en-US" sz="1550" dirty="0"/>
          </a:p>
        </p:txBody>
      </p:sp>
      <p:sp>
        <p:nvSpPr>
          <p:cNvPr id="7" name="Text 5"/>
          <p:cNvSpPr txBox="1"/>
          <p:nvPr/>
        </p:nvSpPr>
        <p:spPr>
          <a:xfrm>
            <a:off x="877824" y="2560320"/>
            <a:ext cx="4818888" cy="310896"/>
          </a:xfrm>
          <a:prstGeom prst="rect">
            <a:avLst/>
          </a:prstGeom>
          <a:noFill/>
          <a:ln/>
        </p:spPr>
        <p:txBody>
          <a:bodyPr wrap="square" lIns="0" tIns="0" rIns="0" bIns="0" rtlCol="0" anchor="t"/>
          <a:lstStyle/>
          <a:p>
            <a:pPr algn="l" indent="0" marL="0">
              <a:buNone/>
            </a:pPr>
            <a:r>
              <a:rPr lang="en-US" sz="1250" dirty="0">
                <a:solidFill>
                  <a:srgbClr val="5F737D"/>
                </a:solidFill>
                <a:latin typeface="Calibri" pitchFamily="34" charset="0"/>
                <a:ea typeface="Calibri" pitchFamily="34" charset="-122"/>
                <a:cs typeface="Calibri" pitchFamily="34" charset="-120"/>
              </a:rPr>
              <a:t>below that, disagreement is noise rather than signal</a:t>
            </a:r>
            <a:endParaRPr lang="en-US" sz="1250" dirty="0"/>
          </a:p>
        </p:txBody>
      </p:sp>
      <p:sp>
        <p:nvSpPr>
          <p:cNvPr id="8" name="Text 6"/>
          <p:cNvSpPr txBox="1"/>
          <p:nvPr/>
        </p:nvSpPr>
        <p:spPr>
          <a:xfrm>
            <a:off x="877824" y="2962656"/>
            <a:ext cx="4818888" cy="274320"/>
          </a:xfrm>
          <a:prstGeom prst="rect">
            <a:avLst/>
          </a:prstGeom>
          <a:noFill/>
          <a:ln/>
        </p:spPr>
        <p:txBody>
          <a:bodyPr wrap="square" lIns="0" tIns="0" rIns="0" bIns="0" rtlCol="0" anchor="t"/>
          <a:lstStyle/>
          <a:p>
            <a:pPr algn="l" indent="0" marL="0">
              <a:buNone/>
            </a:pPr>
            <a:r>
              <a:rPr lang="en-US" sz="1550" b="1" spc="-20" kern="0" dirty="0">
                <a:solidFill>
                  <a:srgbClr val="14242C"/>
                </a:solidFill>
                <a:latin typeface="Calibri" pitchFamily="34" charset="0"/>
                <a:ea typeface="Calibri" pitchFamily="34" charset="-122"/>
                <a:cs typeface="Calibri" pitchFamily="34" charset="-120"/>
              </a:rPr>
              <a:t>At least a quarter on each side</a:t>
            </a:r>
            <a:endParaRPr lang="en-US" sz="1550" dirty="0"/>
          </a:p>
        </p:txBody>
      </p:sp>
      <p:sp>
        <p:nvSpPr>
          <p:cNvPr id="9" name="Text 7"/>
          <p:cNvSpPr txBox="1"/>
          <p:nvPr/>
        </p:nvSpPr>
        <p:spPr>
          <a:xfrm>
            <a:off x="877824" y="3255264"/>
            <a:ext cx="4818888" cy="310896"/>
          </a:xfrm>
          <a:prstGeom prst="rect">
            <a:avLst/>
          </a:prstGeom>
          <a:noFill/>
          <a:ln/>
        </p:spPr>
        <p:txBody>
          <a:bodyPr wrap="square" lIns="0" tIns="0" rIns="0" bIns="0" rtlCol="0" anchor="t"/>
          <a:lstStyle/>
          <a:p>
            <a:pPr algn="l" indent="0" marL="0">
              <a:buNone/>
            </a:pPr>
            <a:r>
              <a:rPr lang="en-US" sz="1250" dirty="0">
                <a:solidFill>
                  <a:srgbClr val="5F737D"/>
                </a:solidFill>
                <a:latin typeface="Calibri" pitchFamily="34" charset="0"/>
                <a:ea typeface="Calibri" pitchFamily="34" charset="-122"/>
                <a:cs typeface="Calibri" pitchFamily="34" charset="-120"/>
              </a:rPr>
              <a:t>one outlier in a cardigan is not a constituency</a:t>
            </a:r>
            <a:endParaRPr lang="en-US" sz="1250" dirty="0"/>
          </a:p>
        </p:txBody>
      </p:sp>
      <p:sp>
        <p:nvSpPr>
          <p:cNvPr id="10" name="Text 8"/>
          <p:cNvSpPr txBox="1"/>
          <p:nvPr/>
        </p:nvSpPr>
        <p:spPr>
          <a:xfrm>
            <a:off x="877824" y="3657600"/>
            <a:ext cx="4818888" cy="274320"/>
          </a:xfrm>
          <a:prstGeom prst="rect">
            <a:avLst/>
          </a:prstGeom>
          <a:noFill/>
          <a:ln/>
        </p:spPr>
        <p:txBody>
          <a:bodyPr wrap="square" lIns="0" tIns="0" rIns="0" bIns="0" rtlCol="0" anchor="t"/>
          <a:lstStyle/>
          <a:p>
            <a:pPr algn="l" indent="0" marL="0">
              <a:buNone/>
            </a:pPr>
            <a:r>
              <a:rPr lang="en-US" sz="1550" b="1" spc="-20" kern="0" dirty="0">
                <a:solidFill>
                  <a:srgbClr val="14242C"/>
                </a:solidFill>
                <a:latin typeface="Calibri" pitchFamily="34" charset="0"/>
                <a:ea typeface="Calibri" pitchFamily="34" charset="-122"/>
                <a:cs typeface="Calibri" pitchFamily="34" charset="-120"/>
              </a:rPr>
              <a:t>At least 60% uncomfortable</a:t>
            </a:r>
            <a:endParaRPr lang="en-US" sz="1550" dirty="0"/>
          </a:p>
        </p:txBody>
      </p:sp>
      <p:sp>
        <p:nvSpPr>
          <p:cNvPr id="11" name="Text 9"/>
          <p:cNvSpPr txBox="1"/>
          <p:nvPr/>
        </p:nvSpPr>
        <p:spPr>
          <a:xfrm>
            <a:off x="877824" y="3950208"/>
            <a:ext cx="4818888" cy="310896"/>
          </a:xfrm>
          <a:prstGeom prst="rect">
            <a:avLst/>
          </a:prstGeom>
          <a:noFill/>
          <a:ln/>
        </p:spPr>
        <p:txBody>
          <a:bodyPr wrap="square" lIns="0" tIns="0" rIns="0" bIns="0" rtlCol="0" anchor="t"/>
          <a:lstStyle/>
          <a:p>
            <a:pPr algn="l" indent="0" marL="0">
              <a:buNone/>
            </a:pPr>
            <a:r>
              <a:rPr lang="en-US" sz="1250" dirty="0">
                <a:solidFill>
                  <a:srgbClr val="5F737D"/>
                </a:solidFill>
                <a:latin typeface="Calibri" pitchFamily="34" charset="0"/>
                <a:ea typeface="Calibri" pitchFamily="34" charset="-122"/>
                <a:cs typeface="Calibri" pitchFamily="34" charset="-120"/>
              </a:rPr>
              <a:t>separates a polarised room from a merely mixed one</a:t>
            </a:r>
            <a:endParaRPr lang="en-US" sz="1250" dirty="0"/>
          </a:p>
        </p:txBody>
      </p:sp>
      <p:sp>
        <p:nvSpPr>
          <p:cNvPr id="12" name="Text 10"/>
          <p:cNvSpPr txBox="1"/>
          <p:nvPr/>
        </p:nvSpPr>
        <p:spPr>
          <a:xfrm>
            <a:off x="566928" y="4517136"/>
            <a:ext cx="5440680" cy="457200"/>
          </a:xfrm>
          <a:prstGeom prst="rect">
            <a:avLst/>
          </a:prstGeom>
          <a:noFill/>
          <a:ln/>
        </p:spPr>
        <p:txBody>
          <a:bodyPr wrap="square" lIns="0" tIns="0" rIns="0" bIns="0" rtlCol="0" anchor="t"/>
          <a:lstStyle/>
          <a:p>
            <a:pPr algn="l" indent="0" marL="0">
              <a:buNone/>
            </a:pPr>
            <a:r>
              <a:rPr lang="en-US" sz="2500" b="1" spc="-40" kern="0" dirty="0">
                <a:solidFill>
                  <a:srgbClr val="14242C"/>
                </a:solidFill>
                <a:latin typeface="Calibri" pitchFamily="34" charset="0"/>
                <a:ea typeface="Calibri" pitchFamily="34" charset="-122"/>
                <a:cs typeface="Calibri" pitchFamily="34" charset="-120"/>
              </a:rPr>
              <a:t>The room can't agree</a:t>
            </a:r>
            <a:endParaRPr lang="en-US" sz="2500" dirty="0"/>
          </a:p>
        </p:txBody>
      </p:sp>
      <p:sp>
        <p:nvSpPr>
          <p:cNvPr id="13" name="Shape 11"/>
          <p:cNvSpPr/>
          <p:nvPr/>
        </p:nvSpPr>
        <p:spPr>
          <a:xfrm>
            <a:off x="3904488" y="4590288"/>
            <a:ext cx="729691" cy="340157"/>
          </a:xfrm>
          <a:prstGeom prst="roundRect">
            <a:avLst>
              <a:gd name="adj" fmla="val 134409"/>
            </a:avLst>
          </a:prstGeom>
          <a:solidFill>
            <a:srgbClr val="14242C"/>
          </a:solidFill>
          <a:ln w="15875">
            <a:solidFill>
              <a:srgbClr val="14242C"/>
            </a:solidFill>
            <a:prstDash val="solid"/>
          </a:ln>
        </p:spPr>
      </p:sp>
      <p:sp>
        <p:nvSpPr>
          <p:cNvPr id="14" name="Text 12"/>
          <p:cNvSpPr txBox="1"/>
          <p:nvPr/>
        </p:nvSpPr>
        <p:spPr>
          <a:xfrm>
            <a:off x="3904488" y="4599432"/>
            <a:ext cx="729691" cy="321869"/>
          </a:xfrm>
          <a:prstGeom prst="rect">
            <a:avLst/>
          </a:prstGeom>
          <a:noFill/>
          <a:ln/>
        </p:spPr>
        <p:txBody>
          <a:bodyPr wrap="square" lIns="0" tIns="0" rIns="0" bIns="0" rtlCol="0" anchor="ctr"/>
          <a:lstStyle/>
          <a:p>
            <a:pPr algn="ctr" indent="0" marL="0">
              <a:buNone/>
            </a:pPr>
            <a:r>
              <a:rPr lang="en-US" sz="1200" b="1" dirty="0">
                <a:solidFill>
                  <a:srgbClr val="E7EDF0"/>
                </a:solidFill>
                <a:latin typeface="Calibri" pitchFamily="34" charset="0"/>
                <a:ea typeface="Calibri" pitchFamily="34" charset="-122"/>
                <a:cs typeface="Calibri" pitchFamily="34" charset="-120"/>
              </a:rPr>
              <a:t>Split</a:t>
            </a:r>
            <a:endParaRPr lang="en-US" sz="1200" dirty="0"/>
          </a:p>
        </p:txBody>
      </p:sp>
      <p:sp>
        <p:nvSpPr>
          <p:cNvPr id="15" name="Text 13"/>
          <p:cNvSpPr txBox="1"/>
          <p:nvPr/>
        </p:nvSpPr>
        <p:spPr>
          <a:xfrm>
            <a:off x="566928" y="5029200"/>
            <a:ext cx="5440680" cy="310896"/>
          </a:xfrm>
          <a:prstGeom prst="rect">
            <a:avLst/>
          </a:prstGeom>
          <a:noFill/>
          <a:ln/>
        </p:spPr>
        <p:txBody>
          <a:bodyPr wrap="square" lIns="0" tIns="0" rIns="0" bIns="0" rtlCol="0" anchor="t"/>
          <a:lstStyle/>
          <a:p>
            <a:pPr algn="l" indent="0" marL="0">
              <a:buNone/>
            </a:pPr>
            <a:r>
              <a:rPr lang="en-US" sz="1250" i="1" dirty="0">
                <a:solidFill>
                  <a:srgbClr val="5F737D"/>
                </a:solidFill>
                <a:latin typeface="Calibri" pitchFamily="34" charset="0"/>
                <a:ea typeface="Calibri" pitchFamily="34" charset="-122"/>
                <a:cs typeface="Calibri" pitchFamily="34" charset="-120"/>
              </a:rPr>
              <a:t>— instead of a direction it cannot honestly give</a:t>
            </a:r>
            <a:endParaRPr lang="en-US" sz="1250" dirty="0"/>
          </a:p>
        </p:txBody>
      </p:sp>
      <p:sp>
        <p:nvSpPr>
          <p:cNvPr id="16" name="Shape 14"/>
          <p:cNvSpPr/>
          <p:nvPr/>
        </p:nvSpPr>
        <p:spPr>
          <a:xfrm>
            <a:off x="566928" y="5431536"/>
            <a:ext cx="5440680" cy="146304"/>
          </a:xfrm>
          <a:prstGeom prst="roundRect">
            <a:avLst>
              <a:gd name="adj" fmla="val 312500"/>
            </a:avLst>
          </a:prstGeom>
          <a:solidFill>
            <a:srgbClr val="E1E9ED"/>
          </a:solidFill>
          <a:ln/>
        </p:spPr>
      </p:sp>
      <p:sp>
        <p:nvSpPr>
          <p:cNvPr id="17" name="Shape 15"/>
          <p:cNvSpPr/>
          <p:nvPr/>
        </p:nvSpPr>
        <p:spPr>
          <a:xfrm>
            <a:off x="566928" y="5431536"/>
            <a:ext cx="2452255" cy="146304"/>
          </a:xfrm>
          <a:prstGeom prst="roundRect">
            <a:avLst>
              <a:gd name="adj" fmla="val 312500"/>
            </a:avLst>
          </a:prstGeom>
          <a:solidFill>
            <a:srgbClr val="2A6DB5"/>
          </a:solidFill>
          <a:ln/>
        </p:spPr>
      </p:sp>
      <p:sp>
        <p:nvSpPr>
          <p:cNvPr id="18" name="Shape 16"/>
          <p:cNvSpPr/>
          <p:nvPr/>
        </p:nvSpPr>
        <p:spPr>
          <a:xfrm>
            <a:off x="3042043" y="5431536"/>
            <a:ext cx="490451" cy="146304"/>
          </a:xfrm>
          <a:prstGeom prst="roundRect">
            <a:avLst>
              <a:gd name="adj" fmla="val 312500"/>
            </a:avLst>
          </a:prstGeom>
          <a:solidFill>
            <a:srgbClr val="3B9B78"/>
          </a:solidFill>
          <a:ln/>
        </p:spPr>
      </p:sp>
      <p:sp>
        <p:nvSpPr>
          <p:cNvPr id="19" name="Shape 17"/>
          <p:cNvSpPr/>
          <p:nvPr/>
        </p:nvSpPr>
        <p:spPr>
          <a:xfrm>
            <a:off x="3555353" y="5431536"/>
            <a:ext cx="2452255" cy="146304"/>
          </a:xfrm>
          <a:prstGeom prst="roundRect">
            <a:avLst>
              <a:gd name="adj" fmla="val 312500"/>
            </a:avLst>
          </a:prstGeom>
          <a:solidFill>
            <a:srgbClr val="C64C2C"/>
          </a:solidFill>
          <a:ln/>
        </p:spPr>
      </p:sp>
      <p:sp>
        <p:nvSpPr>
          <p:cNvPr id="20" name="Text 18"/>
          <p:cNvSpPr txBox="1"/>
          <p:nvPr/>
        </p:nvSpPr>
        <p:spPr>
          <a:xfrm>
            <a:off x="566928" y="5650992"/>
            <a:ext cx="5440680" cy="274320"/>
          </a:xfrm>
          <a:prstGeom prst="rect">
            <a:avLst/>
          </a:prstGeom>
          <a:noFill/>
          <a:ln/>
        </p:spPr>
        <p:txBody>
          <a:bodyPr wrap="square" lIns="0" tIns="0" rIns="0" bIns="0" rtlCol="0" anchor="t"/>
          <a:lstStyle/>
          <a:p>
            <a:pPr algn="l" indent="0" marL="0">
              <a:buNone/>
            </a:pPr>
            <a:r>
              <a:rPr lang="en-US" sz="1600" b="1" dirty="0">
                <a:solidFill>
                  <a:srgbClr val="2A6DB5"/>
                </a:solidFill>
                <a:latin typeface="Calibri" pitchFamily="34" charset="0"/>
                <a:ea typeface="Calibri" pitchFamily="34" charset="-122"/>
                <a:cs typeface="Calibri" pitchFamily="34" charset="-120"/>
              </a:rPr>
              <a:t>5</a:t>
            </a:r>
            <a:pPr algn="l" indent="0" marL="0">
              <a:buNone/>
            </a:pPr>
            <a:r>
              <a:rPr lang="en-US" sz="1300" dirty="0">
                <a:solidFill>
                  <a:srgbClr val="5F737D"/>
                </a:solidFill>
                <a:latin typeface="Calibri" pitchFamily="34" charset="0"/>
                <a:ea typeface="Calibri" pitchFamily="34" charset="-122"/>
                <a:cs typeface="Calibri" pitchFamily="34" charset="-120"/>
              </a:rPr>
              <a:t> cold   </a:t>
            </a:r>
            <a:pPr algn="l" indent="0" marL="0">
              <a:buNone/>
            </a:pPr>
            <a:r>
              <a:rPr lang="en-US" sz="1600" b="1" dirty="0">
                <a:solidFill>
                  <a:srgbClr val="3B9B78"/>
                </a:solidFill>
                <a:latin typeface="Calibri" pitchFamily="34" charset="0"/>
                <a:ea typeface="Calibri" pitchFamily="34" charset="-122"/>
                <a:cs typeface="Calibri" pitchFamily="34" charset="-120"/>
              </a:rPr>
              <a:t>1</a:t>
            </a:r>
            <a:pPr algn="l" indent="0" marL="0">
              <a:buNone/>
            </a:pPr>
            <a:r>
              <a:rPr lang="en-US" sz="1300" dirty="0">
                <a:solidFill>
                  <a:srgbClr val="5F737D"/>
                </a:solidFill>
                <a:latin typeface="Calibri" pitchFamily="34" charset="0"/>
                <a:ea typeface="Calibri" pitchFamily="34" charset="-122"/>
                <a:cs typeface="Calibri" pitchFamily="34" charset="-120"/>
              </a:rPr>
              <a:t> comfortable   </a:t>
            </a:r>
            <a:pPr algn="l" indent="0" marL="0">
              <a:buNone/>
            </a:pPr>
            <a:r>
              <a:rPr lang="en-US" sz="1600" b="1" dirty="0">
                <a:solidFill>
                  <a:srgbClr val="C64C2C"/>
                </a:solidFill>
                <a:latin typeface="Calibri" pitchFamily="34" charset="0"/>
                <a:ea typeface="Calibri" pitchFamily="34" charset="-122"/>
                <a:cs typeface="Calibri" pitchFamily="34" charset="-120"/>
              </a:rPr>
              <a:t>5</a:t>
            </a:r>
            <a:pPr algn="l" indent="0" marL="0">
              <a:buNone/>
            </a:pPr>
            <a:r>
              <a:rPr lang="en-US" sz="1300" dirty="0">
                <a:solidFill>
                  <a:srgbClr val="5F737D"/>
                </a:solidFill>
                <a:latin typeface="Calibri" pitchFamily="34" charset="0"/>
                <a:ea typeface="Calibri" pitchFamily="34" charset="-122"/>
                <a:cs typeface="Calibri" pitchFamily="34" charset="-120"/>
              </a:rPr>
              <a:t> warm</a:t>
            </a:r>
            <a:endParaRPr lang="en-US" sz="1300" dirty="0"/>
          </a:p>
        </p:txBody>
      </p:sp>
      <p:sp>
        <p:nvSpPr>
          <p:cNvPr id="21" name="Text 19"/>
          <p:cNvSpPr txBox="1"/>
          <p:nvPr/>
        </p:nvSpPr>
        <p:spPr>
          <a:xfrm>
            <a:off x="6464808" y="1664208"/>
            <a:ext cx="5159959" cy="274320"/>
          </a:xfrm>
          <a:prstGeom prst="rect">
            <a:avLst/>
          </a:prstGeom>
          <a:noFill/>
          <a:ln/>
        </p:spPr>
        <p:txBody>
          <a:bodyPr wrap="square" lIns="0" tIns="0" rIns="0" bIns="0" rtlCol="0" anchor="t"/>
          <a:lstStyle/>
          <a:p>
            <a:pPr algn="l" indent="0" marL="0">
              <a:buNone/>
            </a:pPr>
            <a:r>
              <a:rPr lang="en-US" sz="1050" b="1" spc="140" kern="0" dirty="0">
                <a:solidFill>
                  <a:srgbClr val="5F737D"/>
                </a:solidFill>
                <a:latin typeface="Calibri" pitchFamily="34" charset="0"/>
                <a:ea typeface="Calibri" pitchFamily="34" charset="-122"/>
                <a:cs typeface="Calibri" pitchFamily="34" charset="-120"/>
              </a:rPr>
              <a:t>WHAT CHANGES THE MOMENT IT FIRES</a:t>
            </a:r>
            <a:endParaRPr lang="en-US" sz="1050" dirty="0"/>
          </a:p>
        </p:txBody>
      </p:sp>
      <p:sp>
        <p:nvSpPr>
          <p:cNvPr id="22" name="Shape 20"/>
          <p:cNvSpPr/>
          <p:nvPr/>
        </p:nvSpPr>
        <p:spPr>
          <a:xfrm>
            <a:off x="6483096" y="2157984"/>
            <a:ext cx="91440" cy="91440"/>
          </a:xfrm>
          <a:prstGeom prst="roundRect">
            <a:avLst>
              <a:gd name="adj" fmla="val 500000"/>
            </a:avLst>
          </a:prstGeom>
          <a:solidFill>
            <a:srgbClr val="3B9B78"/>
          </a:solidFill>
          <a:ln/>
        </p:spPr>
      </p:sp>
      <p:sp>
        <p:nvSpPr>
          <p:cNvPr id="23" name="Text 21"/>
          <p:cNvSpPr txBox="1"/>
          <p:nvPr/>
        </p:nvSpPr>
        <p:spPr>
          <a:xfrm>
            <a:off x="6720840" y="2066544"/>
            <a:ext cx="4903927" cy="347472"/>
          </a:xfrm>
          <a:prstGeom prst="rect">
            <a:avLst/>
          </a:prstGeom>
          <a:noFill/>
          <a:ln/>
        </p:spPr>
        <p:txBody>
          <a:bodyPr wrap="square" lIns="0" tIns="0" rIns="0" bIns="0" rtlCol="0" anchor="t"/>
          <a:lstStyle/>
          <a:p>
            <a:pPr algn="l" indent="0" marL="0">
              <a:buNone/>
            </a:pPr>
            <a:r>
              <a:rPr lang="en-US" sz="1350" dirty="0">
                <a:solidFill>
                  <a:srgbClr val="14242C"/>
                </a:solidFill>
                <a:latin typeface="Calibri" pitchFamily="34" charset="0"/>
                <a:ea typeface="Calibri" pitchFamily="34" charset="-122"/>
                <a:cs typeface="Calibri" pitchFamily="34" charset="-120"/>
              </a:rPr>
              <a:t>The verdict refuses to pick a direction.</a:t>
            </a:r>
            <a:endParaRPr lang="en-US" sz="1350" dirty="0"/>
          </a:p>
        </p:txBody>
      </p:sp>
      <p:sp>
        <p:nvSpPr>
          <p:cNvPr id="24" name="Shape 22"/>
          <p:cNvSpPr/>
          <p:nvPr/>
        </p:nvSpPr>
        <p:spPr>
          <a:xfrm>
            <a:off x="6483096" y="2560320"/>
            <a:ext cx="91440" cy="91440"/>
          </a:xfrm>
          <a:prstGeom prst="roundRect">
            <a:avLst>
              <a:gd name="adj" fmla="val 500000"/>
            </a:avLst>
          </a:prstGeom>
          <a:solidFill>
            <a:srgbClr val="3B9B78"/>
          </a:solidFill>
          <a:ln/>
        </p:spPr>
      </p:sp>
      <p:sp>
        <p:nvSpPr>
          <p:cNvPr id="25" name="Text 23"/>
          <p:cNvSpPr txBox="1"/>
          <p:nvPr/>
        </p:nvSpPr>
        <p:spPr>
          <a:xfrm>
            <a:off x="6720840" y="2468880"/>
            <a:ext cx="4903927" cy="347472"/>
          </a:xfrm>
          <a:prstGeom prst="rect">
            <a:avLst/>
          </a:prstGeom>
          <a:noFill/>
          <a:ln/>
        </p:spPr>
        <p:txBody>
          <a:bodyPr wrap="square" lIns="0" tIns="0" rIns="0" bIns="0" rtlCol="0" anchor="t"/>
          <a:lstStyle/>
          <a:p>
            <a:pPr algn="l" indent="0" marL="0">
              <a:buNone/>
            </a:pPr>
            <a:r>
              <a:rPr lang="en-US" sz="1350" dirty="0">
                <a:solidFill>
                  <a:srgbClr val="14242C"/>
                </a:solidFill>
                <a:latin typeface="Calibri" pitchFamily="34" charset="0"/>
                <a:ea typeface="Calibri" pitchFamily="34" charset="-122"/>
                <a:cs typeface="Calibri" pitchFamily="34" charset="-120"/>
              </a:rPr>
              <a:t>A “Split” chip appears next to it.</a:t>
            </a:r>
            <a:endParaRPr lang="en-US" sz="1350" dirty="0"/>
          </a:p>
        </p:txBody>
      </p:sp>
      <p:sp>
        <p:nvSpPr>
          <p:cNvPr id="26" name="Shape 24"/>
          <p:cNvSpPr/>
          <p:nvPr/>
        </p:nvSpPr>
        <p:spPr>
          <a:xfrm>
            <a:off x="6483096" y="2962656"/>
            <a:ext cx="91440" cy="91440"/>
          </a:xfrm>
          <a:prstGeom prst="roundRect">
            <a:avLst>
              <a:gd name="adj" fmla="val 500000"/>
            </a:avLst>
          </a:prstGeom>
          <a:solidFill>
            <a:srgbClr val="3B9B78"/>
          </a:solidFill>
          <a:ln/>
        </p:spPr>
      </p:sp>
      <p:sp>
        <p:nvSpPr>
          <p:cNvPr id="27" name="Text 25"/>
          <p:cNvSpPr txBox="1"/>
          <p:nvPr/>
        </p:nvSpPr>
        <p:spPr>
          <a:xfrm>
            <a:off x="6720840" y="2871216"/>
            <a:ext cx="4903927" cy="347472"/>
          </a:xfrm>
          <a:prstGeom prst="rect">
            <a:avLst/>
          </a:prstGeom>
          <a:noFill/>
          <a:ln/>
        </p:spPr>
        <p:txBody>
          <a:bodyPr wrap="square" lIns="0" tIns="0" rIns="0" bIns="0" rtlCol="0" anchor="t"/>
          <a:lstStyle/>
          <a:p>
            <a:pPr algn="l" indent="0" marL="0">
              <a:buNone/>
            </a:pPr>
            <a:r>
              <a:rPr lang="en-US" sz="1350" dirty="0">
                <a:solidFill>
                  <a:srgbClr val="14242C"/>
                </a:solidFill>
                <a:latin typeface="Calibri" pitchFamily="34" charset="0"/>
                <a:ea typeface="Calibri" pitchFamily="34" charset="-122"/>
                <a:cs typeface="Calibri" pitchFamily="34" charset="-120"/>
              </a:rPr>
              <a:t>The needle goes dashed — the mean of two camps is a lie.</a:t>
            </a:r>
            <a:endParaRPr lang="en-US" sz="1350" dirty="0"/>
          </a:p>
        </p:txBody>
      </p:sp>
      <p:sp>
        <p:nvSpPr>
          <p:cNvPr id="28" name="Shape 26"/>
          <p:cNvSpPr/>
          <p:nvPr/>
        </p:nvSpPr>
        <p:spPr>
          <a:xfrm>
            <a:off x="6483096" y="3364992"/>
            <a:ext cx="91440" cy="91440"/>
          </a:xfrm>
          <a:prstGeom prst="roundRect">
            <a:avLst>
              <a:gd name="adj" fmla="val 500000"/>
            </a:avLst>
          </a:prstGeom>
          <a:solidFill>
            <a:srgbClr val="3B9B78"/>
          </a:solidFill>
          <a:ln/>
        </p:spPr>
      </p:sp>
      <p:sp>
        <p:nvSpPr>
          <p:cNvPr id="29" name="Text 27"/>
          <p:cNvSpPr txBox="1"/>
          <p:nvPr/>
        </p:nvSpPr>
        <p:spPr>
          <a:xfrm>
            <a:off x="6720840" y="3273552"/>
            <a:ext cx="4903927" cy="347472"/>
          </a:xfrm>
          <a:prstGeom prst="rect">
            <a:avLst/>
          </a:prstGeom>
          <a:noFill/>
          <a:ln/>
        </p:spPr>
        <p:txBody>
          <a:bodyPr wrap="square" lIns="0" tIns="0" rIns="0" bIns="0" rtlCol="0" anchor="t"/>
          <a:lstStyle/>
          <a:p>
            <a:pPr algn="l" indent="0" marL="0">
              <a:buNone/>
            </a:pPr>
            <a:r>
              <a:rPr lang="en-US" sz="1350" dirty="0">
                <a:solidFill>
                  <a:srgbClr val="14242C"/>
                </a:solidFill>
                <a:latin typeface="Calibri" pitchFamily="34" charset="0"/>
                <a:ea typeface="Calibri" pitchFamily="34" charset="-122"/>
                <a:cs typeface="Calibri" pitchFamily="34" charset="-120"/>
              </a:rPr>
              <a:t>The map draws that spot in two colours at once.</a:t>
            </a:r>
            <a:endParaRPr lang="en-US" sz="1350" dirty="0"/>
          </a:p>
        </p:txBody>
      </p:sp>
      <p:sp>
        <p:nvSpPr>
          <p:cNvPr id="30" name="Shape 28"/>
          <p:cNvSpPr/>
          <p:nvPr/>
        </p:nvSpPr>
        <p:spPr>
          <a:xfrm>
            <a:off x="6483096" y="3767328"/>
            <a:ext cx="91440" cy="91440"/>
          </a:xfrm>
          <a:prstGeom prst="roundRect">
            <a:avLst>
              <a:gd name="adj" fmla="val 500000"/>
            </a:avLst>
          </a:prstGeom>
          <a:solidFill>
            <a:srgbClr val="3B9B78"/>
          </a:solidFill>
          <a:ln/>
        </p:spPr>
      </p:sp>
      <p:sp>
        <p:nvSpPr>
          <p:cNvPr id="31" name="Text 29"/>
          <p:cNvSpPr txBox="1"/>
          <p:nvPr/>
        </p:nvSpPr>
        <p:spPr>
          <a:xfrm>
            <a:off x="6720840" y="3675888"/>
            <a:ext cx="4903927" cy="347472"/>
          </a:xfrm>
          <a:prstGeom prst="rect">
            <a:avLst/>
          </a:prstGeom>
          <a:noFill/>
          <a:ln/>
        </p:spPr>
        <p:txBody>
          <a:bodyPr wrap="square" lIns="0" tIns="0" rIns="0" bIns="0" rtlCol="0" anchor="t"/>
          <a:lstStyle/>
          <a:p>
            <a:pPr algn="l" indent="0" marL="0">
              <a:buNone/>
            </a:pPr>
            <a:r>
              <a:rPr lang="en-US" sz="1350" dirty="0">
                <a:solidFill>
                  <a:srgbClr val="14242C"/>
                </a:solidFill>
                <a:latin typeface="Calibri" pitchFamily="34" charset="0"/>
                <a:ea typeface="Calibri" pitchFamily="34" charset="-122"/>
                <a:cs typeface="Calibri" pitchFamily="34" charset="-120"/>
              </a:rPr>
              <a:t>It explains the likely cause in plain words.</a:t>
            </a:r>
            <a:endParaRPr lang="en-US" sz="1350" dirty="0"/>
          </a:p>
        </p:txBody>
      </p:sp>
      <p:sp>
        <p:nvSpPr>
          <p:cNvPr id="32" name="Shape 30"/>
          <p:cNvSpPr/>
          <p:nvPr/>
        </p:nvSpPr>
        <p:spPr>
          <a:xfrm>
            <a:off x="6483096" y="4169664"/>
            <a:ext cx="91440" cy="91440"/>
          </a:xfrm>
          <a:prstGeom prst="roundRect">
            <a:avLst>
              <a:gd name="adj" fmla="val 500000"/>
            </a:avLst>
          </a:prstGeom>
          <a:solidFill>
            <a:srgbClr val="3B9B78"/>
          </a:solidFill>
          <a:ln/>
        </p:spPr>
      </p:sp>
      <p:sp>
        <p:nvSpPr>
          <p:cNvPr id="33" name="Text 31"/>
          <p:cNvSpPr txBox="1"/>
          <p:nvPr/>
        </p:nvSpPr>
        <p:spPr>
          <a:xfrm>
            <a:off x="6720840" y="4078224"/>
            <a:ext cx="4903927" cy="347472"/>
          </a:xfrm>
          <a:prstGeom prst="rect">
            <a:avLst/>
          </a:prstGeom>
          <a:noFill/>
          <a:ln/>
        </p:spPr>
        <p:txBody>
          <a:bodyPr wrap="square" lIns="0" tIns="0" rIns="0" bIns="0" rtlCol="0" anchor="t"/>
          <a:lstStyle/>
          <a:p>
            <a:pPr algn="l" indent="0" marL="0">
              <a:buNone/>
            </a:pPr>
            <a:r>
              <a:rPr lang="en-US" sz="1350" dirty="0">
                <a:solidFill>
                  <a:srgbClr val="14242C"/>
                </a:solidFill>
                <a:latin typeface="Calibri" pitchFamily="34" charset="0"/>
                <a:ea typeface="Calibri" pitchFamily="34" charset="-122"/>
                <a:cs typeface="Calibri" pitchFamily="34" charset="-120"/>
              </a:rPr>
              <a:t>It offers to create the narrower spot for you.</a:t>
            </a:r>
            <a:endParaRPr lang="en-US" sz="1350" dirty="0"/>
          </a:p>
        </p:txBody>
      </p:sp>
      <p:sp>
        <p:nvSpPr>
          <p:cNvPr id="34" name="Shape 32"/>
          <p:cNvSpPr/>
          <p:nvPr/>
        </p:nvSpPr>
        <p:spPr>
          <a:xfrm>
            <a:off x="6464808" y="4626864"/>
            <a:ext cx="5159959" cy="1097280"/>
          </a:xfrm>
          <a:prstGeom prst="roundRect">
            <a:avLst>
              <a:gd name="adj" fmla="val 5000"/>
            </a:avLst>
          </a:prstGeom>
          <a:solidFill>
            <a:srgbClr val="F3F7F9"/>
          </a:solidFill>
          <a:ln w="12700">
            <a:solidFill>
              <a:srgbClr val="E1E9ED"/>
            </a:solidFill>
            <a:prstDash val="solid"/>
          </a:ln>
        </p:spPr>
      </p:sp>
      <p:sp>
        <p:nvSpPr>
          <p:cNvPr id="35" name="Text 33"/>
          <p:cNvSpPr txBox="1"/>
          <p:nvPr/>
        </p:nvSpPr>
        <p:spPr>
          <a:xfrm>
            <a:off x="6720840" y="4745736"/>
            <a:ext cx="4647895" cy="877824"/>
          </a:xfrm>
          <a:prstGeom prst="rect">
            <a:avLst/>
          </a:prstGeom>
          <a:noFill/>
          <a:ln/>
        </p:spPr>
        <p:txBody>
          <a:bodyPr wrap="square" lIns="0" tIns="0" rIns="0" bIns="0" rtlCol="0" anchor="t"/>
          <a:lstStyle/>
          <a:p>
            <a:pPr algn="l" indent="0" marL="0">
              <a:lnSpc>
                <a:spcPts val="1600"/>
              </a:lnSpc>
              <a:buNone/>
            </a:pPr>
            <a:r>
              <a:rPr lang="en-US" sz="1250" i="1" dirty="0">
                <a:solidFill>
                  <a:srgbClr val="5F737D"/>
                </a:solidFill>
                <a:latin typeface="Calibri" pitchFamily="34" charset="0"/>
                <a:ea typeface="Calibri" pitchFamily="34" charset="-122"/>
                <a:cs typeface="Calibri" pitchFamily="34" charset="-120"/>
              </a:rPr>
              <a:t>“That usually means this spot is really two spots — a window run and a shaded core, or one vent doing all the work. Turning the thermostat will just move the complaint to the other group.”</a:t>
            </a:r>
            <a:endParaRPr lang="en-US" sz="1250" dirty="0"/>
          </a:p>
        </p:txBody>
      </p:sp>
      <p:sp>
        <p:nvSpPr>
          <p:cNvPr id="36" name="Text 34"/>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5F737D"/>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7EDF0"/>
        </a:solidFill>
      </p:bgPr>
    </p:bg>
    <p:spTree>
      <p:nvGrpSpPr>
        <p:cNvPr id="1" name=""/>
        <p:cNvGrpSpPr/>
        <p:nvPr/>
      </p:nvGrpSpPr>
      <p:grpSpPr>
        <a:xfrm>
          <a:off x="0" y="0"/>
          <a:ext cx="0" cy="0"/>
          <a:chOff x="0" y="0"/>
          <a:chExt cx="0" cy="0"/>
        </a:xfrm>
      </p:grpSpPr>
      <p:sp>
        <p:nvSpPr>
          <p:cNvPr id="2" name="Shape 0"/>
          <p:cNvSpPr/>
          <p:nvPr/>
        </p:nvSpPr>
        <p:spPr>
          <a:xfrm>
            <a:off x="566928" y="1627632"/>
            <a:ext cx="6126480" cy="4212087"/>
          </a:xfrm>
          <a:prstGeom prst="roundRect">
            <a:avLst>
              <a:gd name="adj" fmla="val 1085"/>
            </a:avLst>
          </a:prstGeom>
          <a:solidFill>
            <a:srgbClr val="F3F7F9"/>
          </a:solidFill>
          <a:ln w="12700">
            <a:solidFill>
              <a:srgbClr val="CDD9DF"/>
            </a:solidFill>
            <a:prstDash val="solid"/>
          </a:ln>
        </p:spPr>
      </p:sp>
      <p:sp>
        <p:nvSpPr>
          <p:cNvPr id="3" name="Shape 1"/>
          <p:cNvSpPr/>
          <p:nvPr/>
        </p:nvSpPr>
        <p:spPr>
          <a:xfrm>
            <a:off x="720090" y="1780799"/>
            <a:ext cx="5820156" cy="3905753"/>
          </a:xfrm>
          <a:prstGeom prst="rect">
            <a:avLst/>
          </a:prstGeom>
          <a:ln w="13970">
            <a:solidFill>
              <a:srgbClr val="5F737D"/>
            </a:solidFill>
            <a:prstDash val="solid"/>
          </a:ln>
        </p:spPr>
      </p:sp>
      <p:sp>
        <p:nvSpPr>
          <p:cNvPr id="4" name="Shape 2"/>
          <p:cNvSpPr/>
          <p:nvPr/>
        </p:nvSpPr>
        <p:spPr>
          <a:xfrm>
            <a:off x="2787777" y="3082716"/>
            <a:ext cx="1684782" cy="1301918"/>
          </a:xfrm>
          <a:prstGeom prst="rect">
            <a:avLst/>
          </a:prstGeom>
          <a:solidFill>
            <a:srgbClr val="14242C">
              <a:alpha val="6000"/>
            </a:srgbClr>
          </a:solidFill>
          <a:ln w="9525">
            <a:solidFill>
              <a:srgbClr val="CDD9DF"/>
            </a:solidFill>
            <a:prstDash val="solid"/>
          </a:ln>
        </p:spPr>
      </p:sp>
      <p:sp>
        <p:nvSpPr>
          <p:cNvPr id="5" name="Text 3"/>
          <p:cNvSpPr txBox="1"/>
          <p:nvPr/>
        </p:nvSpPr>
        <p:spPr>
          <a:xfrm>
            <a:off x="2921794" y="3345046"/>
            <a:ext cx="1097280" cy="164592"/>
          </a:xfrm>
          <a:prstGeom prst="rect">
            <a:avLst/>
          </a:prstGeom>
          <a:noFill/>
          <a:ln/>
        </p:spPr>
        <p:txBody>
          <a:bodyPr wrap="square" lIns="0" tIns="0" rIns="0" bIns="0" rtlCol="0" anchor="t"/>
          <a:lstStyle/>
          <a:p>
            <a:pPr algn="l" indent="0" marL="0">
              <a:buNone/>
            </a:pPr>
            <a:r>
              <a:rPr lang="en-US" sz="700" dirty="0">
                <a:solidFill>
                  <a:srgbClr val="5F737D"/>
                </a:solidFill>
                <a:latin typeface="Calibri" pitchFamily="34" charset="0"/>
                <a:ea typeface="Calibri" pitchFamily="34" charset="-122"/>
                <a:cs typeface="Calibri" pitchFamily="34" charset="-120"/>
              </a:rPr>
              <a:t>Lifts</a:t>
            </a:r>
            <a:endParaRPr lang="en-US" sz="700" dirty="0"/>
          </a:p>
        </p:txBody>
      </p:sp>
      <p:sp>
        <p:nvSpPr>
          <p:cNvPr id="6" name="Text 4"/>
          <p:cNvSpPr txBox="1"/>
          <p:nvPr/>
        </p:nvSpPr>
        <p:spPr>
          <a:xfrm>
            <a:off x="3400425" y="3345046"/>
            <a:ext cx="1097280" cy="164592"/>
          </a:xfrm>
          <a:prstGeom prst="rect">
            <a:avLst/>
          </a:prstGeom>
          <a:noFill/>
          <a:ln/>
        </p:spPr>
        <p:txBody>
          <a:bodyPr wrap="square" lIns="0" tIns="0" rIns="0" bIns="0" rtlCol="0" anchor="t"/>
          <a:lstStyle/>
          <a:p>
            <a:pPr algn="l" indent="0" marL="0">
              <a:buNone/>
            </a:pPr>
            <a:r>
              <a:rPr lang="en-US" sz="700" dirty="0">
                <a:solidFill>
                  <a:srgbClr val="5F737D"/>
                </a:solidFill>
                <a:latin typeface="Calibri" pitchFamily="34" charset="0"/>
                <a:ea typeface="Calibri" pitchFamily="34" charset="-122"/>
                <a:cs typeface="Calibri" pitchFamily="34" charset="-120"/>
              </a:rPr>
              <a:t>WC</a:t>
            </a:r>
            <a:endParaRPr lang="en-US" sz="700" dirty="0"/>
          </a:p>
        </p:txBody>
      </p:sp>
      <p:sp>
        <p:nvSpPr>
          <p:cNvPr id="7" name="Text 5"/>
          <p:cNvSpPr txBox="1"/>
          <p:nvPr/>
        </p:nvSpPr>
        <p:spPr>
          <a:xfrm>
            <a:off x="3967124" y="3345046"/>
            <a:ext cx="1097280" cy="164592"/>
          </a:xfrm>
          <a:prstGeom prst="rect">
            <a:avLst/>
          </a:prstGeom>
          <a:noFill/>
          <a:ln/>
        </p:spPr>
        <p:txBody>
          <a:bodyPr wrap="square" lIns="0" tIns="0" rIns="0" bIns="0" rtlCol="0" anchor="t"/>
          <a:lstStyle/>
          <a:p>
            <a:pPr algn="l" indent="0" marL="0">
              <a:buNone/>
            </a:pPr>
            <a:r>
              <a:rPr lang="en-US" sz="700" dirty="0">
                <a:solidFill>
                  <a:srgbClr val="5F737D"/>
                </a:solidFill>
                <a:latin typeface="Calibri" pitchFamily="34" charset="0"/>
                <a:ea typeface="Calibri" pitchFamily="34" charset="-122"/>
                <a:cs typeface="Calibri" pitchFamily="34" charset="-120"/>
              </a:rPr>
              <a:t>Stair</a:t>
            </a:r>
            <a:endParaRPr lang="en-US" sz="700" dirty="0"/>
          </a:p>
        </p:txBody>
      </p:sp>
      <p:sp>
        <p:nvSpPr>
          <p:cNvPr id="8" name="Shape 6"/>
          <p:cNvSpPr/>
          <p:nvPr/>
        </p:nvSpPr>
        <p:spPr>
          <a:xfrm>
            <a:off x="5161788" y="1933966"/>
            <a:ext cx="1301877" cy="842417"/>
          </a:xfrm>
          <a:prstGeom prst="rect">
            <a:avLst/>
          </a:prstGeom>
          <a:solidFill>
            <a:srgbClr val="14242C">
              <a:alpha val="6000"/>
            </a:srgbClr>
          </a:solidFill>
          <a:ln w="9525">
            <a:solidFill>
              <a:srgbClr val="CDD9DF"/>
            </a:solidFill>
            <a:prstDash val="solid"/>
          </a:ln>
        </p:spPr>
      </p:sp>
      <p:sp>
        <p:nvSpPr>
          <p:cNvPr id="9" name="Shape 7"/>
          <p:cNvSpPr/>
          <p:nvPr/>
        </p:nvSpPr>
        <p:spPr>
          <a:xfrm>
            <a:off x="5161788" y="2929550"/>
            <a:ext cx="1301877" cy="765834"/>
          </a:xfrm>
          <a:prstGeom prst="rect">
            <a:avLst/>
          </a:prstGeom>
          <a:solidFill>
            <a:srgbClr val="14242C">
              <a:alpha val="6000"/>
            </a:srgbClr>
          </a:solidFill>
          <a:ln w="9525">
            <a:solidFill>
              <a:srgbClr val="CDD9DF"/>
            </a:solidFill>
            <a:prstDash val="solid"/>
          </a:ln>
        </p:spPr>
      </p:sp>
      <p:sp>
        <p:nvSpPr>
          <p:cNvPr id="10" name="Shape 8"/>
          <p:cNvSpPr/>
          <p:nvPr/>
        </p:nvSpPr>
        <p:spPr>
          <a:xfrm>
            <a:off x="5161788" y="3848550"/>
            <a:ext cx="1301877" cy="765834"/>
          </a:xfrm>
          <a:prstGeom prst="rect">
            <a:avLst/>
          </a:prstGeom>
          <a:solidFill>
            <a:srgbClr val="14242C">
              <a:alpha val="6000"/>
            </a:srgbClr>
          </a:solidFill>
          <a:ln w="9525">
            <a:solidFill>
              <a:srgbClr val="CDD9DF"/>
            </a:solidFill>
            <a:prstDash val="solid"/>
          </a:ln>
        </p:spPr>
      </p:sp>
      <p:sp>
        <p:nvSpPr>
          <p:cNvPr id="11" name="Text 9"/>
          <p:cNvSpPr txBox="1"/>
          <p:nvPr/>
        </p:nvSpPr>
        <p:spPr>
          <a:xfrm>
            <a:off x="5257514" y="2004836"/>
            <a:ext cx="1097280" cy="164592"/>
          </a:xfrm>
          <a:prstGeom prst="rect">
            <a:avLst/>
          </a:prstGeom>
          <a:noFill/>
          <a:ln/>
        </p:spPr>
        <p:txBody>
          <a:bodyPr wrap="square" lIns="0" tIns="0" rIns="0" bIns="0" rtlCol="0" anchor="t"/>
          <a:lstStyle/>
          <a:p>
            <a:pPr algn="l" indent="0" marL="0">
              <a:buNone/>
            </a:pPr>
            <a:r>
              <a:rPr lang="en-US" sz="700" dirty="0">
                <a:solidFill>
                  <a:srgbClr val="5F737D"/>
                </a:solidFill>
                <a:latin typeface="Calibri" pitchFamily="34" charset="0"/>
                <a:ea typeface="Calibri" pitchFamily="34" charset="-122"/>
                <a:cs typeface="Calibri" pitchFamily="34" charset="-120"/>
              </a:rPr>
              <a:t>Meeting 7-1</a:t>
            </a:r>
            <a:endParaRPr lang="en-US" sz="700" dirty="0"/>
          </a:p>
        </p:txBody>
      </p:sp>
      <p:sp>
        <p:nvSpPr>
          <p:cNvPr id="12" name="Text 10"/>
          <p:cNvSpPr txBox="1"/>
          <p:nvPr/>
        </p:nvSpPr>
        <p:spPr>
          <a:xfrm>
            <a:off x="5257514" y="3000420"/>
            <a:ext cx="1097280" cy="164592"/>
          </a:xfrm>
          <a:prstGeom prst="rect">
            <a:avLst/>
          </a:prstGeom>
          <a:noFill/>
          <a:ln/>
        </p:spPr>
        <p:txBody>
          <a:bodyPr wrap="square" lIns="0" tIns="0" rIns="0" bIns="0" rtlCol="0" anchor="t"/>
          <a:lstStyle/>
          <a:p>
            <a:pPr algn="l" indent="0" marL="0">
              <a:buNone/>
            </a:pPr>
            <a:r>
              <a:rPr lang="en-US" sz="700" dirty="0">
                <a:solidFill>
                  <a:srgbClr val="5F737D"/>
                </a:solidFill>
                <a:latin typeface="Calibri" pitchFamily="34" charset="0"/>
                <a:ea typeface="Calibri" pitchFamily="34" charset="-122"/>
                <a:cs typeface="Calibri" pitchFamily="34" charset="-120"/>
              </a:rPr>
              <a:t>Meeting 7-2</a:t>
            </a:r>
            <a:endParaRPr lang="en-US" sz="700" dirty="0"/>
          </a:p>
        </p:txBody>
      </p:sp>
      <p:sp>
        <p:nvSpPr>
          <p:cNvPr id="13" name="Text 11"/>
          <p:cNvSpPr txBox="1"/>
          <p:nvPr/>
        </p:nvSpPr>
        <p:spPr>
          <a:xfrm>
            <a:off x="5257514" y="3919421"/>
            <a:ext cx="1097280" cy="164592"/>
          </a:xfrm>
          <a:prstGeom prst="rect">
            <a:avLst/>
          </a:prstGeom>
          <a:noFill/>
          <a:ln/>
        </p:spPr>
        <p:txBody>
          <a:bodyPr wrap="square" lIns="0" tIns="0" rIns="0" bIns="0" rtlCol="0" anchor="t"/>
          <a:lstStyle/>
          <a:p>
            <a:pPr algn="l" indent="0" marL="0">
              <a:buNone/>
            </a:pPr>
            <a:r>
              <a:rPr lang="en-US" sz="700" dirty="0">
                <a:solidFill>
                  <a:srgbClr val="5F737D"/>
                </a:solidFill>
                <a:latin typeface="Calibri" pitchFamily="34" charset="0"/>
                <a:ea typeface="Calibri" pitchFamily="34" charset="-122"/>
                <a:cs typeface="Calibri" pitchFamily="34" charset="-120"/>
              </a:rPr>
              <a:t>Meeting 7-3</a:t>
            </a:r>
            <a:endParaRPr lang="en-US" sz="700" dirty="0"/>
          </a:p>
        </p:txBody>
      </p:sp>
      <p:sp>
        <p:nvSpPr>
          <p:cNvPr id="14" name="Shape 12"/>
          <p:cNvSpPr/>
          <p:nvPr/>
        </p:nvSpPr>
        <p:spPr>
          <a:xfrm>
            <a:off x="796671" y="4614384"/>
            <a:ext cx="1378458" cy="995584"/>
          </a:xfrm>
          <a:prstGeom prst="rect">
            <a:avLst/>
          </a:prstGeom>
          <a:solidFill>
            <a:srgbClr val="14242C">
              <a:alpha val="6000"/>
            </a:srgbClr>
          </a:solidFill>
          <a:ln w="9525">
            <a:solidFill>
              <a:srgbClr val="CDD9DF"/>
            </a:solidFill>
            <a:prstDash val="solid"/>
          </a:ln>
        </p:spPr>
      </p:sp>
      <p:sp>
        <p:nvSpPr>
          <p:cNvPr id="15" name="Text 13"/>
          <p:cNvSpPr txBox="1"/>
          <p:nvPr/>
        </p:nvSpPr>
        <p:spPr>
          <a:xfrm>
            <a:off x="892397" y="4685255"/>
            <a:ext cx="1097280" cy="164592"/>
          </a:xfrm>
          <a:prstGeom prst="rect">
            <a:avLst/>
          </a:prstGeom>
          <a:noFill/>
          <a:ln/>
        </p:spPr>
        <p:txBody>
          <a:bodyPr wrap="square" lIns="0" tIns="0" rIns="0" bIns="0" rtlCol="0" anchor="t"/>
          <a:lstStyle/>
          <a:p>
            <a:pPr algn="l" indent="0" marL="0">
              <a:buNone/>
            </a:pPr>
            <a:r>
              <a:rPr lang="en-US" sz="700" dirty="0">
                <a:solidFill>
                  <a:srgbClr val="5F737D"/>
                </a:solidFill>
                <a:latin typeface="Calibri" pitchFamily="34" charset="0"/>
                <a:ea typeface="Calibri" pitchFamily="34" charset="-122"/>
                <a:cs typeface="Calibri" pitchFamily="34" charset="-120"/>
              </a:rPr>
              <a:t>Pantry</a:t>
            </a:r>
            <a:endParaRPr lang="en-US" sz="700" dirty="0"/>
          </a:p>
        </p:txBody>
      </p:sp>
      <p:sp>
        <p:nvSpPr>
          <p:cNvPr id="16" name="Shape 14"/>
          <p:cNvSpPr/>
          <p:nvPr/>
        </p:nvSpPr>
        <p:spPr>
          <a:xfrm>
            <a:off x="949833" y="2087132"/>
            <a:ext cx="344615" cy="191458"/>
          </a:xfrm>
          <a:prstGeom prst="rect">
            <a:avLst/>
          </a:prstGeom>
          <a:ln w="7620">
            <a:solidFill>
              <a:srgbClr val="CDD9DF"/>
            </a:solidFill>
            <a:prstDash val="solid"/>
          </a:ln>
        </p:spPr>
      </p:sp>
      <p:sp>
        <p:nvSpPr>
          <p:cNvPr id="17" name="Shape 15"/>
          <p:cNvSpPr/>
          <p:nvPr/>
        </p:nvSpPr>
        <p:spPr>
          <a:xfrm>
            <a:off x="949833" y="2278591"/>
            <a:ext cx="344615" cy="191458"/>
          </a:xfrm>
          <a:prstGeom prst="rect">
            <a:avLst/>
          </a:prstGeom>
          <a:ln w="7620">
            <a:solidFill>
              <a:srgbClr val="CDD9DF"/>
            </a:solidFill>
            <a:prstDash val="solid"/>
          </a:ln>
        </p:spPr>
      </p:sp>
      <p:sp>
        <p:nvSpPr>
          <p:cNvPr id="18" name="Shape 16"/>
          <p:cNvSpPr/>
          <p:nvPr/>
        </p:nvSpPr>
        <p:spPr>
          <a:xfrm>
            <a:off x="1371029" y="2087132"/>
            <a:ext cx="344615" cy="191458"/>
          </a:xfrm>
          <a:prstGeom prst="rect">
            <a:avLst/>
          </a:prstGeom>
          <a:ln w="7620">
            <a:solidFill>
              <a:srgbClr val="CDD9DF"/>
            </a:solidFill>
            <a:prstDash val="solid"/>
          </a:ln>
        </p:spPr>
      </p:sp>
      <p:sp>
        <p:nvSpPr>
          <p:cNvPr id="19" name="Shape 17"/>
          <p:cNvSpPr/>
          <p:nvPr/>
        </p:nvSpPr>
        <p:spPr>
          <a:xfrm>
            <a:off x="1371029" y="2278591"/>
            <a:ext cx="344615" cy="191458"/>
          </a:xfrm>
          <a:prstGeom prst="rect">
            <a:avLst/>
          </a:prstGeom>
          <a:ln w="7620">
            <a:solidFill>
              <a:srgbClr val="CDD9DF"/>
            </a:solidFill>
            <a:prstDash val="solid"/>
          </a:ln>
        </p:spPr>
      </p:sp>
      <p:sp>
        <p:nvSpPr>
          <p:cNvPr id="20" name="Shape 18"/>
          <p:cNvSpPr/>
          <p:nvPr/>
        </p:nvSpPr>
        <p:spPr>
          <a:xfrm>
            <a:off x="1792224" y="2087132"/>
            <a:ext cx="344615" cy="191458"/>
          </a:xfrm>
          <a:prstGeom prst="rect">
            <a:avLst/>
          </a:prstGeom>
          <a:ln w="7620">
            <a:solidFill>
              <a:srgbClr val="CDD9DF"/>
            </a:solidFill>
            <a:prstDash val="solid"/>
          </a:ln>
        </p:spPr>
      </p:sp>
      <p:sp>
        <p:nvSpPr>
          <p:cNvPr id="21" name="Shape 19"/>
          <p:cNvSpPr/>
          <p:nvPr/>
        </p:nvSpPr>
        <p:spPr>
          <a:xfrm>
            <a:off x="1792224" y="2278591"/>
            <a:ext cx="344615" cy="191458"/>
          </a:xfrm>
          <a:prstGeom prst="rect">
            <a:avLst/>
          </a:prstGeom>
          <a:ln w="7620">
            <a:solidFill>
              <a:srgbClr val="CDD9DF"/>
            </a:solidFill>
            <a:prstDash val="solid"/>
          </a:ln>
        </p:spPr>
      </p:sp>
      <p:sp>
        <p:nvSpPr>
          <p:cNvPr id="22" name="Shape 20"/>
          <p:cNvSpPr/>
          <p:nvPr/>
        </p:nvSpPr>
        <p:spPr>
          <a:xfrm>
            <a:off x="2366582" y="2087132"/>
            <a:ext cx="344615" cy="191458"/>
          </a:xfrm>
          <a:prstGeom prst="rect">
            <a:avLst/>
          </a:prstGeom>
          <a:ln w="7620">
            <a:solidFill>
              <a:srgbClr val="CDD9DF"/>
            </a:solidFill>
            <a:prstDash val="solid"/>
          </a:ln>
        </p:spPr>
      </p:sp>
      <p:sp>
        <p:nvSpPr>
          <p:cNvPr id="23" name="Shape 21"/>
          <p:cNvSpPr/>
          <p:nvPr/>
        </p:nvSpPr>
        <p:spPr>
          <a:xfrm>
            <a:off x="2366582" y="2278591"/>
            <a:ext cx="344615" cy="191458"/>
          </a:xfrm>
          <a:prstGeom prst="rect">
            <a:avLst/>
          </a:prstGeom>
          <a:ln w="7620">
            <a:solidFill>
              <a:srgbClr val="CDD9DF"/>
            </a:solidFill>
            <a:prstDash val="solid"/>
          </a:ln>
        </p:spPr>
      </p:sp>
      <p:sp>
        <p:nvSpPr>
          <p:cNvPr id="24" name="Shape 22"/>
          <p:cNvSpPr/>
          <p:nvPr/>
        </p:nvSpPr>
        <p:spPr>
          <a:xfrm>
            <a:off x="2787777" y="2087132"/>
            <a:ext cx="344615" cy="191458"/>
          </a:xfrm>
          <a:prstGeom prst="rect">
            <a:avLst/>
          </a:prstGeom>
          <a:ln w="7620">
            <a:solidFill>
              <a:srgbClr val="CDD9DF"/>
            </a:solidFill>
            <a:prstDash val="solid"/>
          </a:ln>
        </p:spPr>
      </p:sp>
      <p:sp>
        <p:nvSpPr>
          <p:cNvPr id="25" name="Shape 23"/>
          <p:cNvSpPr/>
          <p:nvPr/>
        </p:nvSpPr>
        <p:spPr>
          <a:xfrm>
            <a:off x="2787777" y="2278591"/>
            <a:ext cx="344615" cy="191458"/>
          </a:xfrm>
          <a:prstGeom prst="rect">
            <a:avLst/>
          </a:prstGeom>
          <a:ln w="7620">
            <a:solidFill>
              <a:srgbClr val="CDD9DF"/>
            </a:solidFill>
            <a:prstDash val="solid"/>
          </a:ln>
        </p:spPr>
      </p:sp>
      <p:sp>
        <p:nvSpPr>
          <p:cNvPr id="26" name="Shape 24"/>
          <p:cNvSpPr/>
          <p:nvPr/>
        </p:nvSpPr>
        <p:spPr>
          <a:xfrm>
            <a:off x="3208973" y="2087132"/>
            <a:ext cx="344615" cy="191458"/>
          </a:xfrm>
          <a:prstGeom prst="rect">
            <a:avLst/>
          </a:prstGeom>
          <a:ln w="7620">
            <a:solidFill>
              <a:srgbClr val="CDD9DF"/>
            </a:solidFill>
            <a:prstDash val="solid"/>
          </a:ln>
        </p:spPr>
      </p:sp>
      <p:sp>
        <p:nvSpPr>
          <p:cNvPr id="27" name="Shape 25"/>
          <p:cNvSpPr/>
          <p:nvPr/>
        </p:nvSpPr>
        <p:spPr>
          <a:xfrm>
            <a:off x="3208973" y="2278591"/>
            <a:ext cx="344615" cy="191458"/>
          </a:xfrm>
          <a:prstGeom prst="rect">
            <a:avLst/>
          </a:prstGeom>
          <a:ln w="7620">
            <a:solidFill>
              <a:srgbClr val="CDD9DF"/>
            </a:solidFill>
            <a:prstDash val="solid"/>
          </a:ln>
        </p:spPr>
      </p:sp>
      <p:sp>
        <p:nvSpPr>
          <p:cNvPr id="28" name="Shape 26"/>
          <p:cNvSpPr/>
          <p:nvPr/>
        </p:nvSpPr>
        <p:spPr>
          <a:xfrm>
            <a:off x="3783330" y="2087132"/>
            <a:ext cx="344615" cy="191458"/>
          </a:xfrm>
          <a:prstGeom prst="rect">
            <a:avLst/>
          </a:prstGeom>
          <a:ln w="7620">
            <a:solidFill>
              <a:srgbClr val="CDD9DF"/>
            </a:solidFill>
            <a:prstDash val="solid"/>
          </a:ln>
        </p:spPr>
      </p:sp>
      <p:sp>
        <p:nvSpPr>
          <p:cNvPr id="29" name="Shape 27"/>
          <p:cNvSpPr/>
          <p:nvPr/>
        </p:nvSpPr>
        <p:spPr>
          <a:xfrm>
            <a:off x="3783330" y="2278591"/>
            <a:ext cx="344615" cy="191458"/>
          </a:xfrm>
          <a:prstGeom prst="rect">
            <a:avLst/>
          </a:prstGeom>
          <a:ln w="7620">
            <a:solidFill>
              <a:srgbClr val="CDD9DF"/>
            </a:solidFill>
            <a:prstDash val="solid"/>
          </a:ln>
        </p:spPr>
      </p:sp>
      <p:sp>
        <p:nvSpPr>
          <p:cNvPr id="30" name="Shape 28"/>
          <p:cNvSpPr/>
          <p:nvPr/>
        </p:nvSpPr>
        <p:spPr>
          <a:xfrm>
            <a:off x="4204526" y="2087132"/>
            <a:ext cx="344615" cy="191458"/>
          </a:xfrm>
          <a:prstGeom prst="rect">
            <a:avLst/>
          </a:prstGeom>
          <a:ln w="7620">
            <a:solidFill>
              <a:srgbClr val="CDD9DF"/>
            </a:solidFill>
            <a:prstDash val="solid"/>
          </a:ln>
        </p:spPr>
      </p:sp>
      <p:sp>
        <p:nvSpPr>
          <p:cNvPr id="31" name="Shape 29"/>
          <p:cNvSpPr/>
          <p:nvPr/>
        </p:nvSpPr>
        <p:spPr>
          <a:xfrm>
            <a:off x="4204526" y="2278591"/>
            <a:ext cx="344615" cy="191458"/>
          </a:xfrm>
          <a:prstGeom prst="rect">
            <a:avLst/>
          </a:prstGeom>
          <a:ln w="7620">
            <a:solidFill>
              <a:srgbClr val="CDD9DF"/>
            </a:solidFill>
            <a:prstDash val="solid"/>
          </a:ln>
        </p:spPr>
      </p:sp>
      <p:sp>
        <p:nvSpPr>
          <p:cNvPr id="32" name="Shape 30"/>
          <p:cNvSpPr/>
          <p:nvPr/>
        </p:nvSpPr>
        <p:spPr>
          <a:xfrm>
            <a:off x="4625721" y="2087132"/>
            <a:ext cx="344615" cy="191458"/>
          </a:xfrm>
          <a:prstGeom prst="rect">
            <a:avLst/>
          </a:prstGeom>
          <a:ln w="7620">
            <a:solidFill>
              <a:srgbClr val="CDD9DF"/>
            </a:solidFill>
            <a:prstDash val="solid"/>
          </a:ln>
        </p:spPr>
      </p:sp>
      <p:sp>
        <p:nvSpPr>
          <p:cNvPr id="33" name="Shape 31"/>
          <p:cNvSpPr/>
          <p:nvPr/>
        </p:nvSpPr>
        <p:spPr>
          <a:xfrm>
            <a:off x="4625721" y="2278591"/>
            <a:ext cx="344615" cy="191458"/>
          </a:xfrm>
          <a:prstGeom prst="rect">
            <a:avLst/>
          </a:prstGeom>
          <a:ln w="7620">
            <a:solidFill>
              <a:srgbClr val="CDD9DF"/>
            </a:solidFill>
            <a:prstDash val="solid"/>
          </a:ln>
        </p:spPr>
      </p:sp>
      <p:sp>
        <p:nvSpPr>
          <p:cNvPr id="34" name="Shape 32"/>
          <p:cNvSpPr/>
          <p:nvPr/>
        </p:nvSpPr>
        <p:spPr>
          <a:xfrm>
            <a:off x="949833" y="2623216"/>
            <a:ext cx="344615" cy="191458"/>
          </a:xfrm>
          <a:prstGeom prst="rect">
            <a:avLst/>
          </a:prstGeom>
          <a:ln w="7620">
            <a:solidFill>
              <a:srgbClr val="CDD9DF"/>
            </a:solidFill>
            <a:prstDash val="solid"/>
          </a:ln>
        </p:spPr>
      </p:sp>
      <p:sp>
        <p:nvSpPr>
          <p:cNvPr id="35" name="Shape 33"/>
          <p:cNvSpPr/>
          <p:nvPr/>
        </p:nvSpPr>
        <p:spPr>
          <a:xfrm>
            <a:off x="949833" y="2814675"/>
            <a:ext cx="344615" cy="191458"/>
          </a:xfrm>
          <a:prstGeom prst="rect">
            <a:avLst/>
          </a:prstGeom>
          <a:ln w="7620">
            <a:solidFill>
              <a:srgbClr val="CDD9DF"/>
            </a:solidFill>
            <a:prstDash val="solid"/>
          </a:ln>
        </p:spPr>
      </p:sp>
      <p:sp>
        <p:nvSpPr>
          <p:cNvPr id="36" name="Shape 34"/>
          <p:cNvSpPr/>
          <p:nvPr/>
        </p:nvSpPr>
        <p:spPr>
          <a:xfrm>
            <a:off x="1371029" y="2623216"/>
            <a:ext cx="344615" cy="191458"/>
          </a:xfrm>
          <a:prstGeom prst="rect">
            <a:avLst/>
          </a:prstGeom>
          <a:ln w="7620">
            <a:solidFill>
              <a:srgbClr val="CDD9DF"/>
            </a:solidFill>
            <a:prstDash val="solid"/>
          </a:ln>
        </p:spPr>
      </p:sp>
      <p:sp>
        <p:nvSpPr>
          <p:cNvPr id="37" name="Shape 35"/>
          <p:cNvSpPr/>
          <p:nvPr/>
        </p:nvSpPr>
        <p:spPr>
          <a:xfrm>
            <a:off x="1371029" y="2814675"/>
            <a:ext cx="344615" cy="191458"/>
          </a:xfrm>
          <a:prstGeom prst="rect">
            <a:avLst/>
          </a:prstGeom>
          <a:ln w="7620">
            <a:solidFill>
              <a:srgbClr val="CDD9DF"/>
            </a:solidFill>
            <a:prstDash val="solid"/>
          </a:ln>
        </p:spPr>
      </p:sp>
      <p:sp>
        <p:nvSpPr>
          <p:cNvPr id="38" name="Shape 36"/>
          <p:cNvSpPr/>
          <p:nvPr/>
        </p:nvSpPr>
        <p:spPr>
          <a:xfrm>
            <a:off x="1792224" y="2623216"/>
            <a:ext cx="344615" cy="191458"/>
          </a:xfrm>
          <a:prstGeom prst="rect">
            <a:avLst/>
          </a:prstGeom>
          <a:ln w="7620">
            <a:solidFill>
              <a:srgbClr val="CDD9DF"/>
            </a:solidFill>
            <a:prstDash val="solid"/>
          </a:ln>
        </p:spPr>
      </p:sp>
      <p:sp>
        <p:nvSpPr>
          <p:cNvPr id="39" name="Shape 37"/>
          <p:cNvSpPr/>
          <p:nvPr/>
        </p:nvSpPr>
        <p:spPr>
          <a:xfrm>
            <a:off x="1792224" y="2814675"/>
            <a:ext cx="344615" cy="191458"/>
          </a:xfrm>
          <a:prstGeom prst="rect">
            <a:avLst/>
          </a:prstGeom>
          <a:ln w="7620">
            <a:solidFill>
              <a:srgbClr val="CDD9DF"/>
            </a:solidFill>
            <a:prstDash val="solid"/>
          </a:ln>
        </p:spPr>
      </p:sp>
      <p:sp>
        <p:nvSpPr>
          <p:cNvPr id="40" name="Shape 38"/>
          <p:cNvSpPr/>
          <p:nvPr/>
        </p:nvSpPr>
        <p:spPr>
          <a:xfrm>
            <a:off x="2366582" y="2623216"/>
            <a:ext cx="344615" cy="191458"/>
          </a:xfrm>
          <a:prstGeom prst="rect">
            <a:avLst/>
          </a:prstGeom>
          <a:ln w="7620">
            <a:solidFill>
              <a:srgbClr val="CDD9DF"/>
            </a:solidFill>
            <a:prstDash val="solid"/>
          </a:ln>
        </p:spPr>
      </p:sp>
      <p:sp>
        <p:nvSpPr>
          <p:cNvPr id="41" name="Shape 39"/>
          <p:cNvSpPr/>
          <p:nvPr/>
        </p:nvSpPr>
        <p:spPr>
          <a:xfrm>
            <a:off x="2366582" y="2814675"/>
            <a:ext cx="344615" cy="191458"/>
          </a:xfrm>
          <a:prstGeom prst="rect">
            <a:avLst/>
          </a:prstGeom>
          <a:ln w="7620">
            <a:solidFill>
              <a:srgbClr val="CDD9DF"/>
            </a:solidFill>
            <a:prstDash val="solid"/>
          </a:ln>
        </p:spPr>
      </p:sp>
      <p:sp>
        <p:nvSpPr>
          <p:cNvPr id="42" name="Shape 40"/>
          <p:cNvSpPr/>
          <p:nvPr/>
        </p:nvSpPr>
        <p:spPr>
          <a:xfrm>
            <a:off x="2787777" y="2623216"/>
            <a:ext cx="344615" cy="191458"/>
          </a:xfrm>
          <a:prstGeom prst="rect">
            <a:avLst/>
          </a:prstGeom>
          <a:ln w="7620">
            <a:solidFill>
              <a:srgbClr val="CDD9DF"/>
            </a:solidFill>
            <a:prstDash val="solid"/>
          </a:ln>
        </p:spPr>
      </p:sp>
      <p:sp>
        <p:nvSpPr>
          <p:cNvPr id="43" name="Shape 41"/>
          <p:cNvSpPr/>
          <p:nvPr/>
        </p:nvSpPr>
        <p:spPr>
          <a:xfrm>
            <a:off x="2787777" y="2814675"/>
            <a:ext cx="344615" cy="191458"/>
          </a:xfrm>
          <a:prstGeom prst="rect">
            <a:avLst/>
          </a:prstGeom>
          <a:ln w="7620">
            <a:solidFill>
              <a:srgbClr val="CDD9DF"/>
            </a:solidFill>
            <a:prstDash val="solid"/>
          </a:ln>
        </p:spPr>
      </p:sp>
      <p:sp>
        <p:nvSpPr>
          <p:cNvPr id="44" name="Shape 42"/>
          <p:cNvSpPr/>
          <p:nvPr/>
        </p:nvSpPr>
        <p:spPr>
          <a:xfrm>
            <a:off x="3208973" y="2623216"/>
            <a:ext cx="344615" cy="191458"/>
          </a:xfrm>
          <a:prstGeom prst="rect">
            <a:avLst/>
          </a:prstGeom>
          <a:ln w="7620">
            <a:solidFill>
              <a:srgbClr val="CDD9DF"/>
            </a:solidFill>
            <a:prstDash val="solid"/>
          </a:ln>
        </p:spPr>
      </p:sp>
      <p:sp>
        <p:nvSpPr>
          <p:cNvPr id="45" name="Shape 43"/>
          <p:cNvSpPr/>
          <p:nvPr/>
        </p:nvSpPr>
        <p:spPr>
          <a:xfrm>
            <a:off x="3208973" y="2814675"/>
            <a:ext cx="344615" cy="191458"/>
          </a:xfrm>
          <a:prstGeom prst="rect">
            <a:avLst/>
          </a:prstGeom>
          <a:ln w="7620">
            <a:solidFill>
              <a:srgbClr val="CDD9DF"/>
            </a:solidFill>
            <a:prstDash val="solid"/>
          </a:ln>
        </p:spPr>
      </p:sp>
      <p:sp>
        <p:nvSpPr>
          <p:cNvPr id="46" name="Shape 44"/>
          <p:cNvSpPr/>
          <p:nvPr/>
        </p:nvSpPr>
        <p:spPr>
          <a:xfrm>
            <a:off x="3783330" y="2623216"/>
            <a:ext cx="344615" cy="191458"/>
          </a:xfrm>
          <a:prstGeom prst="rect">
            <a:avLst/>
          </a:prstGeom>
          <a:ln w="7620">
            <a:solidFill>
              <a:srgbClr val="CDD9DF"/>
            </a:solidFill>
            <a:prstDash val="solid"/>
          </a:ln>
        </p:spPr>
      </p:sp>
      <p:sp>
        <p:nvSpPr>
          <p:cNvPr id="47" name="Shape 45"/>
          <p:cNvSpPr/>
          <p:nvPr/>
        </p:nvSpPr>
        <p:spPr>
          <a:xfrm>
            <a:off x="3783330" y="2814675"/>
            <a:ext cx="344615" cy="191458"/>
          </a:xfrm>
          <a:prstGeom prst="rect">
            <a:avLst/>
          </a:prstGeom>
          <a:ln w="7620">
            <a:solidFill>
              <a:srgbClr val="CDD9DF"/>
            </a:solidFill>
            <a:prstDash val="solid"/>
          </a:ln>
        </p:spPr>
      </p:sp>
      <p:sp>
        <p:nvSpPr>
          <p:cNvPr id="48" name="Shape 46"/>
          <p:cNvSpPr/>
          <p:nvPr/>
        </p:nvSpPr>
        <p:spPr>
          <a:xfrm>
            <a:off x="4204526" y="2623216"/>
            <a:ext cx="344615" cy="191458"/>
          </a:xfrm>
          <a:prstGeom prst="rect">
            <a:avLst/>
          </a:prstGeom>
          <a:ln w="7620">
            <a:solidFill>
              <a:srgbClr val="CDD9DF"/>
            </a:solidFill>
            <a:prstDash val="solid"/>
          </a:ln>
        </p:spPr>
      </p:sp>
      <p:sp>
        <p:nvSpPr>
          <p:cNvPr id="49" name="Shape 47"/>
          <p:cNvSpPr/>
          <p:nvPr/>
        </p:nvSpPr>
        <p:spPr>
          <a:xfrm>
            <a:off x="4204526" y="2814675"/>
            <a:ext cx="344615" cy="191458"/>
          </a:xfrm>
          <a:prstGeom prst="rect">
            <a:avLst/>
          </a:prstGeom>
          <a:ln w="7620">
            <a:solidFill>
              <a:srgbClr val="CDD9DF"/>
            </a:solidFill>
            <a:prstDash val="solid"/>
          </a:ln>
        </p:spPr>
      </p:sp>
      <p:sp>
        <p:nvSpPr>
          <p:cNvPr id="50" name="Shape 48"/>
          <p:cNvSpPr/>
          <p:nvPr/>
        </p:nvSpPr>
        <p:spPr>
          <a:xfrm>
            <a:off x="4625721" y="2623216"/>
            <a:ext cx="344615" cy="191458"/>
          </a:xfrm>
          <a:prstGeom prst="rect">
            <a:avLst/>
          </a:prstGeom>
          <a:ln w="7620">
            <a:solidFill>
              <a:srgbClr val="CDD9DF"/>
            </a:solidFill>
            <a:prstDash val="solid"/>
          </a:ln>
        </p:spPr>
      </p:sp>
      <p:sp>
        <p:nvSpPr>
          <p:cNvPr id="51" name="Shape 49"/>
          <p:cNvSpPr/>
          <p:nvPr/>
        </p:nvSpPr>
        <p:spPr>
          <a:xfrm>
            <a:off x="4625721" y="2814675"/>
            <a:ext cx="344615" cy="191458"/>
          </a:xfrm>
          <a:prstGeom prst="rect">
            <a:avLst/>
          </a:prstGeom>
          <a:ln w="7620">
            <a:solidFill>
              <a:srgbClr val="CDD9DF"/>
            </a:solidFill>
            <a:prstDash val="solid"/>
          </a:ln>
        </p:spPr>
      </p:sp>
      <p:sp>
        <p:nvSpPr>
          <p:cNvPr id="52" name="Shape 50"/>
          <p:cNvSpPr/>
          <p:nvPr/>
        </p:nvSpPr>
        <p:spPr>
          <a:xfrm>
            <a:off x="2404872" y="4767551"/>
            <a:ext cx="344615" cy="191458"/>
          </a:xfrm>
          <a:prstGeom prst="rect">
            <a:avLst/>
          </a:prstGeom>
          <a:ln w="7620">
            <a:solidFill>
              <a:srgbClr val="CDD9DF"/>
            </a:solidFill>
            <a:prstDash val="solid"/>
          </a:ln>
        </p:spPr>
      </p:sp>
      <p:sp>
        <p:nvSpPr>
          <p:cNvPr id="53" name="Shape 51"/>
          <p:cNvSpPr/>
          <p:nvPr/>
        </p:nvSpPr>
        <p:spPr>
          <a:xfrm>
            <a:off x="2404872" y="4959010"/>
            <a:ext cx="344615" cy="191458"/>
          </a:xfrm>
          <a:prstGeom prst="rect">
            <a:avLst/>
          </a:prstGeom>
          <a:ln w="7620">
            <a:solidFill>
              <a:srgbClr val="CDD9DF"/>
            </a:solidFill>
            <a:prstDash val="solid"/>
          </a:ln>
        </p:spPr>
      </p:sp>
      <p:sp>
        <p:nvSpPr>
          <p:cNvPr id="54" name="Shape 52"/>
          <p:cNvSpPr/>
          <p:nvPr/>
        </p:nvSpPr>
        <p:spPr>
          <a:xfrm>
            <a:off x="2826068" y="4767551"/>
            <a:ext cx="344615" cy="191458"/>
          </a:xfrm>
          <a:prstGeom prst="rect">
            <a:avLst/>
          </a:prstGeom>
          <a:ln w="7620">
            <a:solidFill>
              <a:srgbClr val="CDD9DF"/>
            </a:solidFill>
            <a:prstDash val="solid"/>
          </a:ln>
        </p:spPr>
      </p:sp>
      <p:sp>
        <p:nvSpPr>
          <p:cNvPr id="55" name="Shape 53"/>
          <p:cNvSpPr/>
          <p:nvPr/>
        </p:nvSpPr>
        <p:spPr>
          <a:xfrm>
            <a:off x="2826068" y="4959010"/>
            <a:ext cx="344615" cy="191458"/>
          </a:xfrm>
          <a:prstGeom prst="rect">
            <a:avLst/>
          </a:prstGeom>
          <a:ln w="7620">
            <a:solidFill>
              <a:srgbClr val="CDD9DF"/>
            </a:solidFill>
            <a:prstDash val="solid"/>
          </a:ln>
        </p:spPr>
      </p:sp>
      <p:sp>
        <p:nvSpPr>
          <p:cNvPr id="56" name="Shape 54"/>
          <p:cNvSpPr/>
          <p:nvPr/>
        </p:nvSpPr>
        <p:spPr>
          <a:xfrm>
            <a:off x="3247263" y="4767551"/>
            <a:ext cx="344615" cy="191458"/>
          </a:xfrm>
          <a:prstGeom prst="rect">
            <a:avLst/>
          </a:prstGeom>
          <a:ln w="7620">
            <a:solidFill>
              <a:srgbClr val="CDD9DF"/>
            </a:solidFill>
            <a:prstDash val="solid"/>
          </a:ln>
        </p:spPr>
      </p:sp>
      <p:sp>
        <p:nvSpPr>
          <p:cNvPr id="57" name="Shape 55"/>
          <p:cNvSpPr/>
          <p:nvPr/>
        </p:nvSpPr>
        <p:spPr>
          <a:xfrm>
            <a:off x="3247263" y="4959010"/>
            <a:ext cx="344615" cy="191458"/>
          </a:xfrm>
          <a:prstGeom prst="rect">
            <a:avLst/>
          </a:prstGeom>
          <a:ln w="7620">
            <a:solidFill>
              <a:srgbClr val="CDD9DF"/>
            </a:solidFill>
            <a:prstDash val="solid"/>
          </a:ln>
        </p:spPr>
      </p:sp>
      <p:sp>
        <p:nvSpPr>
          <p:cNvPr id="58" name="Shape 56"/>
          <p:cNvSpPr/>
          <p:nvPr/>
        </p:nvSpPr>
        <p:spPr>
          <a:xfrm>
            <a:off x="3821621" y="4767551"/>
            <a:ext cx="344615" cy="191458"/>
          </a:xfrm>
          <a:prstGeom prst="rect">
            <a:avLst/>
          </a:prstGeom>
          <a:ln w="7620">
            <a:solidFill>
              <a:srgbClr val="CDD9DF"/>
            </a:solidFill>
            <a:prstDash val="solid"/>
          </a:ln>
        </p:spPr>
      </p:sp>
      <p:sp>
        <p:nvSpPr>
          <p:cNvPr id="59" name="Shape 57"/>
          <p:cNvSpPr/>
          <p:nvPr/>
        </p:nvSpPr>
        <p:spPr>
          <a:xfrm>
            <a:off x="3821621" y="4959010"/>
            <a:ext cx="344615" cy="191458"/>
          </a:xfrm>
          <a:prstGeom prst="rect">
            <a:avLst/>
          </a:prstGeom>
          <a:ln w="7620">
            <a:solidFill>
              <a:srgbClr val="CDD9DF"/>
            </a:solidFill>
            <a:prstDash val="solid"/>
          </a:ln>
        </p:spPr>
      </p:sp>
      <p:sp>
        <p:nvSpPr>
          <p:cNvPr id="60" name="Shape 58"/>
          <p:cNvSpPr/>
          <p:nvPr/>
        </p:nvSpPr>
        <p:spPr>
          <a:xfrm>
            <a:off x="4242816" y="4767551"/>
            <a:ext cx="344615" cy="191458"/>
          </a:xfrm>
          <a:prstGeom prst="rect">
            <a:avLst/>
          </a:prstGeom>
          <a:ln w="7620">
            <a:solidFill>
              <a:srgbClr val="CDD9DF"/>
            </a:solidFill>
            <a:prstDash val="solid"/>
          </a:ln>
        </p:spPr>
      </p:sp>
      <p:sp>
        <p:nvSpPr>
          <p:cNvPr id="61" name="Shape 59"/>
          <p:cNvSpPr/>
          <p:nvPr/>
        </p:nvSpPr>
        <p:spPr>
          <a:xfrm>
            <a:off x="4242816" y="4959010"/>
            <a:ext cx="344615" cy="191458"/>
          </a:xfrm>
          <a:prstGeom prst="rect">
            <a:avLst/>
          </a:prstGeom>
          <a:ln w="7620">
            <a:solidFill>
              <a:srgbClr val="CDD9DF"/>
            </a:solidFill>
            <a:prstDash val="solid"/>
          </a:ln>
        </p:spPr>
      </p:sp>
      <p:sp>
        <p:nvSpPr>
          <p:cNvPr id="62" name="Shape 60"/>
          <p:cNvSpPr/>
          <p:nvPr/>
        </p:nvSpPr>
        <p:spPr>
          <a:xfrm>
            <a:off x="4664012" y="4767551"/>
            <a:ext cx="344615" cy="191458"/>
          </a:xfrm>
          <a:prstGeom prst="rect">
            <a:avLst/>
          </a:prstGeom>
          <a:ln w="7620">
            <a:solidFill>
              <a:srgbClr val="CDD9DF"/>
            </a:solidFill>
            <a:prstDash val="solid"/>
          </a:ln>
        </p:spPr>
      </p:sp>
      <p:sp>
        <p:nvSpPr>
          <p:cNvPr id="63" name="Shape 61"/>
          <p:cNvSpPr/>
          <p:nvPr/>
        </p:nvSpPr>
        <p:spPr>
          <a:xfrm>
            <a:off x="4664012" y="4959010"/>
            <a:ext cx="344615" cy="191458"/>
          </a:xfrm>
          <a:prstGeom prst="rect">
            <a:avLst/>
          </a:prstGeom>
          <a:ln w="7620">
            <a:solidFill>
              <a:srgbClr val="CDD9DF"/>
            </a:solidFill>
            <a:prstDash val="solid"/>
          </a:ln>
        </p:spPr>
      </p:sp>
      <p:sp>
        <p:nvSpPr>
          <p:cNvPr id="64" name="Shape 62"/>
          <p:cNvSpPr/>
          <p:nvPr/>
        </p:nvSpPr>
        <p:spPr>
          <a:xfrm>
            <a:off x="949833" y="3312467"/>
            <a:ext cx="344615" cy="191458"/>
          </a:xfrm>
          <a:prstGeom prst="rect">
            <a:avLst/>
          </a:prstGeom>
          <a:ln w="7620">
            <a:solidFill>
              <a:srgbClr val="CDD9DF"/>
            </a:solidFill>
            <a:prstDash val="solid"/>
          </a:ln>
        </p:spPr>
      </p:sp>
      <p:sp>
        <p:nvSpPr>
          <p:cNvPr id="65" name="Shape 63"/>
          <p:cNvSpPr/>
          <p:nvPr/>
        </p:nvSpPr>
        <p:spPr>
          <a:xfrm>
            <a:off x="949833" y="3503925"/>
            <a:ext cx="344615" cy="191458"/>
          </a:xfrm>
          <a:prstGeom prst="rect">
            <a:avLst/>
          </a:prstGeom>
          <a:ln w="7620">
            <a:solidFill>
              <a:srgbClr val="CDD9DF"/>
            </a:solidFill>
            <a:prstDash val="solid"/>
          </a:ln>
        </p:spPr>
      </p:sp>
      <p:sp>
        <p:nvSpPr>
          <p:cNvPr id="66" name="Shape 64"/>
          <p:cNvSpPr/>
          <p:nvPr/>
        </p:nvSpPr>
        <p:spPr>
          <a:xfrm>
            <a:off x="1371029" y="3312467"/>
            <a:ext cx="344615" cy="191458"/>
          </a:xfrm>
          <a:prstGeom prst="rect">
            <a:avLst/>
          </a:prstGeom>
          <a:ln w="7620">
            <a:solidFill>
              <a:srgbClr val="CDD9DF"/>
            </a:solidFill>
            <a:prstDash val="solid"/>
          </a:ln>
        </p:spPr>
      </p:sp>
      <p:sp>
        <p:nvSpPr>
          <p:cNvPr id="67" name="Shape 65"/>
          <p:cNvSpPr/>
          <p:nvPr/>
        </p:nvSpPr>
        <p:spPr>
          <a:xfrm>
            <a:off x="1371029" y="3503925"/>
            <a:ext cx="344615" cy="191458"/>
          </a:xfrm>
          <a:prstGeom prst="rect">
            <a:avLst/>
          </a:prstGeom>
          <a:ln w="7620">
            <a:solidFill>
              <a:srgbClr val="CDD9DF"/>
            </a:solidFill>
            <a:prstDash val="solid"/>
          </a:ln>
        </p:spPr>
      </p:sp>
      <p:sp>
        <p:nvSpPr>
          <p:cNvPr id="68" name="Shape 66"/>
          <p:cNvSpPr/>
          <p:nvPr/>
        </p:nvSpPr>
        <p:spPr>
          <a:xfrm>
            <a:off x="1792224" y="3312467"/>
            <a:ext cx="344615" cy="191458"/>
          </a:xfrm>
          <a:prstGeom prst="rect">
            <a:avLst/>
          </a:prstGeom>
          <a:ln w="7620">
            <a:solidFill>
              <a:srgbClr val="CDD9DF"/>
            </a:solidFill>
            <a:prstDash val="solid"/>
          </a:ln>
        </p:spPr>
      </p:sp>
      <p:sp>
        <p:nvSpPr>
          <p:cNvPr id="69" name="Shape 67"/>
          <p:cNvSpPr/>
          <p:nvPr/>
        </p:nvSpPr>
        <p:spPr>
          <a:xfrm>
            <a:off x="1792224" y="3503925"/>
            <a:ext cx="344615" cy="191458"/>
          </a:xfrm>
          <a:prstGeom prst="rect">
            <a:avLst/>
          </a:prstGeom>
          <a:ln w="7620">
            <a:solidFill>
              <a:srgbClr val="CDD9DF"/>
            </a:solidFill>
            <a:prstDash val="solid"/>
          </a:ln>
        </p:spPr>
      </p:sp>
      <p:sp>
        <p:nvSpPr>
          <p:cNvPr id="70" name="Shape 68"/>
          <p:cNvSpPr/>
          <p:nvPr/>
        </p:nvSpPr>
        <p:spPr>
          <a:xfrm>
            <a:off x="949833" y="3848550"/>
            <a:ext cx="344615" cy="191458"/>
          </a:xfrm>
          <a:prstGeom prst="rect">
            <a:avLst/>
          </a:prstGeom>
          <a:ln w="7620">
            <a:solidFill>
              <a:srgbClr val="CDD9DF"/>
            </a:solidFill>
            <a:prstDash val="solid"/>
          </a:ln>
        </p:spPr>
      </p:sp>
      <p:sp>
        <p:nvSpPr>
          <p:cNvPr id="71" name="Shape 69"/>
          <p:cNvSpPr/>
          <p:nvPr/>
        </p:nvSpPr>
        <p:spPr>
          <a:xfrm>
            <a:off x="949833" y="4040009"/>
            <a:ext cx="344615" cy="191458"/>
          </a:xfrm>
          <a:prstGeom prst="rect">
            <a:avLst/>
          </a:prstGeom>
          <a:ln w="7620">
            <a:solidFill>
              <a:srgbClr val="CDD9DF"/>
            </a:solidFill>
            <a:prstDash val="solid"/>
          </a:ln>
        </p:spPr>
      </p:sp>
      <p:sp>
        <p:nvSpPr>
          <p:cNvPr id="72" name="Shape 70"/>
          <p:cNvSpPr/>
          <p:nvPr/>
        </p:nvSpPr>
        <p:spPr>
          <a:xfrm>
            <a:off x="1371029" y="3848550"/>
            <a:ext cx="344615" cy="191458"/>
          </a:xfrm>
          <a:prstGeom prst="rect">
            <a:avLst/>
          </a:prstGeom>
          <a:ln w="7620">
            <a:solidFill>
              <a:srgbClr val="CDD9DF"/>
            </a:solidFill>
            <a:prstDash val="solid"/>
          </a:ln>
        </p:spPr>
      </p:sp>
      <p:sp>
        <p:nvSpPr>
          <p:cNvPr id="73" name="Shape 71"/>
          <p:cNvSpPr/>
          <p:nvPr/>
        </p:nvSpPr>
        <p:spPr>
          <a:xfrm>
            <a:off x="1371029" y="4040009"/>
            <a:ext cx="344615" cy="191458"/>
          </a:xfrm>
          <a:prstGeom prst="rect">
            <a:avLst/>
          </a:prstGeom>
          <a:ln w="7620">
            <a:solidFill>
              <a:srgbClr val="CDD9DF"/>
            </a:solidFill>
            <a:prstDash val="solid"/>
          </a:ln>
        </p:spPr>
      </p:sp>
      <p:sp>
        <p:nvSpPr>
          <p:cNvPr id="74" name="Shape 72"/>
          <p:cNvSpPr/>
          <p:nvPr/>
        </p:nvSpPr>
        <p:spPr>
          <a:xfrm>
            <a:off x="1792224" y="3848550"/>
            <a:ext cx="344615" cy="191458"/>
          </a:xfrm>
          <a:prstGeom prst="rect">
            <a:avLst/>
          </a:prstGeom>
          <a:ln w="7620">
            <a:solidFill>
              <a:srgbClr val="CDD9DF"/>
            </a:solidFill>
            <a:prstDash val="solid"/>
          </a:ln>
        </p:spPr>
      </p:sp>
      <p:sp>
        <p:nvSpPr>
          <p:cNvPr id="75" name="Shape 73"/>
          <p:cNvSpPr/>
          <p:nvPr/>
        </p:nvSpPr>
        <p:spPr>
          <a:xfrm>
            <a:off x="1792224" y="4040009"/>
            <a:ext cx="344615" cy="191458"/>
          </a:xfrm>
          <a:prstGeom prst="rect">
            <a:avLst/>
          </a:prstGeom>
          <a:ln w="7620">
            <a:solidFill>
              <a:srgbClr val="CDD9DF"/>
            </a:solidFill>
            <a:prstDash val="solid"/>
          </a:ln>
        </p:spPr>
      </p:sp>
      <p:sp>
        <p:nvSpPr>
          <p:cNvPr id="76" name="Shape 74"/>
          <p:cNvSpPr/>
          <p:nvPr/>
        </p:nvSpPr>
        <p:spPr>
          <a:xfrm>
            <a:off x="2821473" y="1592423"/>
            <a:ext cx="1249802" cy="1249802"/>
          </a:xfrm>
          <a:prstGeom prst="ellipse">
            <a:avLst/>
          </a:prstGeom>
          <a:solidFill>
            <a:srgbClr val="C8532D">
              <a:alpha val="14000"/>
            </a:srgbClr>
          </a:solidFill>
          <a:ln/>
        </p:spPr>
      </p:sp>
      <p:sp>
        <p:nvSpPr>
          <p:cNvPr id="77" name="Shape 75"/>
          <p:cNvSpPr/>
          <p:nvPr/>
        </p:nvSpPr>
        <p:spPr>
          <a:xfrm>
            <a:off x="2946453" y="1717403"/>
            <a:ext cx="999842" cy="999842"/>
          </a:xfrm>
          <a:prstGeom prst="ellipse">
            <a:avLst/>
          </a:prstGeom>
          <a:solidFill>
            <a:srgbClr val="C8532D">
              <a:alpha val="24000"/>
            </a:srgbClr>
          </a:solidFill>
          <a:ln/>
        </p:spPr>
      </p:sp>
      <p:sp>
        <p:nvSpPr>
          <p:cNvPr id="78" name="Shape 76"/>
          <p:cNvSpPr/>
          <p:nvPr/>
        </p:nvSpPr>
        <p:spPr>
          <a:xfrm>
            <a:off x="3058935" y="1829886"/>
            <a:ext cx="774877" cy="774877"/>
          </a:xfrm>
          <a:prstGeom prst="ellipse">
            <a:avLst/>
          </a:prstGeom>
          <a:solidFill>
            <a:srgbClr val="C8532D">
              <a:alpha val="35000"/>
            </a:srgbClr>
          </a:solidFill>
          <a:ln/>
        </p:spPr>
      </p:sp>
      <p:sp>
        <p:nvSpPr>
          <p:cNvPr id="79" name="Shape 77"/>
          <p:cNvSpPr/>
          <p:nvPr/>
        </p:nvSpPr>
        <p:spPr>
          <a:xfrm>
            <a:off x="3165168" y="1936119"/>
            <a:ext cx="562411" cy="562411"/>
          </a:xfrm>
          <a:prstGeom prst="ellipse">
            <a:avLst/>
          </a:prstGeom>
          <a:solidFill>
            <a:srgbClr val="C8532D">
              <a:alpha val="46000"/>
            </a:srgbClr>
          </a:solidFill>
          <a:ln/>
        </p:spPr>
      </p:sp>
      <p:sp>
        <p:nvSpPr>
          <p:cNvPr id="80" name="Shape 78"/>
          <p:cNvSpPr/>
          <p:nvPr/>
        </p:nvSpPr>
        <p:spPr>
          <a:xfrm>
            <a:off x="3271401" y="2042352"/>
            <a:ext cx="349945" cy="349945"/>
          </a:xfrm>
          <a:prstGeom prst="ellipse">
            <a:avLst/>
          </a:prstGeom>
          <a:solidFill>
            <a:srgbClr val="C8532D">
              <a:alpha val="57000"/>
            </a:srgbClr>
          </a:solidFill>
          <a:ln/>
        </p:spPr>
      </p:sp>
      <p:sp>
        <p:nvSpPr>
          <p:cNvPr id="81" name="Shape 79"/>
          <p:cNvSpPr/>
          <p:nvPr/>
        </p:nvSpPr>
        <p:spPr>
          <a:xfrm>
            <a:off x="1011098" y="2883618"/>
            <a:ext cx="1194664" cy="1194664"/>
          </a:xfrm>
          <a:prstGeom prst="ellipse">
            <a:avLst/>
          </a:prstGeom>
          <a:solidFill>
            <a:srgbClr val="3275B7">
              <a:alpha val="13000"/>
            </a:srgbClr>
          </a:solidFill>
          <a:ln/>
        </p:spPr>
      </p:sp>
      <p:sp>
        <p:nvSpPr>
          <p:cNvPr id="82" name="Shape 80"/>
          <p:cNvSpPr/>
          <p:nvPr/>
        </p:nvSpPr>
        <p:spPr>
          <a:xfrm>
            <a:off x="1130564" y="3003085"/>
            <a:ext cx="955731" cy="955731"/>
          </a:xfrm>
          <a:prstGeom prst="ellipse">
            <a:avLst/>
          </a:prstGeom>
          <a:solidFill>
            <a:srgbClr val="3275B7">
              <a:alpha val="24000"/>
            </a:srgbClr>
          </a:solidFill>
          <a:ln/>
        </p:spPr>
      </p:sp>
      <p:sp>
        <p:nvSpPr>
          <p:cNvPr id="83" name="Shape 81"/>
          <p:cNvSpPr/>
          <p:nvPr/>
        </p:nvSpPr>
        <p:spPr>
          <a:xfrm>
            <a:off x="1238084" y="3110604"/>
            <a:ext cx="740691" cy="740691"/>
          </a:xfrm>
          <a:prstGeom prst="ellipse">
            <a:avLst/>
          </a:prstGeom>
          <a:solidFill>
            <a:srgbClr val="3275B7">
              <a:alpha val="35000"/>
            </a:srgbClr>
          </a:solidFill>
          <a:ln/>
        </p:spPr>
      </p:sp>
      <p:sp>
        <p:nvSpPr>
          <p:cNvPr id="84" name="Shape 82"/>
          <p:cNvSpPr/>
          <p:nvPr/>
        </p:nvSpPr>
        <p:spPr>
          <a:xfrm>
            <a:off x="1339630" y="3212151"/>
            <a:ext cx="537599" cy="537599"/>
          </a:xfrm>
          <a:prstGeom prst="ellipse">
            <a:avLst/>
          </a:prstGeom>
          <a:solidFill>
            <a:srgbClr val="3275B7">
              <a:alpha val="45000"/>
            </a:srgbClr>
          </a:solidFill>
          <a:ln/>
        </p:spPr>
      </p:sp>
      <p:sp>
        <p:nvSpPr>
          <p:cNvPr id="85" name="Shape 83"/>
          <p:cNvSpPr/>
          <p:nvPr/>
        </p:nvSpPr>
        <p:spPr>
          <a:xfrm>
            <a:off x="1441177" y="3313697"/>
            <a:ext cx="334506" cy="334506"/>
          </a:xfrm>
          <a:prstGeom prst="ellipse">
            <a:avLst/>
          </a:prstGeom>
          <a:solidFill>
            <a:srgbClr val="3275B7">
              <a:alpha val="56000"/>
            </a:srgbClr>
          </a:solidFill>
          <a:ln/>
        </p:spPr>
      </p:sp>
      <p:sp>
        <p:nvSpPr>
          <p:cNvPr id="86" name="Shape 84"/>
          <p:cNvSpPr/>
          <p:nvPr/>
        </p:nvSpPr>
        <p:spPr>
          <a:xfrm>
            <a:off x="916137" y="4343297"/>
            <a:ext cx="1139525" cy="1139525"/>
          </a:xfrm>
          <a:prstGeom prst="ellipse">
            <a:avLst/>
          </a:prstGeom>
          <a:solidFill>
            <a:srgbClr val="53996E">
              <a:alpha val="8000"/>
            </a:srgbClr>
          </a:solidFill>
          <a:ln/>
        </p:spPr>
      </p:sp>
      <p:sp>
        <p:nvSpPr>
          <p:cNvPr id="87" name="Shape 85"/>
          <p:cNvSpPr/>
          <p:nvPr/>
        </p:nvSpPr>
        <p:spPr>
          <a:xfrm>
            <a:off x="1030090" y="4457249"/>
            <a:ext cx="911620" cy="911620"/>
          </a:xfrm>
          <a:prstGeom prst="ellipse">
            <a:avLst/>
          </a:prstGeom>
          <a:solidFill>
            <a:srgbClr val="53996E">
              <a:alpha val="13000"/>
            </a:srgbClr>
          </a:solidFill>
          <a:ln/>
        </p:spPr>
      </p:sp>
      <p:sp>
        <p:nvSpPr>
          <p:cNvPr id="88" name="Shape 86"/>
          <p:cNvSpPr/>
          <p:nvPr/>
        </p:nvSpPr>
        <p:spPr>
          <a:xfrm>
            <a:off x="1132647" y="4559807"/>
            <a:ext cx="706506" cy="706506"/>
          </a:xfrm>
          <a:prstGeom prst="ellipse">
            <a:avLst/>
          </a:prstGeom>
          <a:solidFill>
            <a:srgbClr val="53996E">
              <a:alpha val="19000"/>
            </a:srgbClr>
          </a:solidFill>
          <a:ln/>
        </p:spPr>
      </p:sp>
      <p:sp>
        <p:nvSpPr>
          <p:cNvPr id="89" name="Shape 87"/>
          <p:cNvSpPr/>
          <p:nvPr/>
        </p:nvSpPr>
        <p:spPr>
          <a:xfrm>
            <a:off x="1229507" y="4656666"/>
            <a:ext cx="512786" cy="512786"/>
          </a:xfrm>
          <a:prstGeom prst="ellipse">
            <a:avLst/>
          </a:prstGeom>
          <a:solidFill>
            <a:srgbClr val="53996E">
              <a:alpha val="25000"/>
            </a:srgbClr>
          </a:solidFill>
          <a:ln/>
        </p:spPr>
      </p:sp>
      <p:sp>
        <p:nvSpPr>
          <p:cNvPr id="90" name="Shape 88"/>
          <p:cNvSpPr/>
          <p:nvPr/>
        </p:nvSpPr>
        <p:spPr>
          <a:xfrm>
            <a:off x="1326366" y="4753526"/>
            <a:ext cx="319067" cy="319067"/>
          </a:xfrm>
          <a:prstGeom prst="ellipse">
            <a:avLst/>
          </a:prstGeom>
          <a:solidFill>
            <a:srgbClr val="53996E">
              <a:alpha val="31000"/>
            </a:srgbClr>
          </a:solidFill>
          <a:ln/>
        </p:spPr>
      </p:sp>
      <p:sp>
        <p:nvSpPr>
          <p:cNvPr id="91" name="Shape 89"/>
          <p:cNvSpPr/>
          <p:nvPr/>
        </p:nvSpPr>
        <p:spPr>
          <a:xfrm>
            <a:off x="4334713" y="4771397"/>
            <a:ext cx="1041502" cy="1041502"/>
          </a:xfrm>
          <a:prstGeom prst="ellipse">
            <a:avLst/>
          </a:prstGeom>
          <a:solidFill>
            <a:srgbClr val="8795A0">
              <a:alpha val="7000"/>
            </a:srgbClr>
          </a:solidFill>
          <a:ln/>
        </p:spPr>
      </p:sp>
      <p:sp>
        <p:nvSpPr>
          <p:cNvPr id="92" name="Shape 90"/>
          <p:cNvSpPr/>
          <p:nvPr/>
        </p:nvSpPr>
        <p:spPr>
          <a:xfrm>
            <a:off x="4438863" y="4875547"/>
            <a:ext cx="833201" cy="833201"/>
          </a:xfrm>
          <a:prstGeom prst="ellipse">
            <a:avLst/>
          </a:prstGeom>
          <a:solidFill>
            <a:srgbClr val="8795A0">
              <a:alpha val="12000"/>
            </a:srgbClr>
          </a:solidFill>
          <a:ln/>
        </p:spPr>
      </p:sp>
      <p:sp>
        <p:nvSpPr>
          <p:cNvPr id="93" name="Shape 91"/>
          <p:cNvSpPr/>
          <p:nvPr/>
        </p:nvSpPr>
        <p:spPr>
          <a:xfrm>
            <a:off x="4532599" y="4969282"/>
            <a:ext cx="645731" cy="645731"/>
          </a:xfrm>
          <a:prstGeom prst="ellipse">
            <a:avLst/>
          </a:prstGeom>
          <a:solidFill>
            <a:srgbClr val="8795A0">
              <a:alpha val="18000"/>
            </a:srgbClr>
          </a:solidFill>
          <a:ln/>
        </p:spPr>
      </p:sp>
      <p:sp>
        <p:nvSpPr>
          <p:cNvPr id="94" name="Shape 92"/>
          <p:cNvSpPr/>
          <p:nvPr/>
        </p:nvSpPr>
        <p:spPr>
          <a:xfrm>
            <a:off x="4621126" y="5057810"/>
            <a:ext cx="468676" cy="468676"/>
          </a:xfrm>
          <a:prstGeom prst="ellipse">
            <a:avLst/>
          </a:prstGeom>
          <a:solidFill>
            <a:srgbClr val="8795A0">
              <a:alpha val="23000"/>
            </a:srgbClr>
          </a:solidFill>
          <a:ln/>
        </p:spPr>
      </p:sp>
      <p:sp>
        <p:nvSpPr>
          <p:cNvPr id="95" name="Shape 93"/>
          <p:cNvSpPr/>
          <p:nvPr/>
        </p:nvSpPr>
        <p:spPr>
          <a:xfrm>
            <a:off x="4709654" y="5146337"/>
            <a:ext cx="291620" cy="291620"/>
          </a:xfrm>
          <a:prstGeom prst="ellipse">
            <a:avLst/>
          </a:prstGeom>
          <a:solidFill>
            <a:srgbClr val="8795A0">
              <a:alpha val="29000"/>
            </a:srgbClr>
          </a:solidFill>
          <a:ln/>
        </p:spPr>
      </p:sp>
      <p:sp>
        <p:nvSpPr>
          <p:cNvPr id="96" name="Shape 94"/>
          <p:cNvSpPr/>
          <p:nvPr/>
        </p:nvSpPr>
        <p:spPr>
          <a:xfrm>
            <a:off x="2588666" y="2496870"/>
            <a:ext cx="1041502" cy="1041502"/>
          </a:xfrm>
          <a:prstGeom prst="ellipse">
            <a:avLst/>
          </a:prstGeom>
          <a:solidFill>
            <a:srgbClr val="2A6DB5">
              <a:alpha val="13000"/>
            </a:srgbClr>
          </a:solidFill>
          <a:ln/>
        </p:spPr>
      </p:sp>
      <p:sp>
        <p:nvSpPr>
          <p:cNvPr id="97" name="Shape 95"/>
          <p:cNvSpPr/>
          <p:nvPr/>
        </p:nvSpPr>
        <p:spPr>
          <a:xfrm>
            <a:off x="2692817" y="2601020"/>
            <a:ext cx="833201" cy="833201"/>
          </a:xfrm>
          <a:prstGeom prst="ellipse">
            <a:avLst/>
          </a:prstGeom>
          <a:solidFill>
            <a:srgbClr val="2A6DB5">
              <a:alpha val="24000"/>
            </a:srgbClr>
          </a:solidFill>
          <a:ln/>
        </p:spPr>
      </p:sp>
      <p:sp>
        <p:nvSpPr>
          <p:cNvPr id="98" name="Shape 96"/>
          <p:cNvSpPr/>
          <p:nvPr/>
        </p:nvSpPr>
        <p:spPr>
          <a:xfrm>
            <a:off x="2786552" y="2694755"/>
            <a:ext cx="645731" cy="645731"/>
          </a:xfrm>
          <a:prstGeom prst="ellipse">
            <a:avLst/>
          </a:prstGeom>
          <a:solidFill>
            <a:srgbClr val="2A6DB5">
              <a:alpha val="34000"/>
            </a:srgbClr>
          </a:solidFill>
          <a:ln/>
        </p:spPr>
      </p:sp>
      <p:sp>
        <p:nvSpPr>
          <p:cNvPr id="99" name="Shape 97"/>
          <p:cNvSpPr/>
          <p:nvPr/>
        </p:nvSpPr>
        <p:spPr>
          <a:xfrm>
            <a:off x="2875079" y="2783283"/>
            <a:ext cx="468676" cy="468676"/>
          </a:xfrm>
          <a:prstGeom prst="ellipse">
            <a:avLst/>
          </a:prstGeom>
          <a:solidFill>
            <a:srgbClr val="2A6DB5">
              <a:alpha val="45000"/>
            </a:srgbClr>
          </a:solidFill>
          <a:ln/>
        </p:spPr>
      </p:sp>
      <p:sp>
        <p:nvSpPr>
          <p:cNvPr id="100" name="Shape 98"/>
          <p:cNvSpPr/>
          <p:nvPr/>
        </p:nvSpPr>
        <p:spPr>
          <a:xfrm>
            <a:off x="2963607" y="2871810"/>
            <a:ext cx="291620" cy="291620"/>
          </a:xfrm>
          <a:prstGeom prst="ellipse">
            <a:avLst/>
          </a:prstGeom>
          <a:solidFill>
            <a:srgbClr val="2A6DB5">
              <a:alpha val="55000"/>
            </a:srgbClr>
          </a:solidFill>
          <a:ln/>
        </p:spPr>
      </p:sp>
      <p:sp>
        <p:nvSpPr>
          <p:cNvPr id="101" name="Shape 99"/>
          <p:cNvSpPr/>
          <p:nvPr/>
        </p:nvSpPr>
        <p:spPr>
          <a:xfrm>
            <a:off x="3262579" y="2496870"/>
            <a:ext cx="1041502" cy="1041502"/>
          </a:xfrm>
          <a:prstGeom prst="ellipse">
            <a:avLst/>
          </a:prstGeom>
          <a:solidFill>
            <a:srgbClr val="C64C2C">
              <a:alpha val="13000"/>
            </a:srgbClr>
          </a:solidFill>
          <a:ln/>
        </p:spPr>
      </p:sp>
      <p:sp>
        <p:nvSpPr>
          <p:cNvPr id="102" name="Shape 100"/>
          <p:cNvSpPr/>
          <p:nvPr/>
        </p:nvSpPr>
        <p:spPr>
          <a:xfrm>
            <a:off x="3366729" y="2601020"/>
            <a:ext cx="833201" cy="833201"/>
          </a:xfrm>
          <a:prstGeom prst="ellipse">
            <a:avLst/>
          </a:prstGeom>
          <a:solidFill>
            <a:srgbClr val="C64C2C">
              <a:alpha val="24000"/>
            </a:srgbClr>
          </a:solidFill>
          <a:ln/>
        </p:spPr>
      </p:sp>
      <p:sp>
        <p:nvSpPr>
          <p:cNvPr id="103" name="Shape 101"/>
          <p:cNvSpPr/>
          <p:nvPr/>
        </p:nvSpPr>
        <p:spPr>
          <a:xfrm>
            <a:off x="3460465" y="2694755"/>
            <a:ext cx="645731" cy="645731"/>
          </a:xfrm>
          <a:prstGeom prst="ellipse">
            <a:avLst/>
          </a:prstGeom>
          <a:solidFill>
            <a:srgbClr val="C64C2C">
              <a:alpha val="34000"/>
            </a:srgbClr>
          </a:solidFill>
          <a:ln/>
        </p:spPr>
      </p:sp>
      <p:sp>
        <p:nvSpPr>
          <p:cNvPr id="104" name="Shape 102"/>
          <p:cNvSpPr/>
          <p:nvPr/>
        </p:nvSpPr>
        <p:spPr>
          <a:xfrm>
            <a:off x="3548992" y="2783283"/>
            <a:ext cx="468676" cy="468676"/>
          </a:xfrm>
          <a:prstGeom prst="ellipse">
            <a:avLst/>
          </a:prstGeom>
          <a:solidFill>
            <a:srgbClr val="C64C2C">
              <a:alpha val="45000"/>
            </a:srgbClr>
          </a:solidFill>
          <a:ln/>
        </p:spPr>
      </p:sp>
      <p:sp>
        <p:nvSpPr>
          <p:cNvPr id="105" name="Shape 103"/>
          <p:cNvSpPr/>
          <p:nvPr/>
        </p:nvSpPr>
        <p:spPr>
          <a:xfrm>
            <a:off x="3637520" y="2871810"/>
            <a:ext cx="291620" cy="291620"/>
          </a:xfrm>
          <a:prstGeom prst="ellipse">
            <a:avLst/>
          </a:prstGeom>
          <a:solidFill>
            <a:srgbClr val="C64C2C">
              <a:alpha val="55000"/>
            </a:srgbClr>
          </a:solidFill>
          <a:ln/>
        </p:spPr>
      </p:sp>
      <p:sp>
        <p:nvSpPr>
          <p:cNvPr id="106" name="Shape 104"/>
          <p:cNvSpPr/>
          <p:nvPr/>
        </p:nvSpPr>
        <p:spPr>
          <a:xfrm>
            <a:off x="237744" y="530352"/>
            <a:ext cx="7552944" cy="1097280"/>
          </a:xfrm>
          <a:prstGeom prst="rect">
            <a:avLst/>
          </a:prstGeom>
          <a:solidFill>
            <a:srgbClr val="E7EDF0"/>
          </a:solidFill>
          <a:ln/>
        </p:spPr>
      </p:sp>
      <p:sp>
        <p:nvSpPr>
          <p:cNvPr id="107" name="Shape 105"/>
          <p:cNvSpPr/>
          <p:nvPr/>
        </p:nvSpPr>
        <p:spPr>
          <a:xfrm>
            <a:off x="237744" y="5839719"/>
            <a:ext cx="7552944" cy="871977"/>
          </a:xfrm>
          <a:prstGeom prst="rect">
            <a:avLst/>
          </a:prstGeom>
          <a:solidFill>
            <a:srgbClr val="E7EDF0"/>
          </a:solidFill>
          <a:ln/>
        </p:spPr>
      </p:sp>
      <p:sp>
        <p:nvSpPr>
          <p:cNvPr id="108" name="Shape 106"/>
          <p:cNvSpPr/>
          <p:nvPr/>
        </p:nvSpPr>
        <p:spPr>
          <a:xfrm>
            <a:off x="237744" y="1627632"/>
            <a:ext cx="329184" cy="4212087"/>
          </a:xfrm>
          <a:prstGeom prst="rect">
            <a:avLst/>
          </a:prstGeom>
          <a:solidFill>
            <a:srgbClr val="E7EDF0"/>
          </a:solidFill>
          <a:ln/>
        </p:spPr>
      </p:sp>
      <p:sp>
        <p:nvSpPr>
          <p:cNvPr id="109" name="Shape 107"/>
          <p:cNvSpPr/>
          <p:nvPr/>
        </p:nvSpPr>
        <p:spPr>
          <a:xfrm>
            <a:off x="6693408" y="1627632"/>
            <a:ext cx="1097280" cy="4212087"/>
          </a:xfrm>
          <a:prstGeom prst="rect">
            <a:avLst/>
          </a:prstGeom>
          <a:solidFill>
            <a:srgbClr val="E7EDF0"/>
          </a:solidFill>
          <a:ln/>
        </p:spPr>
      </p:sp>
      <p:sp>
        <p:nvSpPr>
          <p:cNvPr id="110" name="Shape 108"/>
          <p:cNvSpPr/>
          <p:nvPr/>
        </p:nvSpPr>
        <p:spPr>
          <a:xfrm>
            <a:off x="566928" y="1627632"/>
            <a:ext cx="6126480" cy="4212087"/>
          </a:xfrm>
          <a:prstGeom prst="roundRect">
            <a:avLst>
              <a:gd name="adj" fmla="val 1085"/>
            </a:avLst>
          </a:prstGeom>
          <a:ln w="12700">
            <a:solidFill>
              <a:srgbClr val="CDD9DF"/>
            </a:solidFill>
            <a:prstDash val="solid"/>
          </a:ln>
        </p:spPr>
      </p:sp>
      <p:sp>
        <p:nvSpPr>
          <p:cNvPr id="111" name="Shape 109"/>
          <p:cNvSpPr/>
          <p:nvPr/>
        </p:nvSpPr>
        <p:spPr>
          <a:xfrm>
            <a:off x="3396082" y="2167032"/>
            <a:ext cx="100584" cy="100584"/>
          </a:xfrm>
          <a:prstGeom prst="ellipse">
            <a:avLst/>
          </a:prstGeom>
          <a:solidFill>
            <a:srgbClr val="FFFFFF"/>
          </a:solidFill>
          <a:ln w="22225">
            <a:solidFill>
              <a:srgbClr val="14242C"/>
            </a:solidFill>
            <a:prstDash val="solid"/>
          </a:ln>
        </p:spPr>
      </p:sp>
      <p:sp>
        <p:nvSpPr>
          <p:cNvPr id="112" name="Shape 110"/>
          <p:cNvSpPr/>
          <p:nvPr/>
        </p:nvSpPr>
        <p:spPr>
          <a:xfrm>
            <a:off x="3279496" y="2299620"/>
            <a:ext cx="333756" cy="173736"/>
          </a:xfrm>
          <a:prstGeom prst="roundRect">
            <a:avLst>
              <a:gd name="adj" fmla="val 131579"/>
            </a:avLst>
          </a:prstGeom>
          <a:solidFill>
            <a:srgbClr val="14242C"/>
          </a:solidFill>
          <a:ln/>
        </p:spPr>
      </p:sp>
      <p:sp>
        <p:nvSpPr>
          <p:cNvPr id="113" name="Text 111"/>
          <p:cNvSpPr txBox="1"/>
          <p:nvPr/>
        </p:nvSpPr>
        <p:spPr>
          <a:xfrm>
            <a:off x="3279496" y="2306935"/>
            <a:ext cx="333756" cy="160020"/>
          </a:xfrm>
          <a:prstGeom prst="rect">
            <a:avLst/>
          </a:prstGeom>
          <a:noFill/>
          <a:ln/>
        </p:spPr>
        <p:txBody>
          <a:bodyPr wrap="square" lIns="0" tIns="0" rIns="0" bIns="0" rtlCol="0" anchor="ctr"/>
          <a:lstStyle/>
          <a:p>
            <a:pPr algn="ctr" indent="0" marL="0">
              <a:buNone/>
            </a:pPr>
            <a:r>
              <a:rPr lang="en-US" sz="800" b="1" dirty="0">
                <a:solidFill>
                  <a:srgbClr val="E7EDF0"/>
                </a:solidFill>
                <a:latin typeface="Calibri" pitchFamily="34" charset="0"/>
                <a:ea typeface="Calibri" pitchFamily="34" charset="-122"/>
                <a:cs typeface="Calibri" pitchFamily="34" charset="-120"/>
              </a:rPr>
              <a:t>HOT</a:t>
            </a:r>
            <a:endParaRPr lang="en-US" sz="800" dirty="0"/>
          </a:p>
        </p:txBody>
      </p:sp>
      <p:sp>
        <p:nvSpPr>
          <p:cNvPr id="114" name="Shape 112"/>
          <p:cNvSpPr/>
          <p:nvPr/>
        </p:nvSpPr>
        <p:spPr>
          <a:xfrm>
            <a:off x="2772461" y="2509932"/>
            <a:ext cx="1347826" cy="201168"/>
          </a:xfrm>
          <a:prstGeom prst="roundRect">
            <a:avLst>
              <a:gd name="adj" fmla="val 113636"/>
            </a:avLst>
          </a:prstGeom>
          <a:solidFill>
            <a:srgbClr val="FFFFFF">
              <a:alpha val="88000"/>
            </a:srgbClr>
          </a:solidFill>
          <a:ln/>
        </p:spPr>
      </p:sp>
      <p:sp>
        <p:nvSpPr>
          <p:cNvPr id="115" name="Text 113"/>
          <p:cNvSpPr txBox="1"/>
          <p:nvPr/>
        </p:nvSpPr>
        <p:spPr>
          <a:xfrm>
            <a:off x="2772461" y="2519076"/>
            <a:ext cx="1347826" cy="182880"/>
          </a:xfrm>
          <a:prstGeom prst="rect">
            <a:avLst/>
          </a:prstGeom>
          <a:noFill/>
          <a:ln/>
        </p:spPr>
        <p:txBody>
          <a:bodyPr wrap="square" lIns="0" tIns="0" rIns="0" bIns="0" rtlCol="0" anchor="ctr"/>
          <a:lstStyle/>
          <a:p>
            <a:pPr algn="ctr" indent="0" marL="0">
              <a:buNone/>
            </a:pPr>
            <a:r>
              <a:rPr lang="en-US" sz="900" b="1" dirty="0">
                <a:solidFill>
                  <a:srgbClr val="14242C"/>
                </a:solidFill>
                <a:latin typeface="Calibri" pitchFamily="34" charset="0"/>
                <a:ea typeface="Calibri" pitchFamily="34" charset="-122"/>
                <a:cs typeface="Calibri" pitchFamily="34" charset="-120"/>
              </a:rPr>
              <a:t>North window seats</a:t>
            </a:r>
            <a:endParaRPr lang="en-US" sz="900" dirty="0"/>
          </a:p>
        </p:txBody>
      </p:sp>
      <p:sp>
        <p:nvSpPr>
          <p:cNvPr id="116" name="Shape 114"/>
          <p:cNvSpPr/>
          <p:nvPr/>
        </p:nvSpPr>
        <p:spPr>
          <a:xfrm>
            <a:off x="1558138" y="3430658"/>
            <a:ext cx="100584" cy="100584"/>
          </a:xfrm>
          <a:prstGeom prst="ellipse">
            <a:avLst/>
          </a:prstGeom>
          <a:solidFill>
            <a:srgbClr val="FFFFFF"/>
          </a:solidFill>
          <a:ln w="22225">
            <a:solidFill>
              <a:srgbClr val="14242C"/>
            </a:solidFill>
            <a:prstDash val="solid"/>
          </a:ln>
        </p:spPr>
      </p:sp>
      <p:sp>
        <p:nvSpPr>
          <p:cNvPr id="117" name="Shape 115"/>
          <p:cNvSpPr/>
          <p:nvPr/>
        </p:nvSpPr>
        <p:spPr>
          <a:xfrm>
            <a:off x="1407262" y="3563246"/>
            <a:ext cx="402336" cy="173736"/>
          </a:xfrm>
          <a:prstGeom prst="roundRect">
            <a:avLst>
              <a:gd name="adj" fmla="val 131579"/>
            </a:avLst>
          </a:prstGeom>
          <a:solidFill>
            <a:srgbClr val="14242C"/>
          </a:solidFill>
          <a:ln/>
        </p:spPr>
      </p:sp>
      <p:sp>
        <p:nvSpPr>
          <p:cNvPr id="118" name="Text 116"/>
          <p:cNvSpPr txBox="1"/>
          <p:nvPr/>
        </p:nvSpPr>
        <p:spPr>
          <a:xfrm>
            <a:off x="1407262" y="3570561"/>
            <a:ext cx="402336" cy="160020"/>
          </a:xfrm>
          <a:prstGeom prst="rect">
            <a:avLst/>
          </a:prstGeom>
          <a:noFill/>
          <a:ln/>
        </p:spPr>
        <p:txBody>
          <a:bodyPr wrap="square" lIns="0" tIns="0" rIns="0" bIns="0" rtlCol="0" anchor="ctr"/>
          <a:lstStyle/>
          <a:p>
            <a:pPr algn="ctr" indent="0" marL="0">
              <a:buNone/>
            </a:pPr>
            <a:r>
              <a:rPr lang="en-US" sz="800" b="1" dirty="0">
                <a:solidFill>
                  <a:srgbClr val="E7EDF0"/>
                </a:solidFill>
                <a:latin typeface="Calibri" pitchFamily="34" charset="0"/>
                <a:ea typeface="Calibri" pitchFamily="34" charset="-122"/>
                <a:cs typeface="Calibri" pitchFamily="34" charset="-120"/>
              </a:rPr>
              <a:t>COLD</a:t>
            </a:r>
            <a:endParaRPr lang="en-US" sz="800" dirty="0"/>
          </a:p>
        </p:txBody>
      </p:sp>
      <p:sp>
        <p:nvSpPr>
          <p:cNvPr id="119" name="Shape 117"/>
          <p:cNvSpPr/>
          <p:nvPr/>
        </p:nvSpPr>
        <p:spPr>
          <a:xfrm>
            <a:off x="1201522" y="3773558"/>
            <a:ext cx="813816" cy="201168"/>
          </a:xfrm>
          <a:prstGeom prst="roundRect">
            <a:avLst>
              <a:gd name="adj" fmla="val 113636"/>
            </a:avLst>
          </a:prstGeom>
          <a:solidFill>
            <a:srgbClr val="FFFFFF">
              <a:alpha val="88000"/>
            </a:srgbClr>
          </a:solidFill>
          <a:ln/>
        </p:spPr>
      </p:sp>
      <p:sp>
        <p:nvSpPr>
          <p:cNvPr id="120" name="Text 118"/>
          <p:cNvSpPr txBox="1"/>
          <p:nvPr/>
        </p:nvSpPr>
        <p:spPr>
          <a:xfrm>
            <a:off x="1201522" y="3782702"/>
            <a:ext cx="813816" cy="182880"/>
          </a:xfrm>
          <a:prstGeom prst="rect">
            <a:avLst/>
          </a:prstGeom>
          <a:noFill/>
          <a:ln/>
        </p:spPr>
        <p:txBody>
          <a:bodyPr wrap="square" lIns="0" tIns="0" rIns="0" bIns="0" rtlCol="0" anchor="ctr"/>
          <a:lstStyle/>
          <a:p>
            <a:pPr algn="ctr" indent="0" marL="0">
              <a:buNone/>
            </a:pPr>
            <a:r>
              <a:rPr lang="en-US" sz="900" b="1" dirty="0">
                <a:solidFill>
                  <a:srgbClr val="14242C"/>
                </a:solidFill>
                <a:latin typeface="Calibri" pitchFamily="34" charset="0"/>
                <a:ea typeface="Calibri" pitchFamily="34" charset="-122"/>
                <a:cs typeface="Calibri" pitchFamily="34" charset="-120"/>
              </a:rPr>
              <a:t>Core desks</a:t>
            </a:r>
            <a:endParaRPr lang="en-US" sz="900" dirty="0"/>
          </a:p>
        </p:txBody>
      </p:sp>
      <p:sp>
        <p:nvSpPr>
          <p:cNvPr id="121" name="Shape 119"/>
          <p:cNvSpPr/>
          <p:nvPr/>
        </p:nvSpPr>
        <p:spPr>
          <a:xfrm>
            <a:off x="1435608" y="4862768"/>
            <a:ext cx="100584" cy="100584"/>
          </a:xfrm>
          <a:prstGeom prst="ellipse">
            <a:avLst/>
          </a:prstGeom>
          <a:solidFill>
            <a:srgbClr val="FFFFFF"/>
          </a:solidFill>
          <a:ln w="22225">
            <a:solidFill>
              <a:srgbClr val="14242C"/>
            </a:solidFill>
            <a:prstDash val="solid"/>
          </a:ln>
        </p:spPr>
      </p:sp>
      <p:sp>
        <p:nvSpPr>
          <p:cNvPr id="122" name="Shape 120"/>
          <p:cNvSpPr/>
          <p:nvPr/>
        </p:nvSpPr>
        <p:spPr>
          <a:xfrm>
            <a:off x="1211580" y="4995356"/>
            <a:ext cx="548640" cy="201168"/>
          </a:xfrm>
          <a:prstGeom prst="roundRect">
            <a:avLst>
              <a:gd name="adj" fmla="val 113636"/>
            </a:avLst>
          </a:prstGeom>
          <a:solidFill>
            <a:srgbClr val="FFFFFF">
              <a:alpha val="88000"/>
            </a:srgbClr>
          </a:solidFill>
          <a:ln/>
        </p:spPr>
      </p:sp>
      <p:sp>
        <p:nvSpPr>
          <p:cNvPr id="123" name="Text 121"/>
          <p:cNvSpPr txBox="1"/>
          <p:nvPr/>
        </p:nvSpPr>
        <p:spPr>
          <a:xfrm>
            <a:off x="1211580" y="5004500"/>
            <a:ext cx="548640" cy="182880"/>
          </a:xfrm>
          <a:prstGeom prst="rect">
            <a:avLst/>
          </a:prstGeom>
          <a:noFill/>
          <a:ln/>
        </p:spPr>
        <p:txBody>
          <a:bodyPr wrap="square" lIns="0" tIns="0" rIns="0" bIns="0" rtlCol="0" anchor="ctr"/>
          <a:lstStyle/>
          <a:p>
            <a:pPr algn="ctr" indent="0" marL="0">
              <a:buNone/>
            </a:pPr>
            <a:r>
              <a:rPr lang="en-US" sz="900" b="1" dirty="0">
                <a:solidFill>
                  <a:srgbClr val="14242C"/>
                </a:solidFill>
                <a:latin typeface="Calibri" pitchFamily="34" charset="0"/>
                <a:ea typeface="Calibri" pitchFamily="34" charset="-122"/>
                <a:cs typeface="Calibri" pitchFamily="34" charset="-120"/>
              </a:rPr>
              <a:t>Pantry</a:t>
            </a:r>
            <a:endParaRPr lang="en-US" sz="900" dirty="0"/>
          </a:p>
        </p:txBody>
      </p:sp>
      <p:sp>
        <p:nvSpPr>
          <p:cNvPr id="124" name="Shape 122"/>
          <p:cNvSpPr/>
          <p:nvPr/>
        </p:nvSpPr>
        <p:spPr>
          <a:xfrm>
            <a:off x="4805172" y="5241855"/>
            <a:ext cx="100584" cy="100584"/>
          </a:xfrm>
          <a:prstGeom prst="ellipse">
            <a:avLst/>
          </a:prstGeom>
          <a:solidFill>
            <a:srgbClr val="FFFFFF"/>
          </a:solidFill>
          <a:ln w="22225">
            <a:solidFill>
              <a:srgbClr val="14242C"/>
            </a:solidFill>
            <a:prstDash val="dash"/>
          </a:ln>
        </p:spPr>
      </p:sp>
      <p:sp>
        <p:nvSpPr>
          <p:cNvPr id="125" name="Shape 123"/>
          <p:cNvSpPr/>
          <p:nvPr/>
        </p:nvSpPr>
        <p:spPr>
          <a:xfrm>
            <a:off x="4248302" y="5374443"/>
            <a:ext cx="1214323" cy="201168"/>
          </a:xfrm>
          <a:prstGeom prst="roundRect">
            <a:avLst>
              <a:gd name="adj" fmla="val 113636"/>
            </a:avLst>
          </a:prstGeom>
          <a:solidFill>
            <a:srgbClr val="FFFFFF">
              <a:alpha val="88000"/>
            </a:srgbClr>
          </a:solidFill>
          <a:ln/>
        </p:spPr>
      </p:sp>
      <p:sp>
        <p:nvSpPr>
          <p:cNvPr id="126" name="Text 124"/>
          <p:cNvSpPr txBox="1"/>
          <p:nvPr/>
        </p:nvSpPr>
        <p:spPr>
          <a:xfrm>
            <a:off x="4248302" y="5383587"/>
            <a:ext cx="1214323" cy="182880"/>
          </a:xfrm>
          <a:prstGeom prst="rect">
            <a:avLst/>
          </a:prstGeom>
          <a:noFill/>
          <a:ln/>
        </p:spPr>
        <p:txBody>
          <a:bodyPr wrap="square" lIns="0" tIns="0" rIns="0" bIns="0" rtlCol="0" anchor="ctr"/>
          <a:lstStyle/>
          <a:p>
            <a:pPr algn="ctr" indent="0" marL="0">
              <a:buNone/>
            </a:pPr>
            <a:r>
              <a:rPr lang="en-US" sz="900" b="1" dirty="0">
                <a:solidFill>
                  <a:srgbClr val="14242C"/>
                </a:solidFill>
                <a:latin typeface="Calibri" pitchFamily="34" charset="0"/>
                <a:ea typeface="Calibri" pitchFamily="34" charset="-122"/>
                <a:cs typeface="Calibri" pitchFamily="34" charset="-120"/>
              </a:rPr>
              <a:t>South-east desks</a:t>
            </a:r>
            <a:endParaRPr lang="en-US" sz="900" dirty="0"/>
          </a:p>
        </p:txBody>
      </p:sp>
      <p:sp>
        <p:nvSpPr>
          <p:cNvPr id="127" name="Shape 125"/>
          <p:cNvSpPr/>
          <p:nvPr/>
        </p:nvSpPr>
        <p:spPr>
          <a:xfrm>
            <a:off x="3396082" y="2967329"/>
            <a:ext cx="100584" cy="100584"/>
          </a:xfrm>
          <a:prstGeom prst="ellipse">
            <a:avLst/>
          </a:prstGeom>
          <a:solidFill>
            <a:srgbClr val="FFFFFF"/>
          </a:solidFill>
          <a:ln w="22225">
            <a:solidFill>
              <a:srgbClr val="14242C"/>
            </a:solidFill>
            <a:prstDash val="solid"/>
          </a:ln>
        </p:spPr>
      </p:sp>
      <p:sp>
        <p:nvSpPr>
          <p:cNvPr id="128" name="Shape 126"/>
          <p:cNvSpPr/>
          <p:nvPr/>
        </p:nvSpPr>
        <p:spPr>
          <a:xfrm>
            <a:off x="3210916" y="3099917"/>
            <a:ext cx="470916" cy="173736"/>
          </a:xfrm>
          <a:prstGeom prst="roundRect">
            <a:avLst>
              <a:gd name="adj" fmla="val 131579"/>
            </a:avLst>
          </a:prstGeom>
          <a:solidFill>
            <a:srgbClr val="14242C"/>
          </a:solidFill>
          <a:ln/>
        </p:spPr>
      </p:sp>
      <p:sp>
        <p:nvSpPr>
          <p:cNvPr id="129" name="Text 127"/>
          <p:cNvSpPr txBox="1"/>
          <p:nvPr/>
        </p:nvSpPr>
        <p:spPr>
          <a:xfrm>
            <a:off x="3210916" y="3107232"/>
            <a:ext cx="470916" cy="160020"/>
          </a:xfrm>
          <a:prstGeom prst="rect">
            <a:avLst/>
          </a:prstGeom>
          <a:noFill/>
          <a:ln/>
        </p:spPr>
        <p:txBody>
          <a:bodyPr wrap="square" lIns="0" tIns="0" rIns="0" bIns="0" rtlCol="0" anchor="ctr"/>
          <a:lstStyle/>
          <a:p>
            <a:pPr algn="ctr" indent="0" marL="0">
              <a:buNone/>
            </a:pPr>
            <a:r>
              <a:rPr lang="en-US" sz="800" b="1" dirty="0">
                <a:solidFill>
                  <a:srgbClr val="E7EDF0"/>
                </a:solidFill>
                <a:latin typeface="Calibri" pitchFamily="34" charset="0"/>
                <a:ea typeface="Calibri" pitchFamily="34" charset="-122"/>
                <a:cs typeface="Calibri" pitchFamily="34" charset="-120"/>
              </a:rPr>
              <a:t>SPLIT</a:t>
            </a:r>
            <a:endParaRPr lang="en-US" sz="800" dirty="0"/>
          </a:p>
        </p:txBody>
      </p:sp>
      <p:sp>
        <p:nvSpPr>
          <p:cNvPr id="130" name="Shape 128"/>
          <p:cNvSpPr/>
          <p:nvPr/>
        </p:nvSpPr>
        <p:spPr>
          <a:xfrm>
            <a:off x="3039466" y="3310229"/>
            <a:ext cx="813816" cy="201168"/>
          </a:xfrm>
          <a:prstGeom prst="roundRect">
            <a:avLst>
              <a:gd name="adj" fmla="val 113636"/>
            </a:avLst>
          </a:prstGeom>
          <a:solidFill>
            <a:srgbClr val="FFFFFF">
              <a:alpha val="88000"/>
            </a:srgbClr>
          </a:solidFill>
          <a:ln/>
        </p:spPr>
      </p:sp>
      <p:sp>
        <p:nvSpPr>
          <p:cNvPr id="131" name="Text 129"/>
          <p:cNvSpPr txBox="1"/>
          <p:nvPr/>
        </p:nvSpPr>
        <p:spPr>
          <a:xfrm>
            <a:off x="3039466" y="3319373"/>
            <a:ext cx="813816" cy="182880"/>
          </a:xfrm>
          <a:prstGeom prst="rect">
            <a:avLst/>
          </a:prstGeom>
          <a:noFill/>
          <a:ln/>
        </p:spPr>
        <p:txBody>
          <a:bodyPr wrap="square" lIns="0" tIns="0" rIns="0" bIns="0" rtlCol="0" anchor="ctr"/>
          <a:lstStyle/>
          <a:p>
            <a:pPr algn="ctr" indent="0" marL="0">
              <a:buNone/>
            </a:pPr>
            <a:r>
              <a:rPr lang="en-US" sz="900" b="1" dirty="0">
                <a:solidFill>
                  <a:srgbClr val="14242C"/>
                </a:solidFill>
                <a:latin typeface="Calibri" pitchFamily="34" charset="0"/>
                <a:ea typeface="Calibri" pitchFamily="34" charset="-122"/>
                <a:cs typeface="Calibri" pitchFamily="34" charset="-120"/>
              </a:rPr>
              <a:t>Open floor</a:t>
            </a:r>
            <a:endParaRPr lang="en-US" sz="900" dirty="0"/>
          </a:p>
        </p:txBody>
      </p:sp>
      <p:sp>
        <p:nvSpPr>
          <p:cNvPr id="132" name="Shape 130"/>
          <p:cNvSpPr/>
          <p:nvPr/>
        </p:nvSpPr>
        <p:spPr>
          <a:xfrm>
            <a:off x="566928" y="6031743"/>
            <a:ext cx="45263" cy="91440"/>
          </a:xfrm>
          <a:prstGeom prst="rect">
            <a:avLst/>
          </a:prstGeom>
          <a:solidFill>
            <a:srgbClr val="2A6DB5"/>
          </a:solidFill>
          <a:ln/>
        </p:spPr>
      </p:sp>
      <p:sp>
        <p:nvSpPr>
          <p:cNvPr id="133" name="Shape 131"/>
          <p:cNvSpPr/>
          <p:nvPr/>
        </p:nvSpPr>
        <p:spPr>
          <a:xfrm>
            <a:off x="592074" y="6031743"/>
            <a:ext cx="45263" cy="91440"/>
          </a:xfrm>
          <a:prstGeom prst="rect">
            <a:avLst/>
          </a:prstGeom>
          <a:solidFill>
            <a:srgbClr val="2F73B7"/>
          </a:solidFill>
          <a:ln/>
        </p:spPr>
      </p:sp>
      <p:sp>
        <p:nvSpPr>
          <p:cNvPr id="134" name="Shape 132"/>
          <p:cNvSpPr/>
          <p:nvPr/>
        </p:nvSpPr>
        <p:spPr>
          <a:xfrm>
            <a:off x="617220" y="6031743"/>
            <a:ext cx="45263" cy="91440"/>
          </a:xfrm>
          <a:prstGeom prst="rect">
            <a:avLst/>
          </a:prstGeom>
          <a:solidFill>
            <a:srgbClr val="3578B8"/>
          </a:solidFill>
          <a:ln/>
        </p:spPr>
      </p:sp>
      <p:sp>
        <p:nvSpPr>
          <p:cNvPr id="135" name="Shape 133"/>
          <p:cNvSpPr/>
          <p:nvPr/>
        </p:nvSpPr>
        <p:spPr>
          <a:xfrm>
            <a:off x="642366" y="6031743"/>
            <a:ext cx="45263" cy="91440"/>
          </a:xfrm>
          <a:prstGeom prst="rect">
            <a:avLst/>
          </a:prstGeom>
          <a:solidFill>
            <a:srgbClr val="3A7EBA"/>
          </a:solidFill>
          <a:ln/>
        </p:spPr>
      </p:sp>
      <p:sp>
        <p:nvSpPr>
          <p:cNvPr id="136" name="Shape 134"/>
          <p:cNvSpPr/>
          <p:nvPr/>
        </p:nvSpPr>
        <p:spPr>
          <a:xfrm>
            <a:off x="667512" y="6031743"/>
            <a:ext cx="45263" cy="91440"/>
          </a:xfrm>
          <a:prstGeom prst="rect">
            <a:avLst/>
          </a:prstGeom>
          <a:solidFill>
            <a:srgbClr val="4083BB"/>
          </a:solidFill>
          <a:ln/>
        </p:spPr>
      </p:sp>
      <p:sp>
        <p:nvSpPr>
          <p:cNvPr id="137" name="Shape 135"/>
          <p:cNvSpPr/>
          <p:nvPr/>
        </p:nvSpPr>
        <p:spPr>
          <a:xfrm>
            <a:off x="692658" y="6031743"/>
            <a:ext cx="45263" cy="91440"/>
          </a:xfrm>
          <a:prstGeom prst="rect">
            <a:avLst/>
          </a:prstGeom>
          <a:solidFill>
            <a:srgbClr val="4589BD"/>
          </a:solidFill>
          <a:ln/>
        </p:spPr>
      </p:sp>
      <p:sp>
        <p:nvSpPr>
          <p:cNvPr id="138" name="Shape 136"/>
          <p:cNvSpPr/>
          <p:nvPr/>
        </p:nvSpPr>
        <p:spPr>
          <a:xfrm>
            <a:off x="717804" y="6031743"/>
            <a:ext cx="45263" cy="91440"/>
          </a:xfrm>
          <a:prstGeom prst="rect">
            <a:avLst/>
          </a:prstGeom>
          <a:solidFill>
            <a:srgbClr val="4B8EBE"/>
          </a:solidFill>
          <a:ln/>
        </p:spPr>
      </p:sp>
      <p:sp>
        <p:nvSpPr>
          <p:cNvPr id="139" name="Shape 137"/>
          <p:cNvSpPr/>
          <p:nvPr/>
        </p:nvSpPr>
        <p:spPr>
          <a:xfrm>
            <a:off x="742950" y="6031743"/>
            <a:ext cx="45263" cy="91440"/>
          </a:xfrm>
          <a:prstGeom prst="rect">
            <a:avLst/>
          </a:prstGeom>
          <a:solidFill>
            <a:srgbClr val="5094C0"/>
          </a:solidFill>
          <a:ln/>
        </p:spPr>
      </p:sp>
      <p:sp>
        <p:nvSpPr>
          <p:cNvPr id="140" name="Shape 138"/>
          <p:cNvSpPr/>
          <p:nvPr/>
        </p:nvSpPr>
        <p:spPr>
          <a:xfrm>
            <a:off x="768096" y="6031743"/>
            <a:ext cx="45263" cy="91440"/>
          </a:xfrm>
          <a:prstGeom prst="rect">
            <a:avLst/>
          </a:prstGeom>
          <a:solidFill>
            <a:srgbClr val="5599C1"/>
          </a:solidFill>
          <a:ln/>
        </p:spPr>
      </p:sp>
      <p:sp>
        <p:nvSpPr>
          <p:cNvPr id="141" name="Shape 139"/>
          <p:cNvSpPr/>
          <p:nvPr/>
        </p:nvSpPr>
        <p:spPr>
          <a:xfrm>
            <a:off x="793242" y="6031743"/>
            <a:ext cx="45263" cy="91440"/>
          </a:xfrm>
          <a:prstGeom prst="rect">
            <a:avLst/>
          </a:prstGeom>
          <a:solidFill>
            <a:srgbClr val="5B9FC3"/>
          </a:solidFill>
          <a:ln/>
        </p:spPr>
      </p:sp>
      <p:sp>
        <p:nvSpPr>
          <p:cNvPr id="142" name="Shape 140"/>
          <p:cNvSpPr/>
          <p:nvPr/>
        </p:nvSpPr>
        <p:spPr>
          <a:xfrm>
            <a:off x="818388" y="6031743"/>
            <a:ext cx="45263" cy="91440"/>
          </a:xfrm>
          <a:prstGeom prst="rect">
            <a:avLst/>
          </a:prstGeom>
          <a:solidFill>
            <a:srgbClr val="5EA3C2"/>
          </a:solidFill>
          <a:ln/>
        </p:spPr>
      </p:sp>
      <p:sp>
        <p:nvSpPr>
          <p:cNvPr id="143" name="Shape 141"/>
          <p:cNvSpPr/>
          <p:nvPr/>
        </p:nvSpPr>
        <p:spPr>
          <a:xfrm>
            <a:off x="843534" y="6031743"/>
            <a:ext cx="45263" cy="91440"/>
          </a:xfrm>
          <a:prstGeom prst="rect">
            <a:avLst/>
          </a:prstGeom>
          <a:solidFill>
            <a:srgbClr val="5AA2BA"/>
          </a:solidFill>
          <a:ln/>
        </p:spPr>
      </p:sp>
      <p:sp>
        <p:nvSpPr>
          <p:cNvPr id="144" name="Shape 142"/>
          <p:cNvSpPr/>
          <p:nvPr/>
        </p:nvSpPr>
        <p:spPr>
          <a:xfrm>
            <a:off x="868680" y="6031743"/>
            <a:ext cx="45263" cy="91440"/>
          </a:xfrm>
          <a:prstGeom prst="rect">
            <a:avLst/>
          </a:prstGeom>
          <a:solidFill>
            <a:srgbClr val="57A1B2"/>
          </a:solidFill>
          <a:ln/>
        </p:spPr>
      </p:sp>
      <p:sp>
        <p:nvSpPr>
          <p:cNvPr id="145" name="Shape 143"/>
          <p:cNvSpPr/>
          <p:nvPr/>
        </p:nvSpPr>
        <p:spPr>
          <a:xfrm>
            <a:off x="893826" y="6031743"/>
            <a:ext cx="45263" cy="91440"/>
          </a:xfrm>
          <a:prstGeom prst="rect">
            <a:avLst/>
          </a:prstGeom>
          <a:solidFill>
            <a:srgbClr val="53A0AB"/>
          </a:solidFill>
          <a:ln/>
        </p:spPr>
      </p:sp>
      <p:sp>
        <p:nvSpPr>
          <p:cNvPr id="146" name="Shape 144"/>
          <p:cNvSpPr/>
          <p:nvPr/>
        </p:nvSpPr>
        <p:spPr>
          <a:xfrm>
            <a:off x="918972" y="6031743"/>
            <a:ext cx="45263" cy="91440"/>
          </a:xfrm>
          <a:prstGeom prst="rect">
            <a:avLst/>
          </a:prstGeom>
          <a:solidFill>
            <a:srgbClr val="4FA0A3"/>
          </a:solidFill>
          <a:ln/>
        </p:spPr>
      </p:sp>
      <p:sp>
        <p:nvSpPr>
          <p:cNvPr id="147" name="Shape 145"/>
          <p:cNvSpPr/>
          <p:nvPr/>
        </p:nvSpPr>
        <p:spPr>
          <a:xfrm>
            <a:off x="944118" y="6031743"/>
            <a:ext cx="45263" cy="91440"/>
          </a:xfrm>
          <a:prstGeom prst="rect">
            <a:avLst/>
          </a:prstGeom>
          <a:solidFill>
            <a:srgbClr val="4C9F9B"/>
          </a:solidFill>
          <a:ln/>
        </p:spPr>
      </p:sp>
      <p:sp>
        <p:nvSpPr>
          <p:cNvPr id="148" name="Shape 146"/>
          <p:cNvSpPr/>
          <p:nvPr/>
        </p:nvSpPr>
        <p:spPr>
          <a:xfrm>
            <a:off x="969264" y="6031743"/>
            <a:ext cx="45263" cy="91440"/>
          </a:xfrm>
          <a:prstGeom prst="rect">
            <a:avLst/>
          </a:prstGeom>
          <a:solidFill>
            <a:srgbClr val="489E93"/>
          </a:solidFill>
          <a:ln/>
        </p:spPr>
      </p:sp>
      <p:sp>
        <p:nvSpPr>
          <p:cNvPr id="149" name="Shape 147"/>
          <p:cNvSpPr/>
          <p:nvPr/>
        </p:nvSpPr>
        <p:spPr>
          <a:xfrm>
            <a:off x="994410" y="6031743"/>
            <a:ext cx="45263" cy="91440"/>
          </a:xfrm>
          <a:prstGeom prst="rect">
            <a:avLst/>
          </a:prstGeom>
          <a:solidFill>
            <a:srgbClr val="449D8B"/>
          </a:solidFill>
          <a:ln/>
        </p:spPr>
      </p:sp>
      <p:sp>
        <p:nvSpPr>
          <p:cNvPr id="150" name="Shape 148"/>
          <p:cNvSpPr/>
          <p:nvPr/>
        </p:nvSpPr>
        <p:spPr>
          <a:xfrm>
            <a:off x="1019556" y="6031743"/>
            <a:ext cx="45263" cy="91440"/>
          </a:xfrm>
          <a:prstGeom prst="rect">
            <a:avLst/>
          </a:prstGeom>
          <a:solidFill>
            <a:srgbClr val="419C84"/>
          </a:solidFill>
          <a:ln/>
        </p:spPr>
      </p:sp>
      <p:sp>
        <p:nvSpPr>
          <p:cNvPr id="151" name="Shape 149"/>
          <p:cNvSpPr/>
          <p:nvPr/>
        </p:nvSpPr>
        <p:spPr>
          <a:xfrm>
            <a:off x="1044702" y="6031743"/>
            <a:ext cx="45263" cy="91440"/>
          </a:xfrm>
          <a:prstGeom prst="rect">
            <a:avLst/>
          </a:prstGeom>
          <a:solidFill>
            <a:srgbClr val="3D9B7C"/>
          </a:solidFill>
          <a:ln/>
        </p:spPr>
      </p:sp>
      <p:sp>
        <p:nvSpPr>
          <p:cNvPr id="152" name="Shape 150"/>
          <p:cNvSpPr/>
          <p:nvPr/>
        </p:nvSpPr>
        <p:spPr>
          <a:xfrm>
            <a:off x="1069848" y="6031743"/>
            <a:ext cx="45263" cy="91440"/>
          </a:xfrm>
          <a:prstGeom prst="rect">
            <a:avLst/>
          </a:prstGeom>
          <a:solidFill>
            <a:srgbClr val="439A75"/>
          </a:solidFill>
          <a:ln/>
        </p:spPr>
      </p:sp>
      <p:sp>
        <p:nvSpPr>
          <p:cNvPr id="153" name="Shape 151"/>
          <p:cNvSpPr/>
          <p:nvPr/>
        </p:nvSpPr>
        <p:spPr>
          <a:xfrm>
            <a:off x="1094994" y="6031743"/>
            <a:ext cx="45263" cy="91440"/>
          </a:xfrm>
          <a:prstGeom prst="rect">
            <a:avLst/>
          </a:prstGeom>
          <a:solidFill>
            <a:srgbClr val="54996E"/>
          </a:solidFill>
          <a:ln/>
        </p:spPr>
      </p:sp>
      <p:sp>
        <p:nvSpPr>
          <p:cNvPr id="154" name="Shape 152"/>
          <p:cNvSpPr/>
          <p:nvPr/>
        </p:nvSpPr>
        <p:spPr>
          <a:xfrm>
            <a:off x="1120140" y="6031743"/>
            <a:ext cx="45263" cy="91440"/>
          </a:xfrm>
          <a:prstGeom prst="rect">
            <a:avLst/>
          </a:prstGeom>
          <a:solidFill>
            <a:srgbClr val="659867"/>
          </a:solidFill>
          <a:ln/>
        </p:spPr>
      </p:sp>
      <p:sp>
        <p:nvSpPr>
          <p:cNvPr id="155" name="Shape 153"/>
          <p:cNvSpPr/>
          <p:nvPr/>
        </p:nvSpPr>
        <p:spPr>
          <a:xfrm>
            <a:off x="1145286" y="6031743"/>
            <a:ext cx="45263" cy="91440"/>
          </a:xfrm>
          <a:prstGeom prst="rect">
            <a:avLst/>
          </a:prstGeom>
          <a:solidFill>
            <a:srgbClr val="769760"/>
          </a:solidFill>
          <a:ln/>
        </p:spPr>
      </p:sp>
      <p:sp>
        <p:nvSpPr>
          <p:cNvPr id="156" name="Shape 154"/>
          <p:cNvSpPr/>
          <p:nvPr/>
        </p:nvSpPr>
        <p:spPr>
          <a:xfrm>
            <a:off x="1170432" y="6031743"/>
            <a:ext cx="45263" cy="91440"/>
          </a:xfrm>
          <a:prstGeom prst="rect">
            <a:avLst/>
          </a:prstGeom>
          <a:solidFill>
            <a:srgbClr val="86965A"/>
          </a:solidFill>
          <a:ln/>
        </p:spPr>
      </p:sp>
      <p:sp>
        <p:nvSpPr>
          <p:cNvPr id="157" name="Shape 155"/>
          <p:cNvSpPr/>
          <p:nvPr/>
        </p:nvSpPr>
        <p:spPr>
          <a:xfrm>
            <a:off x="1195578" y="6031743"/>
            <a:ext cx="45263" cy="91440"/>
          </a:xfrm>
          <a:prstGeom prst="rect">
            <a:avLst/>
          </a:prstGeom>
          <a:solidFill>
            <a:srgbClr val="979553"/>
          </a:solidFill>
          <a:ln/>
        </p:spPr>
      </p:sp>
      <p:sp>
        <p:nvSpPr>
          <p:cNvPr id="158" name="Shape 156"/>
          <p:cNvSpPr/>
          <p:nvPr/>
        </p:nvSpPr>
        <p:spPr>
          <a:xfrm>
            <a:off x="1220724" y="6031743"/>
            <a:ext cx="45263" cy="91440"/>
          </a:xfrm>
          <a:prstGeom prst="rect">
            <a:avLst/>
          </a:prstGeom>
          <a:solidFill>
            <a:srgbClr val="A8944C"/>
          </a:solidFill>
          <a:ln/>
        </p:spPr>
      </p:sp>
      <p:sp>
        <p:nvSpPr>
          <p:cNvPr id="159" name="Shape 157"/>
          <p:cNvSpPr/>
          <p:nvPr/>
        </p:nvSpPr>
        <p:spPr>
          <a:xfrm>
            <a:off x="1245870" y="6031743"/>
            <a:ext cx="45263" cy="91440"/>
          </a:xfrm>
          <a:prstGeom prst="rect">
            <a:avLst/>
          </a:prstGeom>
          <a:solidFill>
            <a:srgbClr val="B89345"/>
          </a:solidFill>
          <a:ln/>
        </p:spPr>
      </p:sp>
      <p:sp>
        <p:nvSpPr>
          <p:cNvPr id="160" name="Shape 158"/>
          <p:cNvSpPr/>
          <p:nvPr/>
        </p:nvSpPr>
        <p:spPr>
          <a:xfrm>
            <a:off x="1271016" y="6031743"/>
            <a:ext cx="45263" cy="91440"/>
          </a:xfrm>
          <a:prstGeom prst="rect">
            <a:avLst/>
          </a:prstGeom>
          <a:solidFill>
            <a:srgbClr val="C9913E"/>
          </a:solidFill>
          <a:ln/>
        </p:spPr>
      </p:sp>
      <p:sp>
        <p:nvSpPr>
          <p:cNvPr id="161" name="Shape 159"/>
          <p:cNvSpPr/>
          <p:nvPr/>
        </p:nvSpPr>
        <p:spPr>
          <a:xfrm>
            <a:off x="1296162" y="6031743"/>
            <a:ext cx="45263" cy="91440"/>
          </a:xfrm>
          <a:prstGeom prst="rect">
            <a:avLst/>
          </a:prstGeom>
          <a:solidFill>
            <a:srgbClr val="DA9038"/>
          </a:solidFill>
          <a:ln/>
        </p:spPr>
      </p:sp>
      <p:sp>
        <p:nvSpPr>
          <p:cNvPr id="162" name="Shape 160"/>
          <p:cNvSpPr/>
          <p:nvPr/>
        </p:nvSpPr>
        <p:spPr>
          <a:xfrm>
            <a:off x="1321308" y="6031743"/>
            <a:ext cx="45263" cy="91440"/>
          </a:xfrm>
          <a:prstGeom prst="rect">
            <a:avLst/>
          </a:prstGeom>
          <a:solidFill>
            <a:srgbClr val="DC8B35"/>
          </a:solidFill>
          <a:ln/>
        </p:spPr>
      </p:sp>
      <p:sp>
        <p:nvSpPr>
          <p:cNvPr id="163" name="Shape 161"/>
          <p:cNvSpPr/>
          <p:nvPr/>
        </p:nvSpPr>
        <p:spPr>
          <a:xfrm>
            <a:off x="1346454" y="6031743"/>
            <a:ext cx="45263" cy="91440"/>
          </a:xfrm>
          <a:prstGeom prst="rect">
            <a:avLst/>
          </a:prstGeom>
          <a:solidFill>
            <a:srgbClr val="DA8434"/>
          </a:solidFill>
          <a:ln/>
        </p:spPr>
      </p:sp>
      <p:sp>
        <p:nvSpPr>
          <p:cNvPr id="164" name="Shape 162"/>
          <p:cNvSpPr/>
          <p:nvPr/>
        </p:nvSpPr>
        <p:spPr>
          <a:xfrm>
            <a:off x="1371600" y="6031743"/>
            <a:ext cx="45263" cy="91440"/>
          </a:xfrm>
          <a:prstGeom prst="rect">
            <a:avLst/>
          </a:prstGeom>
          <a:solidFill>
            <a:srgbClr val="D77D33"/>
          </a:solidFill>
          <a:ln/>
        </p:spPr>
      </p:sp>
      <p:sp>
        <p:nvSpPr>
          <p:cNvPr id="165" name="Shape 163"/>
          <p:cNvSpPr/>
          <p:nvPr/>
        </p:nvSpPr>
        <p:spPr>
          <a:xfrm>
            <a:off x="1396746" y="6031743"/>
            <a:ext cx="45263" cy="91440"/>
          </a:xfrm>
          <a:prstGeom prst="rect">
            <a:avLst/>
          </a:prstGeom>
          <a:solidFill>
            <a:srgbClr val="D57632"/>
          </a:solidFill>
          <a:ln/>
        </p:spPr>
      </p:sp>
      <p:sp>
        <p:nvSpPr>
          <p:cNvPr id="166" name="Shape 164"/>
          <p:cNvSpPr/>
          <p:nvPr/>
        </p:nvSpPr>
        <p:spPr>
          <a:xfrm>
            <a:off x="1421892" y="6031743"/>
            <a:ext cx="45263" cy="91440"/>
          </a:xfrm>
          <a:prstGeom prst="rect">
            <a:avLst/>
          </a:prstGeom>
          <a:solidFill>
            <a:srgbClr val="D26F31"/>
          </a:solidFill>
          <a:ln/>
        </p:spPr>
      </p:sp>
      <p:sp>
        <p:nvSpPr>
          <p:cNvPr id="167" name="Shape 165"/>
          <p:cNvSpPr/>
          <p:nvPr/>
        </p:nvSpPr>
        <p:spPr>
          <a:xfrm>
            <a:off x="1447038" y="6031743"/>
            <a:ext cx="45263" cy="91440"/>
          </a:xfrm>
          <a:prstGeom prst="rect">
            <a:avLst/>
          </a:prstGeom>
          <a:solidFill>
            <a:srgbClr val="D06830"/>
          </a:solidFill>
          <a:ln/>
        </p:spPr>
      </p:sp>
      <p:sp>
        <p:nvSpPr>
          <p:cNvPr id="168" name="Shape 166"/>
          <p:cNvSpPr/>
          <p:nvPr/>
        </p:nvSpPr>
        <p:spPr>
          <a:xfrm>
            <a:off x="1472184" y="6031743"/>
            <a:ext cx="45263" cy="91440"/>
          </a:xfrm>
          <a:prstGeom prst="rect">
            <a:avLst/>
          </a:prstGeom>
          <a:solidFill>
            <a:srgbClr val="CD612F"/>
          </a:solidFill>
          <a:ln/>
        </p:spPr>
      </p:sp>
      <p:sp>
        <p:nvSpPr>
          <p:cNvPr id="169" name="Shape 167"/>
          <p:cNvSpPr/>
          <p:nvPr/>
        </p:nvSpPr>
        <p:spPr>
          <a:xfrm>
            <a:off x="1497330" y="6031743"/>
            <a:ext cx="45263" cy="91440"/>
          </a:xfrm>
          <a:prstGeom prst="rect">
            <a:avLst/>
          </a:prstGeom>
          <a:solidFill>
            <a:srgbClr val="CB5A2E"/>
          </a:solidFill>
          <a:ln/>
        </p:spPr>
      </p:sp>
      <p:sp>
        <p:nvSpPr>
          <p:cNvPr id="170" name="Shape 168"/>
          <p:cNvSpPr/>
          <p:nvPr/>
        </p:nvSpPr>
        <p:spPr>
          <a:xfrm>
            <a:off x="1522476" y="6031743"/>
            <a:ext cx="45263" cy="91440"/>
          </a:xfrm>
          <a:prstGeom prst="rect">
            <a:avLst/>
          </a:prstGeom>
          <a:solidFill>
            <a:srgbClr val="C8532D"/>
          </a:solidFill>
          <a:ln/>
        </p:spPr>
      </p:sp>
      <p:sp>
        <p:nvSpPr>
          <p:cNvPr id="171" name="Shape 169"/>
          <p:cNvSpPr/>
          <p:nvPr/>
        </p:nvSpPr>
        <p:spPr>
          <a:xfrm>
            <a:off x="1547622" y="6031743"/>
            <a:ext cx="25146" cy="91440"/>
          </a:xfrm>
          <a:prstGeom prst="rect">
            <a:avLst/>
          </a:prstGeom>
          <a:solidFill>
            <a:srgbClr val="C64C2C"/>
          </a:solidFill>
          <a:ln/>
        </p:spPr>
      </p:sp>
      <p:sp>
        <p:nvSpPr>
          <p:cNvPr id="172" name="Text 170"/>
          <p:cNvSpPr txBox="1"/>
          <p:nvPr/>
        </p:nvSpPr>
        <p:spPr>
          <a:xfrm>
            <a:off x="1682496" y="5986023"/>
            <a:ext cx="1920240" cy="237744"/>
          </a:xfrm>
          <a:prstGeom prst="rect">
            <a:avLst/>
          </a:prstGeom>
          <a:noFill/>
          <a:ln/>
        </p:spPr>
        <p:txBody>
          <a:bodyPr wrap="square" lIns="0" tIns="0" rIns="0" bIns="0" rtlCol="0" anchor="ctr"/>
          <a:lstStyle/>
          <a:p>
            <a:pPr algn="l" indent="0" marL="0">
              <a:buNone/>
            </a:pPr>
            <a:r>
              <a:rPr lang="en-US" sz="1100" dirty="0">
                <a:solidFill>
                  <a:srgbClr val="5F737D"/>
                </a:solidFill>
                <a:latin typeface="Calibri" pitchFamily="34" charset="0"/>
                <a:ea typeface="Calibri" pitchFamily="34" charset="-122"/>
                <a:cs typeface="Calibri" pitchFamily="34" charset="-120"/>
              </a:rPr>
              <a:t>freezing to roasting</a:t>
            </a:r>
            <a:endParaRPr lang="en-US" sz="1100" dirty="0"/>
          </a:p>
        </p:txBody>
      </p:sp>
      <p:sp>
        <p:nvSpPr>
          <p:cNvPr id="173" name="Shape 171"/>
          <p:cNvSpPr/>
          <p:nvPr/>
        </p:nvSpPr>
        <p:spPr>
          <a:xfrm>
            <a:off x="3657600" y="6031743"/>
            <a:ext cx="82296" cy="91440"/>
          </a:xfrm>
          <a:prstGeom prst="rect">
            <a:avLst/>
          </a:prstGeom>
          <a:solidFill>
            <a:srgbClr val="2A6DB5"/>
          </a:solidFill>
          <a:ln/>
        </p:spPr>
      </p:sp>
      <p:sp>
        <p:nvSpPr>
          <p:cNvPr id="174" name="Shape 172"/>
          <p:cNvSpPr/>
          <p:nvPr/>
        </p:nvSpPr>
        <p:spPr>
          <a:xfrm>
            <a:off x="3739896" y="6031743"/>
            <a:ext cx="82296" cy="91440"/>
          </a:xfrm>
          <a:prstGeom prst="rect">
            <a:avLst/>
          </a:prstGeom>
          <a:solidFill>
            <a:srgbClr val="C64C2C"/>
          </a:solidFill>
          <a:ln/>
        </p:spPr>
      </p:sp>
      <p:sp>
        <p:nvSpPr>
          <p:cNvPr id="175" name="Shape 173"/>
          <p:cNvSpPr/>
          <p:nvPr/>
        </p:nvSpPr>
        <p:spPr>
          <a:xfrm>
            <a:off x="3822192" y="6031743"/>
            <a:ext cx="82296" cy="91440"/>
          </a:xfrm>
          <a:prstGeom prst="rect">
            <a:avLst/>
          </a:prstGeom>
          <a:solidFill>
            <a:srgbClr val="2A6DB5"/>
          </a:solidFill>
          <a:ln/>
        </p:spPr>
      </p:sp>
      <p:sp>
        <p:nvSpPr>
          <p:cNvPr id="176" name="Shape 174"/>
          <p:cNvSpPr/>
          <p:nvPr/>
        </p:nvSpPr>
        <p:spPr>
          <a:xfrm>
            <a:off x="3904488" y="6031743"/>
            <a:ext cx="82296" cy="91440"/>
          </a:xfrm>
          <a:prstGeom prst="rect">
            <a:avLst/>
          </a:prstGeom>
          <a:solidFill>
            <a:srgbClr val="C64C2C"/>
          </a:solidFill>
          <a:ln/>
        </p:spPr>
      </p:sp>
      <p:sp>
        <p:nvSpPr>
          <p:cNvPr id="177" name="Text 175"/>
          <p:cNvSpPr txBox="1"/>
          <p:nvPr/>
        </p:nvSpPr>
        <p:spPr>
          <a:xfrm>
            <a:off x="4078224" y="5986023"/>
            <a:ext cx="1097280" cy="237744"/>
          </a:xfrm>
          <a:prstGeom prst="rect">
            <a:avLst/>
          </a:prstGeom>
          <a:noFill/>
          <a:ln/>
        </p:spPr>
        <p:txBody>
          <a:bodyPr wrap="square" lIns="0" tIns="0" rIns="0" bIns="0" rtlCol="0" anchor="ctr"/>
          <a:lstStyle/>
          <a:p>
            <a:pPr algn="l" indent="0" marL="0">
              <a:buNone/>
            </a:pPr>
            <a:r>
              <a:rPr lang="en-US" sz="1100" dirty="0">
                <a:solidFill>
                  <a:srgbClr val="5F737D"/>
                </a:solidFill>
                <a:latin typeface="Calibri" pitchFamily="34" charset="0"/>
                <a:ea typeface="Calibri" pitchFamily="34" charset="-122"/>
                <a:cs typeface="Calibri" pitchFamily="34" charset="-120"/>
              </a:rPr>
              <a:t>split</a:t>
            </a:r>
            <a:endParaRPr lang="en-US" sz="1100" dirty="0"/>
          </a:p>
        </p:txBody>
      </p:sp>
      <p:sp>
        <p:nvSpPr>
          <p:cNvPr id="178" name="Text 176"/>
          <p:cNvSpPr txBox="1"/>
          <p:nvPr/>
        </p:nvSpPr>
        <p:spPr>
          <a:xfrm>
            <a:off x="5504688" y="5986023"/>
            <a:ext cx="1188720" cy="237744"/>
          </a:xfrm>
          <a:prstGeom prst="rect">
            <a:avLst/>
          </a:prstGeom>
          <a:noFill/>
          <a:ln/>
        </p:spPr>
        <p:txBody>
          <a:bodyPr wrap="square" lIns="0" tIns="0" rIns="0" bIns="0" rtlCol="0" anchor="ctr"/>
          <a:lstStyle/>
          <a:p>
            <a:pPr algn="r" indent="0" marL="0">
              <a:buNone/>
            </a:pPr>
            <a:r>
              <a:rPr lang="en-US" sz="1100" b="1" dirty="0">
                <a:solidFill>
                  <a:srgbClr val="14242C"/>
                </a:solidFill>
                <a:latin typeface="Calibri" pitchFamily="34" charset="0"/>
                <a:ea typeface="Calibri" pitchFamily="34" charset="-122"/>
                <a:cs typeface="Calibri" pitchFamily="34" charset="-120"/>
              </a:rPr>
              <a:t>Level 7</a:t>
            </a:r>
            <a:endParaRPr lang="en-US" sz="1100" dirty="0"/>
          </a:p>
        </p:txBody>
      </p:sp>
      <p:sp>
        <p:nvSpPr>
          <p:cNvPr id="179" name="Text 177"/>
          <p:cNvSpPr txBox="1"/>
          <p:nvPr/>
        </p:nvSpPr>
        <p:spPr>
          <a:xfrm>
            <a:off x="7150608" y="1664208"/>
            <a:ext cx="4474159" cy="694944"/>
          </a:xfrm>
          <a:prstGeom prst="rect">
            <a:avLst/>
          </a:prstGeom>
          <a:noFill/>
          <a:ln/>
        </p:spPr>
        <p:txBody>
          <a:bodyPr wrap="square" lIns="0" tIns="0" rIns="0" bIns="0" rtlCol="0" anchor="t"/>
          <a:lstStyle/>
          <a:p>
            <a:pPr algn="l" indent="0" marL="0">
              <a:lnSpc>
                <a:spcPts val="2000"/>
              </a:lnSpc>
              <a:buNone/>
            </a:pPr>
            <a:r>
              <a:rPr lang="en-US" sz="1500" dirty="0">
                <a:solidFill>
                  <a:srgbClr val="14242C"/>
                </a:solidFill>
                <a:latin typeface="Calibri" pitchFamily="34" charset="0"/>
                <a:ea typeface="Calibri" pitchFamily="34" charset="-122"/>
                <a:cs typeface="Calibri" pitchFamily="34" charset="-120"/>
              </a:rPr>
              <a:t>Blue is cold, red is warm, mottled means the spot is arguing with itself.</a:t>
            </a:r>
            <a:endParaRPr lang="en-US" sz="1500" dirty="0"/>
          </a:p>
        </p:txBody>
      </p:sp>
      <p:sp>
        <p:nvSpPr>
          <p:cNvPr id="180" name="Text 178"/>
          <p:cNvSpPr txBox="1"/>
          <p:nvPr/>
        </p:nvSpPr>
        <p:spPr>
          <a:xfrm>
            <a:off x="7150608" y="2542032"/>
            <a:ext cx="4474159" cy="676656"/>
          </a:xfrm>
          <a:prstGeom prst="rect">
            <a:avLst/>
          </a:prstGeom>
          <a:noFill/>
          <a:ln/>
        </p:spPr>
        <p:txBody>
          <a:bodyPr wrap="square" lIns="0" tIns="0" rIns="0" bIns="0" rtlCol="0" anchor="t"/>
          <a:lstStyle/>
          <a:p>
            <a:pPr algn="l" indent="0" marL="0">
              <a:lnSpc>
                <a:spcPts val="1800"/>
              </a:lnSpc>
              <a:buNone/>
            </a:pPr>
            <a:r>
              <a:rPr lang="en-US" sz="1350" b="1" dirty="0">
                <a:solidFill>
                  <a:srgbClr val="14242C"/>
                </a:solidFill>
                <a:latin typeface="Calibri" pitchFamily="34" charset="0"/>
                <a:ea typeface="Calibri" pitchFamily="34" charset="-122"/>
                <a:cs typeface="Calibri" pitchFamily="34" charset="-120"/>
              </a:rPr>
              <a:t>Size — </a:t>
            </a:r>
            <a:pPr algn="l" indent="0" marL="0">
              <a:lnSpc>
                <a:spcPts val="1800"/>
              </a:lnSpc>
              <a:buNone/>
            </a:pPr>
            <a:r>
              <a:rPr lang="en-US" sz="1350" dirty="0">
                <a:solidFill>
                  <a:srgbClr val="5F737D"/>
                </a:solidFill>
                <a:latin typeface="Calibri" pitchFamily="34" charset="0"/>
                <a:ea typeface="Calibri" pitchFamily="34" charset="-122"/>
                <a:cs typeface="Calibri" pitchFamily="34" charset="-120"/>
              </a:rPr>
              <a:t>how many people voted — a big patch is a confident one.</a:t>
            </a:r>
            <a:endParaRPr lang="en-US" sz="1350" dirty="0"/>
          </a:p>
        </p:txBody>
      </p:sp>
      <p:sp>
        <p:nvSpPr>
          <p:cNvPr id="181" name="Text 179"/>
          <p:cNvSpPr txBox="1"/>
          <p:nvPr/>
        </p:nvSpPr>
        <p:spPr>
          <a:xfrm>
            <a:off x="7150608" y="3328416"/>
            <a:ext cx="4474159" cy="676656"/>
          </a:xfrm>
          <a:prstGeom prst="rect">
            <a:avLst/>
          </a:prstGeom>
          <a:noFill/>
          <a:ln/>
        </p:spPr>
        <p:txBody>
          <a:bodyPr wrap="square" lIns="0" tIns="0" rIns="0" bIns="0" rtlCol="0" anchor="t"/>
          <a:lstStyle/>
          <a:p>
            <a:pPr algn="l" indent="0" marL="0">
              <a:lnSpc>
                <a:spcPts val="1800"/>
              </a:lnSpc>
              <a:buNone/>
            </a:pPr>
            <a:r>
              <a:rPr lang="en-US" sz="1350" b="1" dirty="0">
                <a:solidFill>
                  <a:srgbClr val="14242C"/>
                </a:solidFill>
                <a:latin typeface="Calibri" pitchFamily="34" charset="0"/>
                <a:ea typeface="Calibri" pitchFamily="34" charset="-122"/>
                <a:cs typeface="Calibri" pitchFamily="34" charset="-120"/>
              </a:rPr>
              <a:t>Intensity — </a:t>
            </a:r>
            <a:pPr algn="l" indent="0" marL="0">
              <a:lnSpc>
                <a:spcPts val="1800"/>
              </a:lnSpc>
              <a:buNone/>
            </a:pPr>
            <a:r>
              <a:rPr lang="en-US" sz="1350" dirty="0">
                <a:solidFill>
                  <a:srgbClr val="5F737D"/>
                </a:solidFill>
                <a:latin typeface="Calibri" pitchFamily="34" charset="0"/>
                <a:ea typeface="Calibri" pitchFamily="34" charset="-122"/>
                <a:cs typeface="Calibri" pitchFamily="34" charset="-120"/>
              </a:rPr>
              <a:t>how far from comfortable they are.</a:t>
            </a:r>
            <a:endParaRPr lang="en-US" sz="1350" dirty="0"/>
          </a:p>
        </p:txBody>
      </p:sp>
      <p:sp>
        <p:nvSpPr>
          <p:cNvPr id="182" name="Text 180"/>
          <p:cNvSpPr txBox="1"/>
          <p:nvPr/>
        </p:nvSpPr>
        <p:spPr>
          <a:xfrm>
            <a:off x="7150608" y="4114800"/>
            <a:ext cx="4474159" cy="676656"/>
          </a:xfrm>
          <a:prstGeom prst="rect">
            <a:avLst/>
          </a:prstGeom>
          <a:noFill/>
          <a:ln/>
        </p:spPr>
        <p:txBody>
          <a:bodyPr wrap="square" lIns="0" tIns="0" rIns="0" bIns="0" rtlCol="0" anchor="t"/>
          <a:lstStyle/>
          <a:p>
            <a:pPr algn="l" indent="0" marL="0">
              <a:lnSpc>
                <a:spcPts val="1800"/>
              </a:lnSpc>
              <a:buNone/>
            </a:pPr>
            <a:r>
              <a:rPr lang="en-US" sz="1350" b="1" dirty="0">
                <a:solidFill>
                  <a:srgbClr val="14242C"/>
                </a:solidFill>
                <a:latin typeface="Calibri" pitchFamily="34" charset="0"/>
                <a:ea typeface="Calibri" pitchFamily="34" charset="-122"/>
                <a:cs typeface="Calibri" pitchFamily="34" charset="-120"/>
              </a:rPr>
              <a:t>Grey — </a:t>
            </a:r>
            <a:pPr algn="l" indent="0" marL="0">
              <a:lnSpc>
                <a:spcPts val="1800"/>
              </a:lnSpc>
              <a:buNone/>
            </a:pPr>
            <a:r>
              <a:rPr lang="en-US" sz="1350" dirty="0">
                <a:solidFill>
                  <a:srgbClr val="5F737D"/>
                </a:solidFill>
                <a:latin typeface="Calibri" pitchFamily="34" charset="0"/>
                <a:ea typeface="Calibri" pitchFamily="34" charset="-122"/>
                <a:cs typeface="Calibri" pitchFamily="34" charset="-120"/>
              </a:rPr>
              <a:t>nobody has voted there. Unknown, not fine.</a:t>
            </a:r>
            <a:endParaRPr lang="en-US" sz="1350" dirty="0"/>
          </a:p>
        </p:txBody>
      </p:sp>
      <p:sp>
        <p:nvSpPr>
          <p:cNvPr id="183" name="Text 181"/>
          <p:cNvSpPr txBox="1"/>
          <p:nvPr/>
        </p:nvSpPr>
        <p:spPr>
          <a:xfrm>
            <a:off x="7150608" y="4901184"/>
            <a:ext cx="4474159" cy="676656"/>
          </a:xfrm>
          <a:prstGeom prst="rect">
            <a:avLst/>
          </a:prstGeom>
          <a:noFill/>
          <a:ln/>
        </p:spPr>
        <p:txBody>
          <a:bodyPr wrap="square" lIns="0" tIns="0" rIns="0" bIns="0" rtlCol="0" anchor="t"/>
          <a:lstStyle/>
          <a:p>
            <a:pPr algn="l" indent="0" marL="0">
              <a:lnSpc>
                <a:spcPts val="1800"/>
              </a:lnSpc>
              <a:buNone/>
            </a:pPr>
            <a:r>
              <a:rPr lang="en-US" sz="1350" b="1" dirty="0">
                <a:solidFill>
                  <a:srgbClr val="14242C"/>
                </a:solidFill>
                <a:latin typeface="Calibri" pitchFamily="34" charset="0"/>
                <a:ea typeface="Calibri" pitchFamily="34" charset="-122"/>
                <a:cs typeface="Calibri" pitchFamily="34" charset="-120"/>
              </a:rPr>
              <a:t>Mottled — </a:t>
            </a:r>
            <a:pPr algn="l" indent="0" marL="0">
              <a:lnSpc>
                <a:spcPts val="1800"/>
              </a:lnSpc>
              <a:buNone/>
            </a:pPr>
            <a:r>
              <a:rPr lang="en-US" sz="1350" dirty="0">
                <a:solidFill>
                  <a:srgbClr val="5F737D"/>
                </a:solidFill>
                <a:latin typeface="Calibri" pitchFamily="34" charset="0"/>
                <a:ea typeface="Calibri" pitchFamily="34" charset="-122"/>
                <a:cs typeface="Calibri" pitchFamily="34" charset="-120"/>
              </a:rPr>
              <a:t>the spot is arguing with itself — two colours, no blend.</a:t>
            </a:r>
            <a:endParaRPr lang="en-US" sz="1350" dirty="0"/>
          </a:p>
        </p:txBody>
      </p:sp>
      <p:sp>
        <p:nvSpPr>
          <p:cNvPr id="184" name="Shape 182"/>
          <p:cNvSpPr/>
          <p:nvPr/>
        </p:nvSpPr>
        <p:spPr>
          <a:xfrm>
            <a:off x="7150608" y="5669280"/>
            <a:ext cx="4474159" cy="566928"/>
          </a:xfrm>
          <a:prstGeom prst="roundRect">
            <a:avLst>
              <a:gd name="adj" fmla="val 9677"/>
            </a:avLst>
          </a:prstGeom>
          <a:solidFill>
            <a:srgbClr val="F3F7F9"/>
          </a:solidFill>
          <a:ln w="12700">
            <a:solidFill>
              <a:srgbClr val="CDD9DF"/>
            </a:solidFill>
            <a:prstDash val="dash"/>
          </a:ln>
        </p:spPr>
      </p:sp>
      <p:sp>
        <p:nvSpPr>
          <p:cNvPr id="185" name="Text 183"/>
          <p:cNvSpPr txBox="1"/>
          <p:nvPr/>
        </p:nvSpPr>
        <p:spPr>
          <a:xfrm>
            <a:off x="7351776" y="5669280"/>
            <a:ext cx="4071823" cy="566928"/>
          </a:xfrm>
          <a:prstGeom prst="rect">
            <a:avLst/>
          </a:prstGeom>
          <a:noFill/>
          <a:ln/>
        </p:spPr>
        <p:txBody>
          <a:bodyPr wrap="square" lIns="0" tIns="0" rIns="0" bIns="0" rtlCol="0" anchor="ctr"/>
          <a:lstStyle/>
          <a:p>
            <a:pPr algn="l" indent="0" marL="0">
              <a:buNone/>
            </a:pPr>
            <a:r>
              <a:rPr lang="en-US" sz="1150" dirty="0">
                <a:solidFill>
                  <a:srgbClr val="5F737D"/>
                </a:solidFill>
                <a:latin typeface="Calibri" pitchFamily="34" charset="0"/>
                <a:ea typeface="Calibri" pitchFamily="34" charset="-122"/>
                <a:cs typeface="Calibri" pitchFamily="34" charset="-120"/>
              </a:rPr>
              <a:t>2 spots need a look. Dotted pins haven't been placed on the plan yet.</a:t>
            </a:r>
            <a:endParaRPr lang="en-US" sz="1150" dirty="0"/>
          </a:p>
        </p:txBody>
      </p:sp>
      <p:sp>
        <p:nvSpPr>
          <p:cNvPr id="186" name="Text 184"/>
          <p:cNvSpPr txBox="1"/>
          <p:nvPr/>
        </p:nvSpPr>
        <p:spPr>
          <a:xfrm>
            <a:off x="566928" y="475488"/>
            <a:ext cx="11057839" cy="237744"/>
          </a:xfrm>
          <a:prstGeom prst="rect">
            <a:avLst/>
          </a:prstGeom>
          <a:noFill/>
          <a:ln/>
        </p:spPr>
        <p:txBody>
          <a:bodyPr wrap="square" lIns="0" tIns="0" rIns="0" bIns="0" rtlCol="0" anchor="t"/>
          <a:lstStyle/>
          <a:p>
            <a:pPr algn="l" indent="0" marL="0">
              <a:buNone/>
            </a:pPr>
            <a:r>
              <a:rPr lang="en-US" sz="1050" b="1" spc="140" kern="0" dirty="0">
                <a:solidFill>
                  <a:srgbClr val="3B9B78"/>
                </a:solidFill>
                <a:latin typeface="Calibri" pitchFamily="34" charset="0"/>
                <a:ea typeface="Calibri" pitchFamily="34" charset="-122"/>
                <a:cs typeface="Calibri" pitchFamily="34" charset="-120"/>
              </a:rPr>
              <a:t>2:56PM</a:t>
            </a:r>
            <a:endParaRPr lang="en-US" sz="1050" dirty="0"/>
          </a:p>
        </p:txBody>
      </p:sp>
      <p:sp>
        <p:nvSpPr>
          <p:cNvPr id="187" name="Text 185"/>
          <p:cNvSpPr txBox="1"/>
          <p:nvPr/>
        </p:nvSpPr>
        <p:spPr>
          <a:xfrm>
            <a:off x="566928" y="749808"/>
            <a:ext cx="11057839" cy="713232"/>
          </a:xfrm>
          <a:prstGeom prst="rect">
            <a:avLst/>
          </a:prstGeom>
          <a:noFill/>
          <a:ln/>
        </p:spPr>
        <p:txBody>
          <a:bodyPr wrap="square" lIns="0" tIns="0" rIns="0" bIns="0" rtlCol="0" anchor="t"/>
          <a:lstStyle/>
          <a:p>
            <a:pPr algn="l" indent="0" marL="0">
              <a:buNone/>
            </a:pPr>
            <a:r>
              <a:rPr lang="en-US" sz="3400" b="1" spc="-50" kern="0" dirty="0">
                <a:solidFill>
                  <a:srgbClr val="14242C"/>
                </a:solidFill>
                <a:latin typeface="Calibri" pitchFamily="34" charset="0"/>
                <a:ea typeface="Calibri" pitchFamily="34" charset="-122"/>
                <a:cs typeface="Calibri" pitchFamily="34" charset="-120"/>
              </a:rPr>
              <a:t>And on the floor plan, two colours at once</a:t>
            </a:r>
            <a:endParaRPr lang="en-US" sz="3400" dirty="0"/>
          </a:p>
        </p:txBody>
      </p:sp>
      <p:sp>
        <p:nvSpPr>
          <p:cNvPr id="188" name="Text 186"/>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5F737D"/>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7EDF0"/>
        </a:solidFill>
      </p:bgPr>
    </p:bg>
    <p:spTree>
      <p:nvGrpSpPr>
        <p:cNvPr id="1" name=""/>
        <p:cNvGrpSpPr/>
        <p:nvPr/>
      </p:nvGrpSpPr>
      <p:grpSpPr>
        <a:xfrm>
          <a:off x="0" y="0"/>
          <a:ext cx="0" cy="0"/>
          <a:chOff x="0" y="0"/>
          <a:chExt cx="0" cy="0"/>
        </a:xfrm>
      </p:grpSpPr>
      <p:sp>
        <p:nvSpPr>
          <p:cNvPr id="2" name="Text 0"/>
          <p:cNvSpPr txBox="1"/>
          <p:nvPr/>
        </p:nvSpPr>
        <p:spPr>
          <a:xfrm>
            <a:off x="566928" y="475488"/>
            <a:ext cx="11057839" cy="237744"/>
          </a:xfrm>
          <a:prstGeom prst="rect">
            <a:avLst/>
          </a:prstGeom>
          <a:noFill/>
          <a:ln/>
        </p:spPr>
        <p:txBody>
          <a:bodyPr wrap="square" lIns="0" tIns="0" rIns="0" bIns="0" rtlCol="0" anchor="t"/>
          <a:lstStyle/>
          <a:p>
            <a:pPr algn="l" indent="0" marL="0">
              <a:buNone/>
            </a:pPr>
            <a:r>
              <a:rPr lang="en-US" sz="1050" b="1" spc="140" kern="0" dirty="0">
                <a:solidFill>
                  <a:srgbClr val="3B9B78"/>
                </a:solidFill>
                <a:latin typeface="Calibri" pitchFamily="34" charset="0"/>
                <a:ea typeface="Calibri" pitchFamily="34" charset="-122"/>
                <a:cs typeface="Calibri" pitchFamily="34" charset="-120"/>
              </a:rPr>
              <a:t>3:05PM</a:t>
            </a:r>
            <a:endParaRPr lang="en-US" sz="1050" dirty="0"/>
          </a:p>
        </p:txBody>
      </p:sp>
      <p:sp>
        <p:nvSpPr>
          <p:cNvPr id="3" name="Text 1"/>
          <p:cNvSpPr txBox="1"/>
          <p:nvPr/>
        </p:nvSpPr>
        <p:spPr>
          <a:xfrm>
            <a:off x="566928" y="749808"/>
            <a:ext cx="11057839" cy="713232"/>
          </a:xfrm>
          <a:prstGeom prst="rect">
            <a:avLst/>
          </a:prstGeom>
          <a:noFill/>
          <a:ln/>
        </p:spPr>
        <p:txBody>
          <a:bodyPr wrap="square" lIns="0" tIns="0" rIns="0" bIns="0" rtlCol="0" anchor="t"/>
          <a:lstStyle/>
          <a:p>
            <a:pPr algn="l" indent="0" marL="0">
              <a:buNone/>
            </a:pPr>
            <a:r>
              <a:rPr lang="en-US" sz="3400" b="1" spc="-50" kern="0" dirty="0">
                <a:solidFill>
                  <a:srgbClr val="14242C"/>
                </a:solidFill>
                <a:latin typeface="Calibri" pitchFamily="34" charset="0"/>
                <a:ea typeface="Calibri" pitchFamily="34" charset="-122"/>
                <a:cs typeface="Calibri" pitchFamily="34" charset="-120"/>
              </a:rPr>
              <a:t>It reaches Marcus first</a:t>
            </a:r>
            <a:endParaRPr lang="en-US" sz="3400" dirty="0"/>
          </a:p>
        </p:txBody>
      </p:sp>
      <p:sp>
        <p:nvSpPr>
          <p:cNvPr id="4" name="Shape 2"/>
          <p:cNvSpPr/>
          <p:nvPr/>
        </p:nvSpPr>
        <p:spPr>
          <a:xfrm>
            <a:off x="566928" y="1645920"/>
            <a:ext cx="6446520" cy="804672"/>
          </a:xfrm>
          <a:prstGeom prst="roundRect">
            <a:avLst>
              <a:gd name="adj" fmla="val 9091"/>
            </a:avLst>
          </a:prstGeom>
          <a:solidFill>
            <a:srgbClr val="F3F7F9"/>
          </a:solidFill>
          <a:ln w="12700">
            <a:solidFill>
              <a:srgbClr val="E1E9ED"/>
            </a:solidFill>
            <a:prstDash val="solid"/>
          </a:ln>
        </p:spPr>
      </p:sp>
      <p:sp>
        <p:nvSpPr>
          <p:cNvPr id="5" name="Shape 3"/>
          <p:cNvSpPr/>
          <p:nvPr/>
        </p:nvSpPr>
        <p:spPr>
          <a:xfrm>
            <a:off x="768096" y="1792224"/>
            <a:ext cx="779023" cy="269291"/>
          </a:xfrm>
          <a:prstGeom prst="roundRect">
            <a:avLst>
              <a:gd name="adj" fmla="val 169779"/>
            </a:avLst>
          </a:prstGeom>
          <a:solidFill>
            <a:srgbClr val="FFFFFF"/>
          </a:solidFill>
          <a:ln w="15875">
            <a:solidFill>
              <a:srgbClr val="CDD9DF"/>
            </a:solidFill>
            <a:prstDash val="solid"/>
          </a:ln>
        </p:spPr>
      </p:sp>
      <p:sp>
        <p:nvSpPr>
          <p:cNvPr id="6" name="Text 4"/>
          <p:cNvSpPr txBox="1"/>
          <p:nvPr/>
        </p:nvSpPr>
        <p:spPr>
          <a:xfrm>
            <a:off x="768096" y="1801368"/>
            <a:ext cx="779023" cy="251003"/>
          </a:xfrm>
          <a:prstGeom prst="rect">
            <a:avLst/>
          </a:prstGeom>
          <a:noFill/>
          <a:ln/>
        </p:spPr>
        <p:txBody>
          <a:bodyPr wrap="square" lIns="0" tIns="0" rIns="0" bIns="0" rtlCol="0" anchor="ctr"/>
          <a:lstStyle/>
          <a:p>
            <a:pPr algn="ctr" indent="0" marL="0">
              <a:buNone/>
            </a:pPr>
            <a:r>
              <a:rPr lang="en-US" sz="950" b="1" dirty="0">
                <a:solidFill>
                  <a:srgbClr val="5F737D"/>
                </a:solidFill>
                <a:latin typeface="Calibri" pitchFamily="34" charset="0"/>
                <a:ea typeface="Calibri" pitchFamily="34" charset="-122"/>
                <a:cs typeface="Calibri" pitchFamily="34" charset="-120"/>
              </a:rPr>
              <a:t>Level 7</a:t>
            </a:r>
            <a:endParaRPr lang="en-US" sz="950" dirty="0"/>
          </a:p>
        </p:txBody>
      </p:sp>
      <p:sp>
        <p:nvSpPr>
          <p:cNvPr id="7" name="Text 5"/>
          <p:cNvSpPr txBox="1"/>
          <p:nvPr/>
        </p:nvSpPr>
        <p:spPr>
          <a:xfrm>
            <a:off x="1620271" y="1773936"/>
            <a:ext cx="3017520" cy="292608"/>
          </a:xfrm>
          <a:prstGeom prst="rect">
            <a:avLst/>
          </a:prstGeom>
          <a:noFill/>
          <a:ln/>
        </p:spPr>
        <p:txBody>
          <a:bodyPr wrap="square" lIns="0" tIns="0" rIns="0" bIns="0" rtlCol="0" anchor="ctr"/>
          <a:lstStyle/>
          <a:p>
            <a:pPr algn="l" indent="0" marL="0">
              <a:buNone/>
            </a:pPr>
            <a:r>
              <a:rPr lang="en-US" sz="1450" b="1" dirty="0">
                <a:solidFill>
                  <a:srgbClr val="14242C"/>
                </a:solidFill>
                <a:latin typeface="Calibri" pitchFamily="34" charset="0"/>
                <a:ea typeface="Calibri" pitchFamily="34" charset="-122"/>
                <a:cs typeface="Calibri" pitchFamily="34" charset="-120"/>
              </a:rPr>
              <a:t>Open floor</a:t>
            </a:r>
            <a:endParaRPr lang="en-US" sz="1450" dirty="0"/>
          </a:p>
        </p:txBody>
      </p:sp>
      <p:sp>
        <p:nvSpPr>
          <p:cNvPr id="8" name="Text 6"/>
          <p:cNvSpPr txBox="1"/>
          <p:nvPr/>
        </p:nvSpPr>
        <p:spPr>
          <a:xfrm>
            <a:off x="768096" y="2103120"/>
            <a:ext cx="4114800" cy="274320"/>
          </a:xfrm>
          <a:prstGeom prst="rect">
            <a:avLst/>
          </a:prstGeom>
          <a:noFill/>
          <a:ln/>
        </p:spPr>
        <p:txBody>
          <a:bodyPr wrap="square" lIns="0" tIns="0" rIns="0" bIns="0" rtlCol="0" anchor="t"/>
          <a:lstStyle/>
          <a:p>
            <a:pPr algn="l" indent="0" marL="0">
              <a:buNone/>
            </a:pPr>
            <a:r>
              <a:rPr lang="en-US" sz="1150" dirty="0">
                <a:solidFill>
                  <a:srgbClr val="5F737D"/>
                </a:solidFill>
                <a:latin typeface="Calibri" pitchFamily="34" charset="0"/>
                <a:ea typeface="Calibri" pitchFamily="34" charset="-122"/>
                <a:cs typeface="Calibri" pitchFamily="34" charset="-120"/>
              </a:rPr>
              <a:t>The room can't agree · 11 votes · 2 min ago</a:t>
            </a:r>
            <a:endParaRPr lang="en-US" sz="1150" dirty="0"/>
          </a:p>
        </p:txBody>
      </p:sp>
      <p:sp>
        <p:nvSpPr>
          <p:cNvPr id="9" name="Shape 7"/>
          <p:cNvSpPr/>
          <p:nvPr/>
        </p:nvSpPr>
        <p:spPr>
          <a:xfrm>
            <a:off x="4608576" y="1792224"/>
            <a:ext cx="634822" cy="269291"/>
          </a:xfrm>
          <a:prstGeom prst="roundRect">
            <a:avLst>
              <a:gd name="adj" fmla="val 169779"/>
            </a:avLst>
          </a:prstGeom>
          <a:solidFill>
            <a:srgbClr val="14242C"/>
          </a:solidFill>
          <a:ln w="15875">
            <a:solidFill>
              <a:srgbClr val="14242C"/>
            </a:solidFill>
            <a:prstDash val="solid"/>
          </a:ln>
        </p:spPr>
      </p:sp>
      <p:sp>
        <p:nvSpPr>
          <p:cNvPr id="10" name="Text 8"/>
          <p:cNvSpPr txBox="1"/>
          <p:nvPr/>
        </p:nvSpPr>
        <p:spPr>
          <a:xfrm>
            <a:off x="4608576" y="1801368"/>
            <a:ext cx="634822" cy="251003"/>
          </a:xfrm>
          <a:prstGeom prst="rect">
            <a:avLst/>
          </a:prstGeom>
          <a:noFill/>
          <a:ln/>
        </p:spPr>
        <p:txBody>
          <a:bodyPr wrap="square" lIns="0" tIns="0" rIns="0" bIns="0" rtlCol="0" anchor="ctr"/>
          <a:lstStyle/>
          <a:p>
            <a:pPr algn="ctr" indent="0" marL="0">
              <a:buNone/>
            </a:pPr>
            <a:r>
              <a:rPr lang="en-US" sz="950" b="1" dirty="0">
                <a:solidFill>
                  <a:srgbClr val="E7EDF0"/>
                </a:solidFill>
                <a:latin typeface="Calibri" pitchFamily="34" charset="0"/>
                <a:ea typeface="Calibri" pitchFamily="34" charset="-122"/>
                <a:cs typeface="Calibri" pitchFamily="34" charset="-120"/>
              </a:rPr>
              <a:t>SPLIT</a:t>
            </a:r>
            <a:endParaRPr lang="en-US" sz="950" dirty="0"/>
          </a:p>
        </p:txBody>
      </p:sp>
      <p:sp>
        <p:nvSpPr>
          <p:cNvPr id="11" name="Shape 9"/>
          <p:cNvSpPr/>
          <p:nvPr/>
        </p:nvSpPr>
        <p:spPr>
          <a:xfrm>
            <a:off x="5321808" y="1755648"/>
            <a:ext cx="256032" cy="402336"/>
          </a:xfrm>
          <a:prstGeom prst="rect">
            <a:avLst/>
          </a:prstGeom>
          <a:solidFill>
            <a:srgbClr val="2A6DB5">
              <a:alpha val="10000"/>
            </a:srgbClr>
          </a:solidFill>
          <a:ln/>
        </p:spPr>
      </p:sp>
      <p:sp>
        <p:nvSpPr>
          <p:cNvPr id="12" name="Shape 10"/>
          <p:cNvSpPr/>
          <p:nvPr/>
        </p:nvSpPr>
        <p:spPr>
          <a:xfrm>
            <a:off x="5415534" y="2011680"/>
            <a:ext cx="68580" cy="68580"/>
          </a:xfrm>
          <a:prstGeom prst="ellipse">
            <a:avLst/>
          </a:prstGeom>
          <a:solidFill>
            <a:srgbClr val="2A6DB5"/>
          </a:solidFill>
          <a:ln/>
        </p:spPr>
      </p:sp>
      <p:sp>
        <p:nvSpPr>
          <p:cNvPr id="13" name="Shape 11"/>
          <p:cNvSpPr/>
          <p:nvPr/>
        </p:nvSpPr>
        <p:spPr>
          <a:xfrm>
            <a:off x="5415534" y="1911096"/>
            <a:ext cx="68580" cy="68580"/>
          </a:xfrm>
          <a:prstGeom prst="ellipse">
            <a:avLst/>
          </a:prstGeom>
          <a:solidFill>
            <a:srgbClr val="2A6DB5"/>
          </a:solidFill>
          <a:ln/>
        </p:spPr>
      </p:sp>
      <p:sp>
        <p:nvSpPr>
          <p:cNvPr id="14" name="Shape 12"/>
          <p:cNvSpPr/>
          <p:nvPr/>
        </p:nvSpPr>
        <p:spPr>
          <a:xfrm>
            <a:off x="5415534" y="1810512"/>
            <a:ext cx="68580" cy="68580"/>
          </a:xfrm>
          <a:prstGeom prst="ellipse">
            <a:avLst/>
          </a:prstGeom>
          <a:solidFill>
            <a:srgbClr val="2A6DB5"/>
          </a:solidFill>
          <a:ln/>
        </p:spPr>
      </p:sp>
      <p:sp>
        <p:nvSpPr>
          <p:cNvPr id="15" name="Shape 13"/>
          <p:cNvSpPr/>
          <p:nvPr/>
        </p:nvSpPr>
        <p:spPr>
          <a:xfrm>
            <a:off x="5623560" y="1755648"/>
            <a:ext cx="256032" cy="402336"/>
          </a:xfrm>
          <a:prstGeom prst="rect">
            <a:avLst/>
          </a:prstGeom>
          <a:solidFill>
            <a:srgbClr val="5FA3C4">
              <a:alpha val="10000"/>
            </a:srgbClr>
          </a:solidFill>
          <a:ln/>
        </p:spPr>
      </p:sp>
      <p:sp>
        <p:nvSpPr>
          <p:cNvPr id="16" name="Shape 14"/>
          <p:cNvSpPr/>
          <p:nvPr/>
        </p:nvSpPr>
        <p:spPr>
          <a:xfrm>
            <a:off x="5717286" y="2011680"/>
            <a:ext cx="68580" cy="68580"/>
          </a:xfrm>
          <a:prstGeom prst="ellipse">
            <a:avLst/>
          </a:prstGeom>
          <a:solidFill>
            <a:srgbClr val="5FA3C4"/>
          </a:solidFill>
          <a:ln/>
        </p:spPr>
      </p:sp>
      <p:sp>
        <p:nvSpPr>
          <p:cNvPr id="17" name="Shape 15"/>
          <p:cNvSpPr/>
          <p:nvPr/>
        </p:nvSpPr>
        <p:spPr>
          <a:xfrm>
            <a:off x="5717286" y="1911096"/>
            <a:ext cx="68580" cy="68580"/>
          </a:xfrm>
          <a:prstGeom prst="ellipse">
            <a:avLst/>
          </a:prstGeom>
          <a:solidFill>
            <a:srgbClr val="5FA3C4"/>
          </a:solidFill>
          <a:ln/>
        </p:spPr>
      </p:sp>
      <p:sp>
        <p:nvSpPr>
          <p:cNvPr id="18" name="Shape 16"/>
          <p:cNvSpPr/>
          <p:nvPr/>
        </p:nvSpPr>
        <p:spPr>
          <a:xfrm>
            <a:off x="5925312" y="1755648"/>
            <a:ext cx="256032" cy="402336"/>
          </a:xfrm>
          <a:prstGeom prst="rect">
            <a:avLst/>
          </a:prstGeom>
          <a:solidFill>
            <a:srgbClr val="3B9B78">
              <a:alpha val="10000"/>
            </a:srgbClr>
          </a:solidFill>
          <a:ln/>
        </p:spPr>
      </p:sp>
      <p:sp>
        <p:nvSpPr>
          <p:cNvPr id="19" name="Shape 17"/>
          <p:cNvSpPr/>
          <p:nvPr/>
        </p:nvSpPr>
        <p:spPr>
          <a:xfrm>
            <a:off x="6019038" y="2011680"/>
            <a:ext cx="68580" cy="68580"/>
          </a:xfrm>
          <a:prstGeom prst="ellipse">
            <a:avLst/>
          </a:prstGeom>
          <a:solidFill>
            <a:srgbClr val="3B9B78"/>
          </a:solidFill>
          <a:ln/>
        </p:spPr>
      </p:sp>
      <p:sp>
        <p:nvSpPr>
          <p:cNvPr id="20" name="Shape 18"/>
          <p:cNvSpPr/>
          <p:nvPr/>
        </p:nvSpPr>
        <p:spPr>
          <a:xfrm>
            <a:off x="6227064" y="1755648"/>
            <a:ext cx="256032" cy="402336"/>
          </a:xfrm>
          <a:prstGeom prst="rect">
            <a:avLst/>
          </a:prstGeom>
          <a:solidFill>
            <a:srgbClr val="DE9036">
              <a:alpha val="10000"/>
            </a:srgbClr>
          </a:solidFill>
          <a:ln/>
        </p:spPr>
      </p:sp>
      <p:sp>
        <p:nvSpPr>
          <p:cNvPr id="21" name="Shape 19"/>
          <p:cNvSpPr/>
          <p:nvPr/>
        </p:nvSpPr>
        <p:spPr>
          <a:xfrm>
            <a:off x="6320790" y="2011680"/>
            <a:ext cx="68580" cy="68580"/>
          </a:xfrm>
          <a:prstGeom prst="ellipse">
            <a:avLst/>
          </a:prstGeom>
          <a:solidFill>
            <a:srgbClr val="DE9036"/>
          </a:solidFill>
          <a:ln/>
        </p:spPr>
      </p:sp>
      <p:sp>
        <p:nvSpPr>
          <p:cNvPr id="22" name="Shape 20"/>
          <p:cNvSpPr/>
          <p:nvPr/>
        </p:nvSpPr>
        <p:spPr>
          <a:xfrm>
            <a:off x="6320790" y="1911096"/>
            <a:ext cx="68580" cy="68580"/>
          </a:xfrm>
          <a:prstGeom prst="ellipse">
            <a:avLst/>
          </a:prstGeom>
          <a:solidFill>
            <a:srgbClr val="DE9036"/>
          </a:solidFill>
          <a:ln/>
        </p:spPr>
      </p:sp>
      <p:sp>
        <p:nvSpPr>
          <p:cNvPr id="23" name="Shape 21"/>
          <p:cNvSpPr/>
          <p:nvPr/>
        </p:nvSpPr>
        <p:spPr>
          <a:xfrm>
            <a:off x="6528816" y="1755648"/>
            <a:ext cx="256032" cy="402336"/>
          </a:xfrm>
          <a:prstGeom prst="rect">
            <a:avLst/>
          </a:prstGeom>
          <a:solidFill>
            <a:srgbClr val="C64C2C">
              <a:alpha val="10000"/>
            </a:srgbClr>
          </a:solidFill>
          <a:ln/>
        </p:spPr>
      </p:sp>
      <p:sp>
        <p:nvSpPr>
          <p:cNvPr id="24" name="Shape 22"/>
          <p:cNvSpPr/>
          <p:nvPr/>
        </p:nvSpPr>
        <p:spPr>
          <a:xfrm>
            <a:off x="6622542" y="2011680"/>
            <a:ext cx="68580" cy="68580"/>
          </a:xfrm>
          <a:prstGeom prst="ellipse">
            <a:avLst/>
          </a:prstGeom>
          <a:solidFill>
            <a:srgbClr val="C64C2C"/>
          </a:solidFill>
          <a:ln/>
        </p:spPr>
      </p:sp>
      <p:sp>
        <p:nvSpPr>
          <p:cNvPr id="25" name="Shape 23"/>
          <p:cNvSpPr/>
          <p:nvPr/>
        </p:nvSpPr>
        <p:spPr>
          <a:xfrm>
            <a:off x="6622542" y="1911096"/>
            <a:ext cx="68580" cy="68580"/>
          </a:xfrm>
          <a:prstGeom prst="ellipse">
            <a:avLst/>
          </a:prstGeom>
          <a:solidFill>
            <a:srgbClr val="C64C2C"/>
          </a:solidFill>
          <a:ln/>
        </p:spPr>
      </p:sp>
      <p:sp>
        <p:nvSpPr>
          <p:cNvPr id="26" name="Shape 24"/>
          <p:cNvSpPr/>
          <p:nvPr/>
        </p:nvSpPr>
        <p:spPr>
          <a:xfrm>
            <a:off x="6622542" y="1810512"/>
            <a:ext cx="68580" cy="68580"/>
          </a:xfrm>
          <a:prstGeom prst="ellipse">
            <a:avLst/>
          </a:prstGeom>
          <a:solidFill>
            <a:srgbClr val="C64C2C"/>
          </a:solidFill>
          <a:ln/>
        </p:spPr>
      </p:sp>
      <p:sp>
        <p:nvSpPr>
          <p:cNvPr id="27" name="Shape 25"/>
          <p:cNvSpPr/>
          <p:nvPr/>
        </p:nvSpPr>
        <p:spPr>
          <a:xfrm>
            <a:off x="5321808" y="2199132"/>
            <a:ext cx="56693" cy="68580"/>
          </a:xfrm>
          <a:prstGeom prst="rect">
            <a:avLst/>
          </a:prstGeom>
          <a:solidFill>
            <a:srgbClr val="2A6DB5"/>
          </a:solidFill>
          <a:ln/>
        </p:spPr>
      </p:sp>
      <p:sp>
        <p:nvSpPr>
          <p:cNvPr id="28" name="Shape 26"/>
          <p:cNvSpPr/>
          <p:nvPr/>
        </p:nvSpPr>
        <p:spPr>
          <a:xfrm>
            <a:off x="5358384" y="2199132"/>
            <a:ext cx="56693" cy="68580"/>
          </a:xfrm>
          <a:prstGeom prst="rect">
            <a:avLst/>
          </a:prstGeom>
          <a:solidFill>
            <a:srgbClr val="2F73B7"/>
          </a:solidFill>
          <a:ln/>
        </p:spPr>
      </p:sp>
      <p:sp>
        <p:nvSpPr>
          <p:cNvPr id="29" name="Shape 27"/>
          <p:cNvSpPr/>
          <p:nvPr/>
        </p:nvSpPr>
        <p:spPr>
          <a:xfrm>
            <a:off x="5394960" y="2199132"/>
            <a:ext cx="56693" cy="68580"/>
          </a:xfrm>
          <a:prstGeom prst="rect">
            <a:avLst/>
          </a:prstGeom>
          <a:solidFill>
            <a:srgbClr val="3578B8"/>
          </a:solidFill>
          <a:ln/>
        </p:spPr>
      </p:sp>
      <p:sp>
        <p:nvSpPr>
          <p:cNvPr id="30" name="Shape 28"/>
          <p:cNvSpPr/>
          <p:nvPr/>
        </p:nvSpPr>
        <p:spPr>
          <a:xfrm>
            <a:off x="5431536" y="2199132"/>
            <a:ext cx="56693" cy="68580"/>
          </a:xfrm>
          <a:prstGeom prst="rect">
            <a:avLst/>
          </a:prstGeom>
          <a:solidFill>
            <a:srgbClr val="3A7EBA"/>
          </a:solidFill>
          <a:ln/>
        </p:spPr>
      </p:sp>
      <p:sp>
        <p:nvSpPr>
          <p:cNvPr id="31" name="Shape 29"/>
          <p:cNvSpPr/>
          <p:nvPr/>
        </p:nvSpPr>
        <p:spPr>
          <a:xfrm>
            <a:off x="5468112" y="2199132"/>
            <a:ext cx="56693" cy="68580"/>
          </a:xfrm>
          <a:prstGeom prst="rect">
            <a:avLst/>
          </a:prstGeom>
          <a:solidFill>
            <a:srgbClr val="4083BB"/>
          </a:solidFill>
          <a:ln/>
        </p:spPr>
      </p:sp>
      <p:sp>
        <p:nvSpPr>
          <p:cNvPr id="32" name="Shape 30"/>
          <p:cNvSpPr/>
          <p:nvPr/>
        </p:nvSpPr>
        <p:spPr>
          <a:xfrm>
            <a:off x="5504688" y="2199132"/>
            <a:ext cx="56693" cy="68580"/>
          </a:xfrm>
          <a:prstGeom prst="rect">
            <a:avLst/>
          </a:prstGeom>
          <a:solidFill>
            <a:srgbClr val="4589BD"/>
          </a:solidFill>
          <a:ln/>
        </p:spPr>
      </p:sp>
      <p:sp>
        <p:nvSpPr>
          <p:cNvPr id="33" name="Shape 31"/>
          <p:cNvSpPr/>
          <p:nvPr/>
        </p:nvSpPr>
        <p:spPr>
          <a:xfrm>
            <a:off x="5541264" y="2199132"/>
            <a:ext cx="56693" cy="68580"/>
          </a:xfrm>
          <a:prstGeom prst="rect">
            <a:avLst/>
          </a:prstGeom>
          <a:solidFill>
            <a:srgbClr val="4B8EBE"/>
          </a:solidFill>
          <a:ln/>
        </p:spPr>
      </p:sp>
      <p:sp>
        <p:nvSpPr>
          <p:cNvPr id="34" name="Shape 32"/>
          <p:cNvSpPr/>
          <p:nvPr/>
        </p:nvSpPr>
        <p:spPr>
          <a:xfrm>
            <a:off x="5577840" y="2199132"/>
            <a:ext cx="56693" cy="68580"/>
          </a:xfrm>
          <a:prstGeom prst="rect">
            <a:avLst/>
          </a:prstGeom>
          <a:solidFill>
            <a:srgbClr val="5094C0"/>
          </a:solidFill>
          <a:ln/>
        </p:spPr>
      </p:sp>
      <p:sp>
        <p:nvSpPr>
          <p:cNvPr id="35" name="Shape 33"/>
          <p:cNvSpPr/>
          <p:nvPr/>
        </p:nvSpPr>
        <p:spPr>
          <a:xfrm>
            <a:off x="5614416" y="2199132"/>
            <a:ext cx="56693" cy="68580"/>
          </a:xfrm>
          <a:prstGeom prst="rect">
            <a:avLst/>
          </a:prstGeom>
          <a:solidFill>
            <a:srgbClr val="5599C1"/>
          </a:solidFill>
          <a:ln/>
        </p:spPr>
      </p:sp>
      <p:sp>
        <p:nvSpPr>
          <p:cNvPr id="36" name="Shape 34"/>
          <p:cNvSpPr/>
          <p:nvPr/>
        </p:nvSpPr>
        <p:spPr>
          <a:xfrm>
            <a:off x="5650992" y="2199132"/>
            <a:ext cx="56693" cy="68580"/>
          </a:xfrm>
          <a:prstGeom prst="rect">
            <a:avLst/>
          </a:prstGeom>
          <a:solidFill>
            <a:srgbClr val="5B9FC3"/>
          </a:solidFill>
          <a:ln/>
        </p:spPr>
      </p:sp>
      <p:sp>
        <p:nvSpPr>
          <p:cNvPr id="37" name="Shape 35"/>
          <p:cNvSpPr/>
          <p:nvPr/>
        </p:nvSpPr>
        <p:spPr>
          <a:xfrm>
            <a:off x="5687568" y="2199132"/>
            <a:ext cx="56693" cy="68580"/>
          </a:xfrm>
          <a:prstGeom prst="rect">
            <a:avLst/>
          </a:prstGeom>
          <a:solidFill>
            <a:srgbClr val="5EA3C2"/>
          </a:solidFill>
          <a:ln/>
        </p:spPr>
      </p:sp>
      <p:sp>
        <p:nvSpPr>
          <p:cNvPr id="38" name="Shape 36"/>
          <p:cNvSpPr/>
          <p:nvPr/>
        </p:nvSpPr>
        <p:spPr>
          <a:xfrm>
            <a:off x="5724144" y="2199132"/>
            <a:ext cx="56693" cy="68580"/>
          </a:xfrm>
          <a:prstGeom prst="rect">
            <a:avLst/>
          </a:prstGeom>
          <a:solidFill>
            <a:srgbClr val="5AA2BA"/>
          </a:solidFill>
          <a:ln/>
        </p:spPr>
      </p:sp>
      <p:sp>
        <p:nvSpPr>
          <p:cNvPr id="39" name="Shape 37"/>
          <p:cNvSpPr/>
          <p:nvPr/>
        </p:nvSpPr>
        <p:spPr>
          <a:xfrm>
            <a:off x="5760720" y="2199132"/>
            <a:ext cx="56693" cy="68580"/>
          </a:xfrm>
          <a:prstGeom prst="rect">
            <a:avLst/>
          </a:prstGeom>
          <a:solidFill>
            <a:srgbClr val="57A1B2"/>
          </a:solidFill>
          <a:ln/>
        </p:spPr>
      </p:sp>
      <p:sp>
        <p:nvSpPr>
          <p:cNvPr id="40" name="Shape 38"/>
          <p:cNvSpPr/>
          <p:nvPr/>
        </p:nvSpPr>
        <p:spPr>
          <a:xfrm>
            <a:off x="5797296" y="2199132"/>
            <a:ext cx="56693" cy="68580"/>
          </a:xfrm>
          <a:prstGeom prst="rect">
            <a:avLst/>
          </a:prstGeom>
          <a:solidFill>
            <a:srgbClr val="53A0AB"/>
          </a:solidFill>
          <a:ln/>
        </p:spPr>
      </p:sp>
      <p:sp>
        <p:nvSpPr>
          <p:cNvPr id="41" name="Shape 39"/>
          <p:cNvSpPr/>
          <p:nvPr/>
        </p:nvSpPr>
        <p:spPr>
          <a:xfrm>
            <a:off x="5833872" y="2199132"/>
            <a:ext cx="56693" cy="68580"/>
          </a:xfrm>
          <a:prstGeom prst="rect">
            <a:avLst/>
          </a:prstGeom>
          <a:solidFill>
            <a:srgbClr val="4FA0A3"/>
          </a:solidFill>
          <a:ln/>
        </p:spPr>
      </p:sp>
      <p:sp>
        <p:nvSpPr>
          <p:cNvPr id="42" name="Shape 40"/>
          <p:cNvSpPr/>
          <p:nvPr/>
        </p:nvSpPr>
        <p:spPr>
          <a:xfrm>
            <a:off x="5870448" y="2199132"/>
            <a:ext cx="56693" cy="68580"/>
          </a:xfrm>
          <a:prstGeom prst="rect">
            <a:avLst/>
          </a:prstGeom>
          <a:solidFill>
            <a:srgbClr val="4C9F9B"/>
          </a:solidFill>
          <a:ln/>
        </p:spPr>
      </p:sp>
      <p:sp>
        <p:nvSpPr>
          <p:cNvPr id="43" name="Shape 41"/>
          <p:cNvSpPr/>
          <p:nvPr/>
        </p:nvSpPr>
        <p:spPr>
          <a:xfrm>
            <a:off x="5907024" y="2199132"/>
            <a:ext cx="56693" cy="68580"/>
          </a:xfrm>
          <a:prstGeom prst="rect">
            <a:avLst/>
          </a:prstGeom>
          <a:solidFill>
            <a:srgbClr val="489E93"/>
          </a:solidFill>
          <a:ln/>
        </p:spPr>
      </p:sp>
      <p:sp>
        <p:nvSpPr>
          <p:cNvPr id="44" name="Shape 42"/>
          <p:cNvSpPr/>
          <p:nvPr/>
        </p:nvSpPr>
        <p:spPr>
          <a:xfrm>
            <a:off x="5943600" y="2199132"/>
            <a:ext cx="56693" cy="68580"/>
          </a:xfrm>
          <a:prstGeom prst="rect">
            <a:avLst/>
          </a:prstGeom>
          <a:solidFill>
            <a:srgbClr val="449D8B"/>
          </a:solidFill>
          <a:ln/>
        </p:spPr>
      </p:sp>
      <p:sp>
        <p:nvSpPr>
          <p:cNvPr id="45" name="Shape 43"/>
          <p:cNvSpPr/>
          <p:nvPr/>
        </p:nvSpPr>
        <p:spPr>
          <a:xfrm>
            <a:off x="5980176" y="2199132"/>
            <a:ext cx="56693" cy="68580"/>
          </a:xfrm>
          <a:prstGeom prst="rect">
            <a:avLst/>
          </a:prstGeom>
          <a:solidFill>
            <a:srgbClr val="419C84"/>
          </a:solidFill>
          <a:ln/>
        </p:spPr>
      </p:sp>
      <p:sp>
        <p:nvSpPr>
          <p:cNvPr id="46" name="Shape 44"/>
          <p:cNvSpPr/>
          <p:nvPr/>
        </p:nvSpPr>
        <p:spPr>
          <a:xfrm>
            <a:off x="6016752" y="2199132"/>
            <a:ext cx="56693" cy="68580"/>
          </a:xfrm>
          <a:prstGeom prst="rect">
            <a:avLst/>
          </a:prstGeom>
          <a:solidFill>
            <a:srgbClr val="3D9B7C"/>
          </a:solidFill>
          <a:ln/>
        </p:spPr>
      </p:sp>
      <p:sp>
        <p:nvSpPr>
          <p:cNvPr id="47" name="Shape 45"/>
          <p:cNvSpPr/>
          <p:nvPr/>
        </p:nvSpPr>
        <p:spPr>
          <a:xfrm>
            <a:off x="6053328" y="2199132"/>
            <a:ext cx="56693" cy="68580"/>
          </a:xfrm>
          <a:prstGeom prst="rect">
            <a:avLst/>
          </a:prstGeom>
          <a:solidFill>
            <a:srgbClr val="439A75"/>
          </a:solidFill>
          <a:ln/>
        </p:spPr>
      </p:sp>
      <p:sp>
        <p:nvSpPr>
          <p:cNvPr id="48" name="Shape 46"/>
          <p:cNvSpPr/>
          <p:nvPr/>
        </p:nvSpPr>
        <p:spPr>
          <a:xfrm>
            <a:off x="6089904" y="2199132"/>
            <a:ext cx="56693" cy="68580"/>
          </a:xfrm>
          <a:prstGeom prst="rect">
            <a:avLst/>
          </a:prstGeom>
          <a:solidFill>
            <a:srgbClr val="54996E"/>
          </a:solidFill>
          <a:ln/>
        </p:spPr>
      </p:sp>
      <p:sp>
        <p:nvSpPr>
          <p:cNvPr id="49" name="Shape 47"/>
          <p:cNvSpPr/>
          <p:nvPr/>
        </p:nvSpPr>
        <p:spPr>
          <a:xfrm>
            <a:off x="6126480" y="2199132"/>
            <a:ext cx="56693" cy="68580"/>
          </a:xfrm>
          <a:prstGeom prst="rect">
            <a:avLst/>
          </a:prstGeom>
          <a:solidFill>
            <a:srgbClr val="659867"/>
          </a:solidFill>
          <a:ln/>
        </p:spPr>
      </p:sp>
      <p:sp>
        <p:nvSpPr>
          <p:cNvPr id="50" name="Shape 48"/>
          <p:cNvSpPr/>
          <p:nvPr/>
        </p:nvSpPr>
        <p:spPr>
          <a:xfrm>
            <a:off x="6163056" y="2199132"/>
            <a:ext cx="56693" cy="68580"/>
          </a:xfrm>
          <a:prstGeom prst="rect">
            <a:avLst/>
          </a:prstGeom>
          <a:solidFill>
            <a:srgbClr val="769760"/>
          </a:solidFill>
          <a:ln/>
        </p:spPr>
      </p:sp>
      <p:sp>
        <p:nvSpPr>
          <p:cNvPr id="51" name="Shape 49"/>
          <p:cNvSpPr/>
          <p:nvPr/>
        </p:nvSpPr>
        <p:spPr>
          <a:xfrm>
            <a:off x="6199632" y="2199132"/>
            <a:ext cx="56693" cy="68580"/>
          </a:xfrm>
          <a:prstGeom prst="rect">
            <a:avLst/>
          </a:prstGeom>
          <a:solidFill>
            <a:srgbClr val="86965A"/>
          </a:solidFill>
          <a:ln/>
        </p:spPr>
      </p:sp>
      <p:sp>
        <p:nvSpPr>
          <p:cNvPr id="52" name="Shape 50"/>
          <p:cNvSpPr/>
          <p:nvPr/>
        </p:nvSpPr>
        <p:spPr>
          <a:xfrm>
            <a:off x="6236208" y="2199132"/>
            <a:ext cx="56693" cy="68580"/>
          </a:xfrm>
          <a:prstGeom prst="rect">
            <a:avLst/>
          </a:prstGeom>
          <a:solidFill>
            <a:srgbClr val="979553"/>
          </a:solidFill>
          <a:ln/>
        </p:spPr>
      </p:sp>
      <p:sp>
        <p:nvSpPr>
          <p:cNvPr id="53" name="Shape 51"/>
          <p:cNvSpPr/>
          <p:nvPr/>
        </p:nvSpPr>
        <p:spPr>
          <a:xfrm>
            <a:off x="6272784" y="2199132"/>
            <a:ext cx="56693" cy="68580"/>
          </a:xfrm>
          <a:prstGeom prst="rect">
            <a:avLst/>
          </a:prstGeom>
          <a:solidFill>
            <a:srgbClr val="A8944C"/>
          </a:solidFill>
          <a:ln/>
        </p:spPr>
      </p:sp>
      <p:sp>
        <p:nvSpPr>
          <p:cNvPr id="54" name="Shape 52"/>
          <p:cNvSpPr/>
          <p:nvPr/>
        </p:nvSpPr>
        <p:spPr>
          <a:xfrm>
            <a:off x="6309360" y="2199132"/>
            <a:ext cx="56693" cy="68580"/>
          </a:xfrm>
          <a:prstGeom prst="rect">
            <a:avLst/>
          </a:prstGeom>
          <a:solidFill>
            <a:srgbClr val="B89345"/>
          </a:solidFill>
          <a:ln/>
        </p:spPr>
      </p:sp>
      <p:sp>
        <p:nvSpPr>
          <p:cNvPr id="55" name="Shape 53"/>
          <p:cNvSpPr/>
          <p:nvPr/>
        </p:nvSpPr>
        <p:spPr>
          <a:xfrm>
            <a:off x="6345936" y="2199132"/>
            <a:ext cx="56693" cy="68580"/>
          </a:xfrm>
          <a:prstGeom prst="rect">
            <a:avLst/>
          </a:prstGeom>
          <a:solidFill>
            <a:srgbClr val="C9913E"/>
          </a:solidFill>
          <a:ln/>
        </p:spPr>
      </p:sp>
      <p:sp>
        <p:nvSpPr>
          <p:cNvPr id="56" name="Shape 54"/>
          <p:cNvSpPr/>
          <p:nvPr/>
        </p:nvSpPr>
        <p:spPr>
          <a:xfrm>
            <a:off x="6382512" y="2199132"/>
            <a:ext cx="56693" cy="68580"/>
          </a:xfrm>
          <a:prstGeom prst="rect">
            <a:avLst/>
          </a:prstGeom>
          <a:solidFill>
            <a:srgbClr val="DA9038"/>
          </a:solidFill>
          <a:ln/>
        </p:spPr>
      </p:sp>
      <p:sp>
        <p:nvSpPr>
          <p:cNvPr id="57" name="Shape 55"/>
          <p:cNvSpPr/>
          <p:nvPr/>
        </p:nvSpPr>
        <p:spPr>
          <a:xfrm>
            <a:off x="6419088" y="2199132"/>
            <a:ext cx="56693" cy="68580"/>
          </a:xfrm>
          <a:prstGeom prst="rect">
            <a:avLst/>
          </a:prstGeom>
          <a:solidFill>
            <a:srgbClr val="DC8B35"/>
          </a:solidFill>
          <a:ln/>
        </p:spPr>
      </p:sp>
      <p:sp>
        <p:nvSpPr>
          <p:cNvPr id="58" name="Shape 56"/>
          <p:cNvSpPr/>
          <p:nvPr/>
        </p:nvSpPr>
        <p:spPr>
          <a:xfrm>
            <a:off x="6455664" y="2199132"/>
            <a:ext cx="56693" cy="68580"/>
          </a:xfrm>
          <a:prstGeom prst="rect">
            <a:avLst/>
          </a:prstGeom>
          <a:solidFill>
            <a:srgbClr val="DA8434"/>
          </a:solidFill>
          <a:ln/>
        </p:spPr>
      </p:sp>
      <p:sp>
        <p:nvSpPr>
          <p:cNvPr id="59" name="Shape 57"/>
          <p:cNvSpPr/>
          <p:nvPr/>
        </p:nvSpPr>
        <p:spPr>
          <a:xfrm>
            <a:off x="6492240" y="2199132"/>
            <a:ext cx="56693" cy="68580"/>
          </a:xfrm>
          <a:prstGeom prst="rect">
            <a:avLst/>
          </a:prstGeom>
          <a:solidFill>
            <a:srgbClr val="D77D33"/>
          </a:solidFill>
          <a:ln/>
        </p:spPr>
      </p:sp>
      <p:sp>
        <p:nvSpPr>
          <p:cNvPr id="60" name="Shape 58"/>
          <p:cNvSpPr/>
          <p:nvPr/>
        </p:nvSpPr>
        <p:spPr>
          <a:xfrm>
            <a:off x="6528816" y="2199132"/>
            <a:ext cx="56693" cy="68580"/>
          </a:xfrm>
          <a:prstGeom prst="rect">
            <a:avLst/>
          </a:prstGeom>
          <a:solidFill>
            <a:srgbClr val="D57632"/>
          </a:solidFill>
          <a:ln/>
        </p:spPr>
      </p:sp>
      <p:sp>
        <p:nvSpPr>
          <p:cNvPr id="61" name="Shape 59"/>
          <p:cNvSpPr/>
          <p:nvPr/>
        </p:nvSpPr>
        <p:spPr>
          <a:xfrm>
            <a:off x="6565392" y="2199132"/>
            <a:ext cx="56693" cy="68580"/>
          </a:xfrm>
          <a:prstGeom prst="rect">
            <a:avLst/>
          </a:prstGeom>
          <a:solidFill>
            <a:srgbClr val="D26F31"/>
          </a:solidFill>
          <a:ln/>
        </p:spPr>
      </p:sp>
      <p:sp>
        <p:nvSpPr>
          <p:cNvPr id="62" name="Shape 60"/>
          <p:cNvSpPr/>
          <p:nvPr/>
        </p:nvSpPr>
        <p:spPr>
          <a:xfrm>
            <a:off x="6601968" y="2199132"/>
            <a:ext cx="56693" cy="68580"/>
          </a:xfrm>
          <a:prstGeom prst="rect">
            <a:avLst/>
          </a:prstGeom>
          <a:solidFill>
            <a:srgbClr val="D06830"/>
          </a:solidFill>
          <a:ln/>
        </p:spPr>
      </p:sp>
      <p:sp>
        <p:nvSpPr>
          <p:cNvPr id="63" name="Shape 61"/>
          <p:cNvSpPr/>
          <p:nvPr/>
        </p:nvSpPr>
        <p:spPr>
          <a:xfrm>
            <a:off x="6638544" y="2199132"/>
            <a:ext cx="56693" cy="68580"/>
          </a:xfrm>
          <a:prstGeom prst="rect">
            <a:avLst/>
          </a:prstGeom>
          <a:solidFill>
            <a:srgbClr val="CD612F"/>
          </a:solidFill>
          <a:ln/>
        </p:spPr>
      </p:sp>
      <p:sp>
        <p:nvSpPr>
          <p:cNvPr id="64" name="Shape 62"/>
          <p:cNvSpPr/>
          <p:nvPr/>
        </p:nvSpPr>
        <p:spPr>
          <a:xfrm>
            <a:off x="6675120" y="2199132"/>
            <a:ext cx="56693" cy="68580"/>
          </a:xfrm>
          <a:prstGeom prst="rect">
            <a:avLst/>
          </a:prstGeom>
          <a:solidFill>
            <a:srgbClr val="CB5A2E"/>
          </a:solidFill>
          <a:ln/>
        </p:spPr>
      </p:sp>
      <p:sp>
        <p:nvSpPr>
          <p:cNvPr id="65" name="Shape 63"/>
          <p:cNvSpPr/>
          <p:nvPr/>
        </p:nvSpPr>
        <p:spPr>
          <a:xfrm>
            <a:off x="6711696" y="2199132"/>
            <a:ext cx="56693" cy="68580"/>
          </a:xfrm>
          <a:prstGeom prst="rect">
            <a:avLst/>
          </a:prstGeom>
          <a:solidFill>
            <a:srgbClr val="C8532D"/>
          </a:solidFill>
          <a:ln/>
        </p:spPr>
      </p:sp>
      <p:sp>
        <p:nvSpPr>
          <p:cNvPr id="66" name="Shape 64"/>
          <p:cNvSpPr/>
          <p:nvPr/>
        </p:nvSpPr>
        <p:spPr>
          <a:xfrm>
            <a:off x="6748272" y="2199132"/>
            <a:ext cx="36576" cy="68580"/>
          </a:xfrm>
          <a:prstGeom prst="rect">
            <a:avLst/>
          </a:prstGeom>
          <a:solidFill>
            <a:srgbClr val="C64C2C"/>
          </a:solidFill>
          <a:ln/>
        </p:spPr>
      </p:sp>
      <p:sp>
        <p:nvSpPr>
          <p:cNvPr id="67" name="Shape 65"/>
          <p:cNvSpPr/>
          <p:nvPr/>
        </p:nvSpPr>
        <p:spPr>
          <a:xfrm>
            <a:off x="6053328" y="2267712"/>
            <a:ext cx="0" cy="155448"/>
          </a:xfrm>
          <a:prstGeom prst="line">
            <a:avLst/>
          </a:prstGeom>
          <a:noFill/>
          <a:ln w="28575">
            <a:solidFill>
              <a:srgbClr val="14242C"/>
            </a:solidFill>
            <a:prstDash val="dash"/>
          </a:ln>
        </p:spPr>
      </p:sp>
      <p:sp>
        <p:nvSpPr>
          <p:cNvPr id="68" name="Shape 66"/>
          <p:cNvSpPr/>
          <p:nvPr/>
        </p:nvSpPr>
        <p:spPr>
          <a:xfrm>
            <a:off x="566928" y="2560320"/>
            <a:ext cx="6446520" cy="804672"/>
          </a:xfrm>
          <a:prstGeom prst="roundRect">
            <a:avLst>
              <a:gd name="adj" fmla="val 9091"/>
            </a:avLst>
          </a:prstGeom>
          <a:solidFill>
            <a:srgbClr val="FFFFFF"/>
          </a:solidFill>
          <a:ln w="12700">
            <a:solidFill>
              <a:srgbClr val="E1E9ED"/>
            </a:solidFill>
            <a:prstDash val="solid"/>
          </a:ln>
        </p:spPr>
      </p:sp>
      <p:sp>
        <p:nvSpPr>
          <p:cNvPr id="69" name="Shape 67"/>
          <p:cNvSpPr/>
          <p:nvPr/>
        </p:nvSpPr>
        <p:spPr>
          <a:xfrm>
            <a:off x="768096" y="2706624"/>
            <a:ext cx="779023" cy="269291"/>
          </a:xfrm>
          <a:prstGeom prst="roundRect">
            <a:avLst>
              <a:gd name="adj" fmla="val 169779"/>
            </a:avLst>
          </a:prstGeom>
          <a:solidFill>
            <a:srgbClr val="FFFFFF"/>
          </a:solidFill>
          <a:ln w="15875">
            <a:solidFill>
              <a:srgbClr val="CDD9DF"/>
            </a:solidFill>
            <a:prstDash val="solid"/>
          </a:ln>
        </p:spPr>
      </p:sp>
      <p:sp>
        <p:nvSpPr>
          <p:cNvPr id="70" name="Text 68"/>
          <p:cNvSpPr txBox="1"/>
          <p:nvPr/>
        </p:nvSpPr>
        <p:spPr>
          <a:xfrm>
            <a:off x="768096" y="2715768"/>
            <a:ext cx="779023" cy="251003"/>
          </a:xfrm>
          <a:prstGeom prst="rect">
            <a:avLst/>
          </a:prstGeom>
          <a:noFill/>
          <a:ln/>
        </p:spPr>
        <p:txBody>
          <a:bodyPr wrap="square" lIns="0" tIns="0" rIns="0" bIns="0" rtlCol="0" anchor="ctr"/>
          <a:lstStyle/>
          <a:p>
            <a:pPr algn="ctr" indent="0" marL="0">
              <a:buNone/>
            </a:pPr>
            <a:r>
              <a:rPr lang="en-US" sz="950" b="1" dirty="0">
                <a:solidFill>
                  <a:srgbClr val="5F737D"/>
                </a:solidFill>
                <a:latin typeface="Calibri" pitchFamily="34" charset="0"/>
                <a:ea typeface="Calibri" pitchFamily="34" charset="-122"/>
                <a:cs typeface="Calibri" pitchFamily="34" charset="-120"/>
              </a:rPr>
              <a:t>Level 7</a:t>
            </a:r>
            <a:endParaRPr lang="en-US" sz="950" dirty="0"/>
          </a:p>
        </p:txBody>
      </p:sp>
      <p:sp>
        <p:nvSpPr>
          <p:cNvPr id="71" name="Text 69"/>
          <p:cNvSpPr txBox="1"/>
          <p:nvPr/>
        </p:nvSpPr>
        <p:spPr>
          <a:xfrm>
            <a:off x="1620271" y="2688336"/>
            <a:ext cx="3017520" cy="292608"/>
          </a:xfrm>
          <a:prstGeom prst="rect">
            <a:avLst/>
          </a:prstGeom>
          <a:noFill/>
          <a:ln/>
        </p:spPr>
        <p:txBody>
          <a:bodyPr wrap="square" lIns="0" tIns="0" rIns="0" bIns="0" rtlCol="0" anchor="ctr"/>
          <a:lstStyle/>
          <a:p>
            <a:pPr algn="l" indent="0" marL="0">
              <a:buNone/>
            </a:pPr>
            <a:r>
              <a:rPr lang="en-US" sz="1450" b="1" dirty="0">
                <a:solidFill>
                  <a:srgbClr val="14242C"/>
                </a:solidFill>
                <a:latin typeface="Calibri" pitchFamily="34" charset="0"/>
                <a:ea typeface="Calibri" pitchFamily="34" charset="-122"/>
                <a:cs typeface="Calibri" pitchFamily="34" charset="-120"/>
              </a:rPr>
              <a:t>North window seats</a:t>
            </a:r>
            <a:endParaRPr lang="en-US" sz="1450" dirty="0"/>
          </a:p>
        </p:txBody>
      </p:sp>
      <p:sp>
        <p:nvSpPr>
          <p:cNvPr id="72" name="Text 70"/>
          <p:cNvSpPr txBox="1"/>
          <p:nvPr/>
        </p:nvSpPr>
        <p:spPr>
          <a:xfrm>
            <a:off x="768096" y="3017520"/>
            <a:ext cx="4114800" cy="274320"/>
          </a:xfrm>
          <a:prstGeom prst="rect">
            <a:avLst/>
          </a:prstGeom>
          <a:noFill/>
          <a:ln/>
        </p:spPr>
        <p:txBody>
          <a:bodyPr wrap="square" lIns="0" tIns="0" rIns="0" bIns="0" rtlCol="0" anchor="t"/>
          <a:lstStyle/>
          <a:p>
            <a:pPr algn="l" indent="0" marL="0">
              <a:buNone/>
            </a:pPr>
            <a:r>
              <a:rPr lang="en-US" sz="1150" dirty="0">
                <a:solidFill>
                  <a:srgbClr val="5F737D"/>
                </a:solidFill>
                <a:latin typeface="Calibri" pitchFamily="34" charset="0"/>
                <a:ea typeface="Calibri" pitchFamily="34" charset="-122"/>
                <a:cs typeface="Calibri" pitchFamily="34" charset="-120"/>
              </a:rPr>
              <a:t>Too warm · 6 votes · 8 min ago</a:t>
            </a:r>
            <a:endParaRPr lang="en-US" sz="1150" dirty="0"/>
          </a:p>
        </p:txBody>
      </p:sp>
      <p:sp>
        <p:nvSpPr>
          <p:cNvPr id="73" name="Shape 71"/>
          <p:cNvSpPr/>
          <p:nvPr/>
        </p:nvSpPr>
        <p:spPr>
          <a:xfrm>
            <a:off x="5321808" y="2670048"/>
            <a:ext cx="256032" cy="402336"/>
          </a:xfrm>
          <a:prstGeom prst="rect">
            <a:avLst/>
          </a:prstGeom>
          <a:solidFill>
            <a:srgbClr val="2A6DB5">
              <a:alpha val="10000"/>
            </a:srgbClr>
          </a:solidFill>
          <a:ln/>
        </p:spPr>
      </p:sp>
      <p:sp>
        <p:nvSpPr>
          <p:cNvPr id="74" name="Shape 72"/>
          <p:cNvSpPr/>
          <p:nvPr/>
        </p:nvSpPr>
        <p:spPr>
          <a:xfrm>
            <a:off x="5623560" y="2670048"/>
            <a:ext cx="256032" cy="402336"/>
          </a:xfrm>
          <a:prstGeom prst="rect">
            <a:avLst/>
          </a:prstGeom>
          <a:solidFill>
            <a:srgbClr val="5FA3C4">
              <a:alpha val="10000"/>
            </a:srgbClr>
          </a:solidFill>
          <a:ln/>
        </p:spPr>
      </p:sp>
      <p:sp>
        <p:nvSpPr>
          <p:cNvPr id="75" name="Shape 73"/>
          <p:cNvSpPr/>
          <p:nvPr/>
        </p:nvSpPr>
        <p:spPr>
          <a:xfrm>
            <a:off x="5925312" y="2670048"/>
            <a:ext cx="256032" cy="402336"/>
          </a:xfrm>
          <a:prstGeom prst="rect">
            <a:avLst/>
          </a:prstGeom>
          <a:solidFill>
            <a:srgbClr val="3B9B78">
              <a:alpha val="10000"/>
            </a:srgbClr>
          </a:solidFill>
          <a:ln/>
        </p:spPr>
      </p:sp>
      <p:sp>
        <p:nvSpPr>
          <p:cNvPr id="76" name="Shape 74"/>
          <p:cNvSpPr/>
          <p:nvPr/>
        </p:nvSpPr>
        <p:spPr>
          <a:xfrm>
            <a:off x="6019038" y="2926080"/>
            <a:ext cx="68580" cy="68580"/>
          </a:xfrm>
          <a:prstGeom prst="ellipse">
            <a:avLst/>
          </a:prstGeom>
          <a:solidFill>
            <a:srgbClr val="3B9B78"/>
          </a:solidFill>
          <a:ln/>
        </p:spPr>
      </p:sp>
      <p:sp>
        <p:nvSpPr>
          <p:cNvPr id="77" name="Shape 75"/>
          <p:cNvSpPr/>
          <p:nvPr/>
        </p:nvSpPr>
        <p:spPr>
          <a:xfrm>
            <a:off x="6227064" y="2670048"/>
            <a:ext cx="256032" cy="402336"/>
          </a:xfrm>
          <a:prstGeom prst="rect">
            <a:avLst/>
          </a:prstGeom>
          <a:solidFill>
            <a:srgbClr val="DE9036">
              <a:alpha val="10000"/>
            </a:srgbClr>
          </a:solidFill>
          <a:ln/>
        </p:spPr>
      </p:sp>
      <p:sp>
        <p:nvSpPr>
          <p:cNvPr id="78" name="Shape 76"/>
          <p:cNvSpPr/>
          <p:nvPr/>
        </p:nvSpPr>
        <p:spPr>
          <a:xfrm>
            <a:off x="6320790" y="2926080"/>
            <a:ext cx="68580" cy="68580"/>
          </a:xfrm>
          <a:prstGeom prst="ellipse">
            <a:avLst/>
          </a:prstGeom>
          <a:solidFill>
            <a:srgbClr val="DE9036"/>
          </a:solidFill>
          <a:ln/>
        </p:spPr>
      </p:sp>
      <p:sp>
        <p:nvSpPr>
          <p:cNvPr id="79" name="Shape 77"/>
          <p:cNvSpPr/>
          <p:nvPr/>
        </p:nvSpPr>
        <p:spPr>
          <a:xfrm>
            <a:off x="6320790" y="2825496"/>
            <a:ext cx="68580" cy="68580"/>
          </a:xfrm>
          <a:prstGeom prst="ellipse">
            <a:avLst/>
          </a:prstGeom>
          <a:solidFill>
            <a:srgbClr val="DE9036"/>
          </a:solidFill>
          <a:ln/>
        </p:spPr>
      </p:sp>
      <p:sp>
        <p:nvSpPr>
          <p:cNvPr id="80" name="Shape 78"/>
          <p:cNvSpPr/>
          <p:nvPr/>
        </p:nvSpPr>
        <p:spPr>
          <a:xfrm>
            <a:off x="6528816" y="2670048"/>
            <a:ext cx="256032" cy="402336"/>
          </a:xfrm>
          <a:prstGeom prst="rect">
            <a:avLst/>
          </a:prstGeom>
          <a:solidFill>
            <a:srgbClr val="C64C2C">
              <a:alpha val="10000"/>
            </a:srgbClr>
          </a:solidFill>
          <a:ln/>
        </p:spPr>
      </p:sp>
      <p:sp>
        <p:nvSpPr>
          <p:cNvPr id="81" name="Shape 79"/>
          <p:cNvSpPr/>
          <p:nvPr/>
        </p:nvSpPr>
        <p:spPr>
          <a:xfrm>
            <a:off x="6622542" y="2926080"/>
            <a:ext cx="68580" cy="68580"/>
          </a:xfrm>
          <a:prstGeom prst="ellipse">
            <a:avLst/>
          </a:prstGeom>
          <a:solidFill>
            <a:srgbClr val="C64C2C"/>
          </a:solidFill>
          <a:ln/>
        </p:spPr>
      </p:sp>
      <p:sp>
        <p:nvSpPr>
          <p:cNvPr id="82" name="Shape 80"/>
          <p:cNvSpPr/>
          <p:nvPr/>
        </p:nvSpPr>
        <p:spPr>
          <a:xfrm>
            <a:off x="6622542" y="2825496"/>
            <a:ext cx="68580" cy="68580"/>
          </a:xfrm>
          <a:prstGeom prst="ellipse">
            <a:avLst/>
          </a:prstGeom>
          <a:solidFill>
            <a:srgbClr val="C64C2C"/>
          </a:solidFill>
          <a:ln/>
        </p:spPr>
      </p:sp>
      <p:sp>
        <p:nvSpPr>
          <p:cNvPr id="83" name="Shape 81"/>
          <p:cNvSpPr/>
          <p:nvPr/>
        </p:nvSpPr>
        <p:spPr>
          <a:xfrm>
            <a:off x="6622542" y="2724912"/>
            <a:ext cx="68580" cy="68580"/>
          </a:xfrm>
          <a:prstGeom prst="ellipse">
            <a:avLst/>
          </a:prstGeom>
          <a:solidFill>
            <a:srgbClr val="C64C2C"/>
          </a:solidFill>
          <a:ln/>
        </p:spPr>
      </p:sp>
      <p:sp>
        <p:nvSpPr>
          <p:cNvPr id="84" name="Shape 82"/>
          <p:cNvSpPr/>
          <p:nvPr/>
        </p:nvSpPr>
        <p:spPr>
          <a:xfrm>
            <a:off x="5321808" y="3113532"/>
            <a:ext cx="56693" cy="68580"/>
          </a:xfrm>
          <a:prstGeom prst="rect">
            <a:avLst/>
          </a:prstGeom>
          <a:solidFill>
            <a:srgbClr val="2A6DB5"/>
          </a:solidFill>
          <a:ln/>
        </p:spPr>
      </p:sp>
      <p:sp>
        <p:nvSpPr>
          <p:cNvPr id="85" name="Shape 83"/>
          <p:cNvSpPr/>
          <p:nvPr/>
        </p:nvSpPr>
        <p:spPr>
          <a:xfrm>
            <a:off x="5358384" y="3113532"/>
            <a:ext cx="56693" cy="68580"/>
          </a:xfrm>
          <a:prstGeom prst="rect">
            <a:avLst/>
          </a:prstGeom>
          <a:solidFill>
            <a:srgbClr val="2F73B7"/>
          </a:solidFill>
          <a:ln/>
        </p:spPr>
      </p:sp>
      <p:sp>
        <p:nvSpPr>
          <p:cNvPr id="86" name="Shape 84"/>
          <p:cNvSpPr/>
          <p:nvPr/>
        </p:nvSpPr>
        <p:spPr>
          <a:xfrm>
            <a:off x="5394960" y="3113532"/>
            <a:ext cx="56693" cy="68580"/>
          </a:xfrm>
          <a:prstGeom prst="rect">
            <a:avLst/>
          </a:prstGeom>
          <a:solidFill>
            <a:srgbClr val="3578B8"/>
          </a:solidFill>
          <a:ln/>
        </p:spPr>
      </p:sp>
      <p:sp>
        <p:nvSpPr>
          <p:cNvPr id="87" name="Shape 85"/>
          <p:cNvSpPr/>
          <p:nvPr/>
        </p:nvSpPr>
        <p:spPr>
          <a:xfrm>
            <a:off x="5431536" y="3113532"/>
            <a:ext cx="56693" cy="68580"/>
          </a:xfrm>
          <a:prstGeom prst="rect">
            <a:avLst/>
          </a:prstGeom>
          <a:solidFill>
            <a:srgbClr val="3A7EBA"/>
          </a:solidFill>
          <a:ln/>
        </p:spPr>
      </p:sp>
      <p:sp>
        <p:nvSpPr>
          <p:cNvPr id="88" name="Shape 86"/>
          <p:cNvSpPr/>
          <p:nvPr/>
        </p:nvSpPr>
        <p:spPr>
          <a:xfrm>
            <a:off x="5468112" y="3113532"/>
            <a:ext cx="56693" cy="68580"/>
          </a:xfrm>
          <a:prstGeom prst="rect">
            <a:avLst/>
          </a:prstGeom>
          <a:solidFill>
            <a:srgbClr val="4083BB"/>
          </a:solidFill>
          <a:ln/>
        </p:spPr>
      </p:sp>
      <p:sp>
        <p:nvSpPr>
          <p:cNvPr id="89" name="Shape 87"/>
          <p:cNvSpPr/>
          <p:nvPr/>
        </p:nvSpPr>
        <p:spPr>
          <a:xfrm>
            <a:off x="5504688" y="3113532"/>
            <a:ext cx="56693" cy="68580"/>
          </a:xfrm>
          <a:prstGeom prst="rect">
            <a:avLst/>
          </a:prstGeom>
          <a:solidFill>
            <a:srgbClr val="4589BD"/>
          </a:solidFill>
          <a:ln/>
        </p:spPr>
      </p:sp>
      <p:sp>
        <p:nvSpPr>
          <p:cNvPr id="90" name="Shape 88"/>
          <p:cNvSpPr/>
          <p:nvPr/>
        </p:nvSpPr>
        <p:spPr>
          <a:xfrm>
            <a:off x="5541264" y="3113532"/>
            <a:ext cx="56693" cy="68580"/>
          </a:xfrm>
          <a:prstGeom prst="rect">
            <a:avLst/>
          </a:prstGeom>
          <a:solidFill>
            <a:srgbClr val="4B8EBE"/>
          </a:solidFill>
          <a:ln/>
        </p:spPr>
      </p:sp>
      <p:sp>
        <p:nvSpPr>
          <p:cNvPr id="91" name="Shape 89"/>
          <p:cNvSpPr/>
          <p:nvPr/>
        </p:nvSpPr>
        <p:spPr>
          <a:xfrm>
            <a:off x="5577840" y="3113532"/>
            <a:ext cx="56693" cy="68580"/>
          </a:xfrm>
          <a:prstGeom prst="rect">
            <a:avLst/>
          </a:prstGeom>
          <a:solidFill>
            <a:srgbClr val="5094C0"/>
          </a:solidFill>
          <a:ln/>
        </p:spPr>
      </p:sp>
      <p:sp>
        <p:nvSpPr>
          <p:cNvPr id="92" name="Shape 90"/>
          <p:cNvSpPr/>
          <p:nvPr/>
        </p:nvSpPr>
        <p:spPr>
          <a:xfrm>
            <a:off x="5614416" y="3113532"/>
            <a:ext cx="56693" cy="68580"/>
          </a:xfrm>
          <a:prstGeom prst="rect">
            <a:avLst/>
          </a:prstGeom>
          <a:solidFill>
            <a:srgbClr val="5599C1"/>
          </a:solidFill>
          <a:ln/>
        </p:spPr>
      </p:sp>
      <p:sp>
        <p:nvSpPr>
          <p:cNvPr id="93" name="Shape 91"/>
          <p:cNvSpPr/>
          <p:nvPr/>
        </p:nvSpPr>
        <p:spPr>
          <a:xfrm>
            <a:off x="5650992" y="3113532"/>
            <a:ext cx="56693" cy="68580"/>
          </a:xfrm>
          <a:prstGeom prst="rect">
            <a:avLst/>
          </a:prstGeom>
          <a:solidFill>
            <a:srgbClr val="5B9FC3"/>
          </a:solidFill>
          <a:ln/>
        </p:spPr>
      </p:sp>
      <p:sp>
        <p:nvSpPr>
          <p:cNvPr id="94" name="Shape 92"/>
          <p:cNvSpPr/>
          <p:nvPr/>
        </p:nvSpPr>
        <p:spPr>
          <a:xfrm>
            <a:off x="5687568" y="3113532"/>
            <a:ext cx="56693" cy="68580"/>
          </a:xfrm>
          <a:prstGeom prst="rect">
            <a:avLst/>
          </a:prstGeom>
          <a:solidFill>
            <a:srgbClr val="5EA3C2"/>
          </a:solidFill>
          <a:ln/>
        </p:spPr>
      </p:sp>
      <p:sp>
        <p:nvSpPr>
          <p:cNvPr id="95" name="Shape 93"/>
          <p:cNvSpPr/>
          <p:nvPr/>
        </p:nvSpPr>
        <p:spPr>
          <a:xfrm>
            <a:off x="5724144" y="3113532"/>
            <a:ext cx="56693" cy="68580"/>
          </a:xfrm>
          <a:prstGeom prst="rect">
            <a:avLst/>
          </a:prstGeom>
          <a:solidFill>
            <a:srgbClr val="5AA2BA"/>
          </a:solidFill>
          <a:ln/>
        </p:spPr>
      </p:sp>
      <p:sp>
        <p:nvSpPr>
          <p:cNvPr id="96" name="Shape 94"/>
          <p:cNvSpPr/>
          <p:nvPr/>
        </p:nvSpPr>
        <p:spPr>
          <a:xfrm>
            <a:off x="5760720" y="3113532"/>
            <a:ext cx="56693" cy="68580"/>
          </a:xfrm>
          <a:prstGeom prst="rect">
            <a:avLst/>
          </a:prstGeom>
          <a:solidFill>
            <a:srgbClr val="57A1B2"/>
          </a:solidFill>
          <a:ln/>
        </p:spPr>
      </p:sp>
      <p:sp>
        <p:nvSpPr>
          <p:cNvPr id="97" name="Shape 95"/>
          <p:cNvSpPr/>
          <p:nvPr/>
        </p:nvSpPr>
        <p:spPr>
          <a:xfrm>
            <a:off x="5797296" y="3113532"/>
            <a:ext cx="56693" cy="68580"/>
          </a:xfrm>
          <a:prstGeom prst="rect">
            <a:avLst/>
          </a:prstGeom>
          <a:solidFill>
            <a:srgbClr val="53A0AB"/>
          </a:solidFill>
          <a:ln/>
        </p:spPr>
      </p:sp>
      <p:sp>
        <p:nvSpPr>
          <p:cNvPr id="98" name="Shape 96"/>
          <p:cNvSpPr/>
          <p:nvPr/>
        </p:nvSpPr>
        <p:spPr>
          <a:xfrm>
            <a:off x="5833872" y="3113532"/>
            <a:ext cx="56693" cy="68580"/>
          </a:xfrm>
          <a:prstGeom prst="rect">
            <a:avLst/>
          </a:prstGeom>
          <a:solidFill>
            <a:srgbClr val="4FA0A3"/>
          </a:solidFill>
          <a:ln/>
        </p:spPr>
      </p:sp>
      <p:sp>
        <p:nvSpPr>
          <p:cNvPr id="99" name="Shape 97"/>
          <p:cNvSpPr/>
          <p:nvPr/>
        </p:nvSpPr>
        <p:spPr>
          <a:xfrm>
            <a:off x="5870448" y="3113532"/>
            <a:ext cx="56693" cy="68580"/>
          </a:xfrm>
          <a:prstGeom prst="rect">
            <a:avLst/>
          </a:prstGeom>
          <a:solidFill>
            <a:srgbClr val="4C9F9B"/>
          </a:solidFill>
          <a:ln/>
        </p:spPr>
      </p:sp>
      <p:sp>
        <p:nvSpPr>
          <p:cNvPr id="100" name="Shape 98"/>
          <p:cNvSpPr/>
          <p:nvPr/>
        </p:nvSpPr>
        <p:spPr>
          <a:xfrm>
            <a:off x="5907024" y="3113532"/>
            <a:ext cx="56693" cy="68580"/>
          </a:xfrm>
          <a:prstGeom prst="rect">
            <a:avLst/>
          </a:prstGeom>
          <a:solidFill>
            <a:srgbClr val="489E93"/>
          </a:solidFill>
          <a:ln/>
        </p:spPr>
      </p:sp>
      <p:sp>
        <p:nvSpPr>
          <p:cNvPr id="101" name="Shape 99"/>
          <p:cNvSpPr/>
          <p:nvPr/>
        </p:nvSpPr>
        <p:spPr>
          <a:xfrm>
            <a:off x="5943600" y="3113532"/>
            <a:ext cx="56693" cy="68580"/>
          </a:xfrm>
          <a:prstGeom prst="rect">
            <a:avLst/>
          </a:prstGeom>
          <a:solidFill>
            <a:srgbClr val="449D8B"/>
          </a:solidFill>
          <a:ln/>
        </p:spPr>
      </p:sp>
      <p:sp>
        <p:nvSpPr>
          <p:cNvPr id="102" name="Shape 100"/>
          <p:cNvSpPr/>
          <p:nvPr/>
        </p:nvSpPr>
        <p:spPr>
          <a:xfrm>
            <a:off x="5980176" y="3113532"/>
            <a:ext cx="56693" cy="68580"/>
          </a:xfrm>
          <a:prstGeom prst="rect">
            <a:avLst/>
          </a:prstGeom>
          <a:solidFill>
            <a:srgbClr val="419C84"/>
          </a:solidFill>
          <a:ln/>
        </p:spPr>
      </p:sp>
      <p:sp>
        <p:nvSpPr>
          <p:cNvPr id="103" name="Shape 101"/>
          <p:cNvSpPr/>
          <p:nvPr/>
        </p:nvSpPr>
        <p:spPr>
          <a:xfrm>
            <a:off x="6016752" y="3113532"/>
            <a:ext cx="56693" cy="68580"/>
          </a:xfrm>
          <a:prstGeom prst="rect">
            <a:avLst/>
          </a:prstGeom>
          <a:solidFill>
            <a:srgbClr val="3D9B7C"/>
          </a:solidFill>
          <a:ln/>
        </p:spPr>
      </p:sp>
      <p:sp>
        <p:nvSpPr>
          <p:cNvPr id="104" name="Shape 102"/>
          <p:cNvSpPr/>
          <p:nvPr/>
        </p:nvSpPr>
        <p:spPr>
          <a:xfrm>
            <a:off x="6053328" y="3113532"/>
            <a:ext cx="56693" cy="68580"/>
          </a:xfrm>
          <a:prstGeom prst="rect">
            <a:avLst/>
          </a:prstGeom>
          <a:solidFill>
            <a:srgbClr val="439A75"/>
          </a:solidFill>
          <a:ln/>
        </p:spPr>
      </p:sp>
      <p:sp>
        <p:nvSpPr>
          <p:cNvPr id="105" name="Shape 103"/>
          <p:cNvSpPr/>
          <p:nvPr/>
        </p:nvSpPr>
        <p:spPr>
          <a:xfrm>
            <a:off x="6089904" y="3113532"/>
            <a:ext cx="56693" cy="68580"/>
          </a:xfrm>
          <a:prstGeom prst="rect">
            <a:avLst/>
          </a:prstGeom>
          <a:solidFill>
            <a:srgbClr val="54996E"/>
          </a:solidFill>
          <a:ln/>
        </p:spPr>
      </p:sp>
      <p:sp>
        <p:nvSpPr>
          <p:cNvPr id="106" name="Shape 104"/>
          <p:cNvSpPr/>
          <p:nvPr/>
        </p:nvSpPr>
        <p:spPr>
          <a:xfrm>
            <a:off x="6126480" y="3113532"/>
            <a:ext cx="56693" cy="68580"/>
          </a:xfrm>
          <a:prstGeom prst="rect">
            <a:avLst/>
          </a:prstGeom>
          <a:solidFill>
            <a:srgbClr val="659867"/>
          </a:solidFill>
          <a:ln/>
        </p:spPr>
      </p:sp>
      <p:sp>
        <p:nvSpPr>
          <p:cNvPr id="107" name="Shape 105"/>
          <p:cNvSpPr/>
          <p:nvPr/>
        </p:nvSpPr>
        <p:spPr>
          <a:xfrm>
            <a:off x="6163056" y="3113532"/>
            <a:ext cx="56693" cy="68580"/>
          </a:xfrm>
          <a:prstGeom prst="rect">
            <a:avLst/>
          </a:prstGeom>
          <a:solidFill>
            <a:srgbClr val="769760"/>
          </a:solidFill>
          <a:ln/>
        </p:spPr>
      </p:sp>
      <p:sp>
        <p:nvSpPr>
          <p:cNvPr id="108" name="Shape 106"/>
          <p:cNvSpPr/>
          <p:nvPr/>
        </p:nvSpPr>
        <p:spPr>
          <a:xfrm>
            <a:off x="6199632" y="3113532"/>
            <a:ext cx="56693" cy="68580"/>
          </a:xfrm>
          <a:prstGeom prst="rect">
            <a:avLst/>
          </a:prstGeom>
          <a:solidFill>
            <a:srgbClr val="86965A"/>
          </a:solidFill>
          <a:ln/>
        </p:spPr>
      </p:sp>
      <p:sp>
        <p:nvSpPr>
          <p:cNvPr id="109" name="Shape 107"/>
          <p:cNvSpPr/>
          <p:nvPr/>
        </p:nvSpPr>
        <p:spPr>
          <a:xfrm>
            <a:off x="6236208" y="3113532"/>
            <a:ext cx="56693" cy="68580"/>
          </a:xfrm>
          <a:prstGeom prst="rect">
            <a:avLst/>
          </a:prstGeom>
          <a:solidFill>
            <a:srgbClr val="979553"/>
          </a:solidFill>
          <a:ln/>
        </p:spPr>
      </p:sp>
      <p:sp>
        <p:nvSpPr>
          <p:cNvPr id="110" name="Shape 108"/>
          <p:cNvSpPr/>
          <p:nvPr/>
        </p:nvSpPr>
        <p:spPr>
          <a:xfrm>
            <a:off x="6272784" y="3113532"/>
            <a:ext cx="56693" cy="68580"/>
          </a:xfrm>
          <a:prstGeom prst="rect">
            <a:avLst/>
          </a:prstGeom>
          <a:solidFill>
            <a:srgbClr val="A8944C"/>
          </a:solidFill>
          <a:ln/>
        </p:spPr>
      </p:sp>
      <p:sp>
        <p:nvSpPr>
          <p:cNvPr id="111" name="Shape 109"/>
          <p:cNvSpPr/>
          <p:nvPr/>
        </p:nvSpPr>
        <p:spPr>
          <a:xfrm>
            <a:off x="6309360" y="3113532"/>
            <a:ext cx="56693" cy="68580"/>
          </a:xfrm>
          <a:prstGeom prst="rect">
            <a:avLst/>
          </a:prstGeom>
          <a:solidFill>
            <a:srgbClr val="B89345"/>
          </a:solidFill>
          <a:ln/>
        </p:spPr>
      </p:sp>
      <p:sp>
        <p:nvSpPr>
          <p:cNvPr id="112" name="Shape 110"/>
          <p:cNvSpPr/>
          <p:nvPr/>
        </p:nvSpPr>
        <p:spPr>
          <a:xfrm>
            <a:off x="6345936" y="3113532"/>
            <a:ext cx="56693" cy="68580"/>
          </a:xfrm>
          <a:prstGeom prst="rect">
            <a:avLst/>
          </a:prstGeom>
          <a:solidFill>
            <a:srgbClr val="C9913E"/>
          </a:solidFill>
          <a:ln/>
        </p:spPr>
      </p:sp>
      <p:sp>
        <p:nvSpPr>
          <p:cNvPr id="113" name="Shape 111"/>
          <p:cNvSpPr/>
          <p:nvPr/>
        </p:nvSpPr>
        <p:spPr>
          <a:xfrm>
            <a:off x="6382512" y="3113532"/>
            <a:ext cx="56693" cy="68580"/>
          </a:xfrm>
          <a:prstGeom prst="rect">
            <a:avLst/>
          </a:prstGeom>
          <a:solidFill>
            <a:srgbClr val="DA9038"/>
          </a:solidFill>
          <a:ln/>
        </p:spPr>
      </p:sp>
      <p:sp>
        <p:nvSpPr>
          <p:cNvPr id="114" name="Shape 112"/>
          <p:cNvSpPr/>
          <p:nvPr/>
        </p:nvSpPr>
        <p:spPr>
          <a:xfrm>
            <a:off x="6419088" y="3113532"/>
            <a:ext cx="56693" cy="68580"/>
          </a:xfrm>
          <a:prstGeom prst="rect">
            <a:avLst/>
          </a:prstGeom>
          <a:solidFill>
            <a:srgbClr val="DC8B35"/>
          </a:solidFill>
          <a:ln/>
        </p:spPr>
      </p:sp>
      <p:sp>
        <p:nvSpPr>
          <p:cNvPr id="115" name="Shape 113"/>
          <p:cNvSpPr/>
          <p:nvPr/>
        </p:nvSpPr>
        <p:spPr>
          <a:xfrm>
            <a:off x="6455664" y="3113532"/>
            <a:ext cx="56693" cy="68580"/>
          </a:xfrm>
          <a:prstGeom prst="rect">
            <a:avLst/>
          </a:prstGeom>
          <a:solidFill>
            <a:srgbClr val="DA8434"/>
          </a:solidFill>
          <a:ln/>
        </p:spPr>
      </p:sp>
      <p:sp>
        <p:nvSpPr>
          <p:cNvPr id="116" name="Shape 114"/>
          <p:cNvSpPr/>
          <p:nvPr/>
        </p:nvSpPr>
        <p:spPr>
          <a:xfrm>
            <a:off x="6492240" y="3113532"/>
            <a:ext cx="56693" cy="68580"/>
          </a:xfrm>
          <a:prstGeom prst="rect">
            <a:avLst/>
          </a:prstGeom>
          <a:solidFill>
            <a:srgbClr val="D77D33"/>
          </a:solidFill>
          <a:ln/>
        </p:spPr>
      </p:sp>
      <p:sp>
        <p:nvSpPr>
          <p:cNvPr id="117" name="Shape 115"/>
          <p:cNvSpPr/>
          <p:nvPr/>
        </p:nvSpPr>
        <p:spPr>
          <a:xfrm>
            <a:off x="6528816" y="3113532"/>
            <a:ext cx="56693" cy="68580"/>
          </a:xfrm>
          <a:prstGeom prst="rect">
            <a:avLst/>
          </a:prstGeom>
          <a:solidFill>
            <a:srgbClr val="D57632"/>
          </a:solidFill>
          <a:ln/>
        </p:spPr>
      </p:sp>
      <p:sp>
        <p:nvSpPr>
          <p:cNvPr id="118" name="Shape 116"/>
          <p:cNvSpPr/>
          <p:nvPr/>
        </p:nvSpPr>
        <p:spPr>
          <a:xfrm>
            <a:off x="6565392" y="3113532"/>
            <a:ext cx="56693" cy="68580"/>
          </a:xfrm>
          <a:prstGeom prst="rect">
            <a:avLst/>
          </a:prstGeom>
          <a:solidFill>
            <a:srgbClr val="D26F31"/>
          </a:solidFill>
          <a:ln/>
        </p:spPr>
      </p:sp>
      <p:sp>
        <p:nvSpPr>
          <p:cNvPr id="119" name="Shape 117"/>
          <p:cNvSpPr/>
          <p:nvPr/>
        </p:nvSpPr>
        <p:spPr>
          <a:xfrm>
            <a:off x="6601968" y="3113532"/>
            <a:ext cx="56693" cy="68580"/>
          </a:xfrm>
          <a:prstGeom prst="rect">
            <a:avLst/>
          </a:prstGeom>
          <a:solidFill>
            <a:srgbClr val="D06830"/>
          </a:solidFill>
          <a:ln/>
        </p:spPr>
      </p:sp>
      <p:sp>
        <p:nvSpPr>
          <p:cNvPr id="120" name="Shape 118"/>
          <p:cNvSpPr/>
          <p:nvPr/>
        </p:nvSpPr>
        <p:spPr>
          <a:xfrm>
            <a:off x="6638544" y="3113532"/>
            <a:ext cx="56693" cy="68580"/>
          </a:xfrm>
          <a:prstGeom prst="rect">
            <a:avLst/>
          </a:prstGeom>
          <a:solidFill>
            <a:srgbClr val="CD612F"/>
          </a:solidFill>
          <a:ln/>
        </p:spPr>
      </p:sp>
      <p:sp>
        <p:nvSpPr>
          <p:cNvPr id="121" name="Shape 119"/>
          <p:cNvSpPr/>
          <p:nvPr/>
        </p:nvSpPr>
        <p:spPr>
          <a:xfrm>
            <a:off x="6675120" y="3113532"/>
            <a:ext cx="56693" cy="68580"/>
          </a:xfrm>
          <a:prstGeom prst="rect">
            <a:avLst/>
          </a:prstGeom>
          <a:solidFill>
            <a:srgbClr val="CB5A2E"/>
          </a:solidFill>
          <a:ln/>
        </p:spPr>
      </p:sp>
      <p:sp>
        <p:nvSpPr>
          <p:cNvPr id="122" name="Shape 120"/>
          <p:cNvSpPr/>
          <p:nvPr/>
        </p:nvSpPr>
        <p:spPr>
          <a:xfrm>
            <a:off x="6711696" y="3113532"/>
            <a:ext cx="56693" cy="68580"/>
          </a:xfrm>
          <a:prstGeom prst="rect">
            <a:avLst/>
          </a:prstGeom>
          <a:solidFill>
            <a:srgbClr val="C8532D"/>
          </a:solidFill>
          <a:ln/>
        </p:spPr>
      </p:sp>
      <p:sp>
        <p:nvSpPr>
          <p:cNvPr id="123" name="Shape 121"/>
          <p:cNvSpPr/>
          <p:nvPr/>
        </p:nvSpPr>
        <p:spPr>
          <a:xfrm>
            <a:off x="6748272" y="3113532"/>
            <a:ext cx="36576" cy="68580"/>
          </a:xfrm>
          <a:prstGeom prst="rect">
            <a:avLst/>
          </a:prstGeom>
          <a:solidFill>
            <a:srgbClr val="C64C2C"/>
          </a:solidFill>
          <a:ln/>
        </p:spPr>
      </p:sp>
      <p:sp>
        <p:nvSpPr>
          <p:cNvPr id="124" name="Shape 122"/>
          <p:cNvSpPr/>
          <p:nvPr/>
        </p:nvSpPr>
        <p:spPr>
          <a:xfrm>
            <a:off x="6541008" y="3182112"/>
            <a:ext cx="0" cy="155448"/>
          </a:xfrm>
          <a:prstGeom prst="line">
            <a:avLst/>
          </a:prstGeom>
          <a:noFill/>
          <a:ln w="28575">
            <a:solidFill>
              <a:srgbClr val="14242C"/>
            </a:solidFill>
            <a:prstDash val="solid"/>
          </a:ln>
        </p:spPr>
      </p:sp>
      <p:sp>
        <p:nvSpPr>
          <p:cNvPr id="125" name="Shape 123"/>
          <p:cNvSpPr/>
          <p:nvPr/>
        </p:nvSpPr>
        <p:spPr>
          <a:xfrm>
            <a:off x="566928" y="3474720"/>
            <a:ext cx="6446520" cy="804672"/>
          </a:xfrm>
          <a:prstGeom prst="roundRect">
            <a:avLst>
              <a:gd name="adj" fmla="val 9091"/>
            </a:avLst>
          </a:prstGeom>
          <a:solidFill>
            <a:srgbClr val="FFFFFF"/>
          </a:solidFill>
          <a:ln w="12700">
            <a:solidFill>
              <a:srgbClr val="E1E9ED"/>
            </a:solidFill>
            <a:prstDash val="solid"/>
          </a:ln>
        </p:spPr>
      </p:sp>
      <p:sp>
        <p:nvSpPr>
          <p:cNvPr id="126" name="Shape 124"/>
          <p:cNvSpPr/>
          <p:nvPr/>
        </p:nvSpPr>
        <p:spPr>
          <a:xfrm>
            <a:off x="768096" y="3621024"/>
            <a:ext cx="779023" cy="269291"/>
          </a:xfrm>
          <a:prstGeom prst="roundRect">
            <a:avLst>
              <a:gd name="adj" fmla="val 169779"/>
            </a:avLst>
          </a:prstGeom>
          <a:solidFill>
            <a:srgbClr val="FFFFFF"/>
          </a:solidFill>
          <a:ln w="15875">
            <a:solidFill>
              <a:srgbClr val="CDD9DF"/>
            </a:solidFill>
            <a:prstDash val="solid"/>
          </a:ln>
        </p:spPr>
      </p:sp>
      <p:sp>
        <p:nvSpPr>
          <p:cNvPr id="127" name="Text 125"/>
          <p:cNvSpPr txBox="1"/>
          <p:nvPr/>
        </p:nvSpPr>
        <p:spPr>
          <a:xfrm>
            <a:off x="768096" y="3630168"/>
            <a:ext cx="779023" cy="251003"/>
          </a:xfrm>
          <a:prstGeom prst="rect">
            <a:avLst/>
          </a:prstGeom>
          <a:noFill/>
          <a:ln/>
        </p:spPr>
        <p:txBody>
          <a:bodyPr wrap="square" lIns="0" tIns="0" rIns="0" bIns="0" rtlCol="0" anchor="ctr"/>
          <a:lstStyle/>
          <a:p>
            <a:pPr algn="ctr" indent="0" marL="0">
              <a:buNone/>
            </a:pPr>
            <a:r>
              <a:rPr lang="en-US" sz="950" b="1" dirty="0">
                <a:solidFill>
                  <a:srgbClr val="5F737D"/>
                </a:solidFill>
                <a:latin typeface="Calibri" pitchFamily="34" charset="0"/>
                <a:ea typeface="Calibri" pitchFamily="34" charset="-122"/>
                <a:cs typeface="Calibri" pitchFamily="34" charset="-120"/>
              </a:rPr>
              <a:t>Level 7</a:t>
            </a:r>
            <a:endParaRPr lang="en-US" sz="950" dirty="0"/>
          </a:p>
        </p:txBody>
      </p:sp>
      <p:sp>
        <p:nvSpPr>
          <p:cNvPr id="128" name="Text 126"/>
          <p:cNvSpPr txBox="1"/>
          <p:nvPr/>
        </p:nvSpPr>
        <p:spPr>
          <a:xfrm>
            <a:off x="1620271" y="3602736"/>
            <a:ext cx="3017520" cy="292608"/>
          </a:xfrm>
          <a:prstGeom prst="rect">
            <a:avLst/>
          </a:prstGeom>
          <a:noFill/>
          <a:ln/>
        </p:spPr>
        <p:txBody>
          <a:bodyPr wrap="square" lIns="0" tIns="0" rIns="0" bIns="0" rtlCol="0" anchor="ctr"/>
          <a:lstStyle/>
          <a:p>
            <a:pPr algn="l" indent="0" marL="0">
              <a:buNone/>
            </a:pPr>
            <a:r>
              <a:rPr lang="en-US" sz="1450" b="1" dirty="0">
                <a:solidFill>
                  <a:srgbClr val="14242C"/>
                </a:solidFill>
                <a:latin typeface="Calibri" pitchFamily="34" charset="0"/>
                <a:ea typeface="Calibri" pitchFamily="34" charset="-122"/>
                <a:cs typeface="Calibri" pitchFamily="34" charset="-120"/>
              </a:rPr>
              <a:t>Pantry</a:t>
            </a:r>
            <a:endParaRPr lang="en-US" sz="1450" dirty="0"/>
          </a:p>
        </p:txBody>
      </p:sp>
      <p:sp>
        <p:nvSpPr>
          <p:cNvPr id="129" name="Text 127"/>
          <p:cNvSpPr txBox="1"/>
          <p:nvPr/>
        </p:nvSpPr>
        <p:spPr>
          <a:xfrm>
            <a:off x="768096" y="3931920"/>
            <a:ext cx="4114800" cy="274320"/>
          </a:xfrm>
          <a:prstGeom prst="rect">
            <a:avLst/>
          </a:prstGeom>
          <a:noFill/>
          <a:ln/>
        </p:spPr>
        <p:txBody>
          <a:bodyPr wrap="square" lIns="0" tIns="0" rIns="0" bIns="0" rtlCol="0" anchor="t"/>
          <a:lstStyle/>
          <a:p>
            <a:pPr algn="l" indent="0" marL="0">
              <a:buNone/>
            </a:pPr>
            <a:r>
              <a:rPr lang="en-US" sz="1150" dirty="0">
                <a:solidFill>
                  <a:srgbClr val="5F737D"/>
                </a:solidFill>
                <a:latin typeface="Calibri" pitchFamily="34" charset="0"/>
                <a:ea typeface="Calibri" pitchFamily="34" charset="-122"/>
                <a:cs typeface="Calibri" pitchFamily="34" charset="-120"/>
              </a:rPr>
              <a:t>About right · 4 votes · 21 min ago</a:t>
            </a:r>
            <a:endParaRPr lang="en-US" sz="1150" dirty="0"/>
          </a:p>
        </p:txBody>
      </p:sp>
      <p:sp>
        <p:nvSpPr>
          <p:cNvPr id="130" name="Shape 128"/>
          <p:cNvSpPr/>
          <p:nvPr/>
        </p:nvSpPr>
        <p:spPr>
          <a:xfrm>
            <a:off x="5321808" y="3584448"/>
            <a:ext cx="256032" cy="402336"/>
          </a:xfrm>
          <a:prstGeom prst="rect">
            <a:avLst/>
          </a:prstGeom>
          <a:solidFill>
            <a:srgbClr val="2A6DB5">
              <a:alpha val="10000"/>
            </a:srgbClr>
          </a:solidFill>
          <a:ln/>
        </p:spPr>
      </p:sp>
      <p:sp>
        <p:nvSpPr>
          <p:cNvPr id="131" name="Shape 129"/>
          <p:cNvSpPr/>
          <p:nvPr/>
        </p:nvSpPr>
        <p:spPr>
          <a:xfrm>
            <a:off x="5623560" y="3584448"/>
            <a:ext cx="256032" cy="402336"/>
          </a:xfrm>
          <a:prstGeom prst="rect">
            <a:avLst/>
          </a:prstGeom>
          <a:solidFill>
            <a:srgbClr val="5FA3C4">
              <a:alpha val="10000"/>
            </a:srgbClr>
          </a:solidFill>
          <a:ln/>
        </p:spPr>
      </p:sp>
      <p:sp>
        <p:nvSpPr>
          <p:cNvPr id="132" name="Shape 130"/>
          <p:cNvSpPr/>
          <p:nvPr/>
        </p:nvSpPr>
        <p:spPr>
          <a:xfrm>
            <a:off x="5717286" y="3840480"/>
            <a:ext cx="68580" cy="68580"/>
          </a:xfrm>
          <a:prstGeom prst="ellipse">
            <a:avLst/>
          </a:prstGeom>
          <a:solidFill>
            <a:srgbClr val="5FA3C4"/>
          </a:solidFill>
          <a:ln/>
        </p:spPr>
      </p:sp>
      <p:sp>
        <p:nvSpPr>
          <p:cNvPr id="133" name="Shape 131"/>
          <p:cNvSpPr/>
          <p:nvPr/>
        </p:nvSpPr>
        <p:spPr>
          <a:xfrm>
            <a:off x="5925312" y="3584448"/>
            <a:ext cx="256032" cy="402336"/>
          </a:xfrm>
          <a:prstGeom prst="rect">
            <a:avLst/>
          </a:prstGeom>
          <a:solidFill>
            <a:srgbClr val="3B9B78">
              <a:alpha val="10000"/>
            </a:srgbClr>
          </a:solidFill>
          <a:ln/>
        </p:spPr>
      </p:sp>
      <p:sp>
        <p:nvSpPr>
          <p:cNvPr id="134" name="Shape 132"/>
          <p:cNvSpPr/>
          <p:nvPr/>
        </p:nvSpPr>
        <p:spPr>
          <a:xfrm>
            <a:off x="6019038" y="3840480"/>
            <a:ext cx="68580" cy="68580"/>
          </a:xfrm>
          <a:prstGeom prst="ellipse">
            <a:avLst/>
          </a:prstGeom>
          <a:solidFill>
            <a:srgbClr val="3B9B78"/>
          </a:solidFill>
          <a:ln/>
        </p:spPr>
      </p:sp>
      <p:sp>
        <p:nvSpPr>
          <p:cNvPr id="135" name="Shape 133"/>
          <p:cNvSpPr/>
          <p:nvPr/>
        </p:nvSpPr>
        <p:spPr>
          <a:xfrm>
            <a:off x="6019038" y="3739896"/>
            <a:ext cx="68580" cy="68580"/>
          </a:xfrm>
          <a:prstGeom prst="ellipse">
            <a:avLst/>
          </a:prstGeom>
          <a:solidFill>
            <a:srgbClr val="3B9B78"/>
          </a:solidFill>
          <a:ln/>
        </p:spPr>
      </p:sp>
      <p:sp>
        <p:nvSpPr>
          <p:cNvPr id="136" name="Shape 134"/>
          <p:cNvSpPr/>
          <p:nvPr/>
        </p:nvSpPr>
        <p:spPr>
          <a:xfrm>
            <a:off x="6227064" y="3584448"/>
            <a:ext cx="256032" cy="402336"/>
          </a:xfrm>
          <a:prstGeom prst="rect">
            <a:avLst/>
          </a:prstGeom>
          <a:solidFill>
            <a:srgbClr val="DE9036">
              <a:alpha val="10000"/>
            </a:srgbClr>
          </a:solidFill>
          <a:ln/>
        </p:spPr>
      </p:sp>
      <p:sp>
        <p:nvSpPr>
          <p:cNvPr id="137" name="Shape 135"/>
          <p:cNvSpPr/>
          <p:nvPr/>
        </p:nvSpPr>
        <p:spPr>
          <a:xfrm>
            <a:off x="6320790" y="3840480"/>
            <a:ext cx="68580" cy="68580"/>
          </a:xfrm>
          <a:prstGeom prst="ellipse">
            <a:avLst/>
          </a:prstGeom>
          <a:solidFill>
            <a:srgbClr val="DE9036"/>
          </a:solidFill>
          <a:ln/>
        </p:spPr>
      </p:sp>
      <p:sp>
        <p:nvSpPr>
          <p:cNvPr id="138" name="Shape 136"/>
          <p:cNvSpPr/>
          <p:nvPr/>
        </p:nvSpPr>
        <p:spPr>
          <a:xfrm>
            <a:off x="6528816" y="3584448"/>
            <a:ext cx="256032" cy="402336"/>
          </a:xfrm>
          <a:prstGeom prst="rect">
            <a:avLst/>
          </a:prstGeom>
          <a:solidFill>
            <a:srgbClr val="C64C2C">
              <a:alpha val="10000"/>
            </a:srgbClr>
          </a:solidFill>
          <a:ln/>
        </p:spPr>
      </p:sp>
      <p:sp>
        <p:nvSpPr>
          <p:cNvPr id="139" name="Shape 137"/>
          <p:cNvSpPr/>
          <p:nvPr/>
        </p:nvSpPr>
        <p:spPr>
          <a:xfrm>
            <a:off x="5321808" y="4027932"/>
            <a:ext cx="56693" cy="68580"/>
          </a:xfrm>
          <a:prstGeom prst="rect">
            <a:avLst/>
          </a:prstGeom>
          <a:solidFill>
            <a:srgbClr val="2A6DB5"/>
          </a:solidFill>
          <a:ln/>
        </p:spPr>
      </p:sp>
      <p:sp>
        <p:nvSpPr>
          <p:cNvPr id="140" name="Shape 138"/>
          <p:cNvSpPr/>
          <p:nvPr/>
        </p:nvSpPr>
        <p:spPr>
          <a:xfrm>
            <a:off x="5358384" y="4027932"/>
            <a:ext cx="56693" cy="68580"/>
          </a:xfrm>
          <a:prstGeom prst="rect">
            <a:avLst/>
          </a:prstGeom>
          <a:solidFill>
            <a:srgbClr val="2F73B7"/>
          </a:solidFill>
          <a:ln/>
        </p:spPr>
      </p:sp>
      <p:sp>
        <p:nvSpPr>
          <p:cNvPr id="141" name="Shape 139"/>
          <p:cNvSpPr/>
          <p:nvPr/>
        </p:nvSpPr>
        <p:spPr>
          <a:xfrm>
            <a:off x="5394960" y="4027932"/>
            <a:ext cx="56693" cy="68580"/>
          </a:xfrm>
          <a:prstGeom prst="rect">
            <a:avLst/>
          </a:prstGeom>
          <a:solidFill>
            <a:srgbClr val="3578B8"/>
          </a:solidFill>
          <a:ln/>
        </p:spPr>
      </p:sp>
      <p:sp>
        <p:nvSpPr>
          <p:cNvPr id="142" name="Shape 140"/>
          <p:cNvSpPr/>
          <p:nvPr/>
        </p:nvSpPr>
        <p:spPr>
          <a:xfrm>
            <a:off x="5431536" y="4027932"/>
            <a:ext cx="56693" cy="68580"/>
          </a:xfrm>
          <a:prstGeom prst="rect">
            <a:avLst/>
          </a:prstGeom>
          <a:solidFill>
            <a:srgbClr val="3A7EBA"/>
          </a:solidFill>
          <a:ln/>
        </p:spPr>
      </p:sp>
      <p:sp>
        <p:nvSpPr>
          <p:cNvPr id="143" name="Shape 141"/>
          <p:cNvSpPr/>
          <p:nvPr/>
        </p:nvSpPr>
        <p:spPr>
          <a:xfrm>
            <a:off x="5468112" y="4027932"/>
            <a:ext cx="56693" cy="68580"/>
          </a:xfrm>
          <a:prstGeom prst="rect">
            <a:avLst/>
          </a:prstGeom>
          <a:solidFill>
            <a:srgbClr val="4083BB"/>
          </a:solidFill>
          <a:ln/>
        </p:spPr>
      </p:sp>
      <p:sp>
        <p:nvSpPr>
          <p:cNvPr id="144" name="Shape 142"/>
          <p:cNvSpPr/>
          <p:nvPr/>
        </p:nvSpPr>
        <p:spPr>
          <a:xfrm>
            <a:off x="5504688" y="4027932"/>
            <a:ext cx="56693" cy="68580"/>
          </a:xfrm>
          <a:prstGeom prst="rect">
            <a:avLst/>
          </a:prstGeom>
          <a:solidFill>
            <a:srgbClr val="4589BD"/>
          </a:solidFill>
          <a:ln/>
        </p:spPr>
      </p:sp>
      <p:sp>
        <p:nvSpPr>
          <p:cNvPr id="145" name="Shape 143"/>
          <p:cNvSpPr/>
          <p:nvPr/>
        </p:nvSpPr>
        <p:spPr>
          <a:xfrm>
            <a:off x="5541264" y="4027932"/>
            <a:ext cx="56693" cy="68580"/>
          </a:xfrm>
          <a:prstGeom prst="rect">
            <a:avLst/>
          </a:prstGeom>
          <a:solidFill>
            <a:srgbClr val="4B8EBE"/>
          </a:solidFill>
          <a:ln/>
        </p:spPr>
      </p:sp>
      <p:sp>
        <p:nvSpPr>
          <p:cNvPr id="146" name="Shape 144"/>
          <p:cNvSpPr/>
          <p:nvPr/>
        </p:nvSpPr>
        <p:spPr>
          <a:xfrm>
            <a:off x="5577840" y="4027932"/>
            <a:ext cx="56693" cy="68580"/>
          </a:xfrm>
          <a:prstGeom prst="rect">
            <a:avLst/>
          </a:prstGeom>
          <a:solidFill>
            <a:srgbClr val="5094C0"/>
          </a:solidFill>
          <a:ln/>
        </p:spPr>
      </p:sp>
      <p:sp>
        <p:nvSpPr>
          <p:cNvPr id="147" name="Shape 145"/>
          <p:cNvSpPr/>
          <p:nvPr/>
        </p:nvSpPr>
        <p:spPr>
          <a:xfrm>
            <a:off x="5614416" y="4027932"/>
            <a:ext cx="56693" cy="68580"/>
          </a:xfrm>
          <a:prstGeom prst="rect">
            <a:avLst/>
          </a:prstGeom>
          <a:solidFill>
            <a:srgbClr val="5599C1"/>
          </a:solidFill>
          <a:ln/>
        </p:spPr>
      </p:sp>
      <p:sp>
        <p:nvSpPr>
          <p:cNvPr id="148" name="Shape 146"/>
          <p:cNvSpPr/>
          <p:nvPr/>
        </p:nvSpPr>
        <p:spPr>
          <a:xfrm>
            <a:off x="5650992" y="4027932"/>
            <a:ext cx="56693" cy="68580"/>
          </a:xfrm>
          <a:prstGeom prst="rect">
            <a:avLst/>
          </a:prstGeom>
          <a:solidFill>
            <a:srgbClr val="5B9FC3"/>
          </a:solidFill>
          <a:ln/>
        </p:spPr>
      </p:sp>
      <p:sp>
        <p:nvSpPr>
          <p:cNvPr id="149" name="Shape 147"/>
          <p:cNvSpPr/>
          <p:nvPr/>
        </p:nvSpPr>
        <p:spPr>
          <a:xfrm>
            <a:off x="5687568" y="4027932"/>
            <a:ext cx="56693" cy="68580"/>
          </a:xfrm>
          <a:prstGeom prst="rect">
            <a:avLst/>
          </a:prstGeom>
          <a:solidFill>
            <a:srgbClr val="5EA3C2"/>
          </a:solidFill>
          <a:ln/>
        </p:spPr>
      </p:sp>
      <p:sp>
        <p:nvSpPr>
          <p:cNvPr id="150" name="Shape 148"/>
          <p:cNvSpPr/>
          <p:nvPr/>
        </p:nvSpPr>
        <p:spPr>
          <a:xfrm>
            <a:off x="5724144" y="4027932"/>
            <a:ext cx="56693" cy="68580"/>
          </a:xfrm>
          <a:prstGeom prst="rect">
            <a:avLst/>
          </a:prstGeom>
          <a:solidFill>
            <a:srgbClr val="5AA2BA"/>
          </a:solidFill>
          <a:ln/>
        </p:spPr>
      </p:sp>
      <p:sp>
        <p:nvSpPr>
          <p:cNvPr id="151" name="Shape 149"/>
          <p:cNvSpPr/>
          <p:nvPr/>
        </p:nvSpPr>
        <p:spPr>
          <a:xfrm>
            <a:off x="5760720" y="4027932"/>
            <a:ext cx="56693" cy="68580"/>
          </a:xfrm>
          <a:prstGeom prst="rect">
            <a:avLst/>
          </a:prstGeom>
          <a:solidFill>
            <a:srgbClr val="57A1B2"/>
          </a:solidFill>
          <a:ln/>
        </p:spPr>
      </p:sp>
      <p:sp>
        <p:nvSpPr>
          <p:cNvPr id="152" name="Shape 150"/>
          <p:cNvSpPr/>
          <p:nvPr/>
        </p:nvSpPr>
        <p:spPr>
          <a:xfrm>
            <a:off x="5797296" y="4027932"/>
            <a:ext cx="56693" cy="68580"/>
          </a:xfrm>
          <a:prstGeom prst="rect">
            <a:avLst/>
          </a:prstGeom>
          <a:solidFill>
            <a:srgbClr val="53A0AB"/>
          </a:solidFill>
          <a:ln/>
        </p:spPr>
      </p:sp>
      <p:sp>
        <p:nvSpPr>
          <p:cNvPr id="153" name="Shape 151"/>
          <p:cNvSpPr/>
          <p:nvPr/>
        </p:nvSpPr>
        <p:spPr>
          <a:xfrm>
            <a:off x="5833872" y="4027932"/>
            <a:ext cx="56693" cy="68580"/>
          </a:xfrm>
          <a:prstGeom prst="rect">
            <a:avLst/>
          </a:prstGeom>
          <a:solidFill>
            <a:srgbClr val="4FA0A3"/>
          </a:solidFill>
          <a:ln/>
        </p:spPr>
      </p:sp>
      <p:sp>
        <p:nvSpPr>
          <p:cNvPr id="154" name="Shape 152"/>
          <p:cNvSpPr/>
          <p:nvPr/>
        </p:nvSpPr>
        <p:spPr>
          <a:xfrm>
            <a:off x="5870448" y="4027932"/>
            <a:ext cx="56693" cy="68580"/>
          </a:xfrm>
          <a:prstGeom prst="rect">
            <a:avLst/>
          </a:prstGeom>
          <a:solidFill>
            <a:srgbClr val="4C9F9B"/>
          </a:solidFill>
          <a:ln/>
        </p:spPr>
      </p:sp>
      <p:sp>
        <p:nvSpPr>
          <p:cNvPr id="155" name="Shape 153"/>
          <p:cNvSpPr/>
          <p:nvPr/>
        </p:nvSpPr>
        <p:spPr>
          <a:xfrm>
            <a:off x="5907024" y="4027932"/>
            <a:ext cx="56693" cy="68580"/>
          </a:xfrm>
          <a:prstGeom prst="rect">
            <a:avLst/>
          </a:prstGeom>
          <a:solidFill>
            <a:srgbClr val="489E93"/>
          </a:solidFill>
          <a:ln/>
        </p:spPr>
      </p:sp>
      <p:sp>
        <p:nvSpPr>
          <p:cNvPr id="156" name="Shape 154"/>
          <p:cNvSpPr/>
          <p:nvPr/>
        </p:nvSpPr>
        <p:spPr>
          <a:xfrm>
            <a:off x="5943600" y="4027932"/>
            <a:ext cx="56693" cy="68580"/>
          </a:xfrm>
          <a:prstGeom prst="rect">
            <a:avLst/>
          </a:prstGeom>
          <a:solidFill>
            <a:srgbClr val="449D8B"/>
          </a:solidFill>
          <a:ln/>
        </p:spPr>
      </p:sp>
      <p:sp>
        <p:nvSpPr>
          <p:cNvPr id="157" name="Shape 155"/>
          <p:cNvSpPr/>
          <p:nvPr/>
        </p:nvSpPr>
        <p:spPr>
          <a:xfrm>
            <a:off x="5980176" y="4027932"/>
            <a:ext cx="56693" cy="68580"/>
          </a:xfrm>
          <a:prstGeom prst="rect">
            <a:avLst/>
          </a:prstGeom>
          <a:solidFill>
            <a:srgbClr val="419C84"/>
          </a:solidFill>
          <a:ln/>
        </p:spPr>
      </p:sp>
      <p:sp>
        <p:nvSpPr>
          <p:cNvPr id="158" name="Shape 156"/>
          <p:cNvSpPr/>
          <p:nvPr/>
        </p:nvSpPr>
        <p:spPr>
          <a:xfrm>
            <a:off x="6016752" y="4027932"/>
            <a:ext cx="56693" cy="68580"/>
          </a:xfrm>
          <a:prstGeom prst="rect">
            <a:avLst/>
          </a:prstGeom>
          <a:solidFill>
            <a:srgbClr val="3D9B7C"/>
          </a:solidFill>
          <a:ln/>
        </p:spPr>
      </p:sp>
      <p:sp>
        <p:nvSpPr>
          <p:cNvPr id="159" name="Shape 157"/>
          <p:cNvSpPr/>
          <p:nvPr/>
        </p:nvSpPr>
        <p:spPr>
          <a:xfrm>
            <a:off x="6053328" y="4027932"/>
            <a:ext cx="56693" cy="68580"/>
          </a:xfrm>
          <a:prstGeom prst="rect">
            <a:avLst/>
          </a:prstGeom>
          <a:solidFill>
            <a:srgbClr val="439A75"/>
          </a:solidFill>
          <a:ln/>
        </p:spPr>
      </p:sp>
      <p:sp>
        <p:nvSpPr>
          <p:cNvPr id="160" name="Shape 158"/>
          <p:cNvSpPr/>
          <p:nvPr/>
        </p:nvSpPr>
        <p:spPr>
          <a:xfrm>
            <a:off x="6089904" y="4027932"/>
            <a:ext cx="56693" cy="68580"/>
          </a:xfrm>
          <a:prstGeom prst="rect">
            <a:avLst/>
          </a:prstGeom>
          <a:solidFill>
            <a:srgbClr val="54996E"/>
          </a:solidFill>
          <a:ln/>
        </p:spPr>
      </p:sp>
      <p:sp>
        <p:nvSpPr>
          <p:cNvPr id="161" name="Shape 159"/>
          <p:cNvSpPr/>
          <p:nvPr/>
        </p:nvSpPr>
        <p:spPr>
          <a:xfrm>
            <a:off x="6126480" y="4027932"/>
            <a:ext cx="56693" cy="68580"/>
          </a:xfrm>
          <a:prstGeom prst="rect">
            <a:avLst/>
          </a:prstGeom>
          <a:solidFill>
            <a:srgbClr val="659867"/>
          </a:solidFill>
          <a:ln/>
        </p:spPr>
      </p:sp>
      <p:sp>
        <p:nvSpPr>
          <p:cNvPr id="162" name="Shape 160"/>
          <p:cNvSpPr/>
          <p:nvPr/>
        </p:nvSpPr>
        <p:spPr>
          <a:xfrm>
            <a:off x="6163056" y="4027932"/>
            <a:ext cx="56693" cy="68580"/>
          </a:xfrm>
          <a:prstGeom prst="rect">
            <a:avLst/>
          </a:prstGeom>
          <a:solidFill>
            <a:srgbClr val="769760"/>
          </a:solidFill>
          <a:ln/>
        </p:spPr>
      </p:sp>
      <p:sp>
        <p:nvSpPr>
          <p:cNvPr id="163" name="Shape 161"/>
          <p:cNvSpPr/>
          <p:nvPr/>
        </p:nvSpPr>
        <p:spPr>
          <a:xfrm>
            <a:off x="6199632" y="4027932"/>
            <a:ext cx="56693" cy="68580"/>
          </a:xfrm>
          <a:prstGeom prst="rect">
            <a:avLst/>
          </a:prstGeom>
          <a:solidFill>
            <a:srgbClr val="86965A"/>
          </a:solidFill>
          <a:ln/>
        </p:spPr>
      </p:sp>
      <p:sp>
        <p:nvSpPr>
          <p:cNvPr id="164" name="Shape 162"/>
          <p:cNvSpPr/>
          <p:nvPr/>
        </p:nvSpPr>
        <p:spPr>
          <a:xfrm>
            <a:off x="6236208" y="4027932"/>
            <a:ext cx="56693" cy="68580"/>
          </a:xfrm>
          <a:prstGeom prst="rect">
            <a:avLst/>
          </a:prstGeom>
          <a:solidFill>
            <a:srgbClr val="979553"/>
          </a:solidFill>
          <a:ln/>
        </p:spPr>
      </p:sp>
      <p:sp>
        <p:nvSpPr>
          <p:cNvPr id="165" name="Shape 163"/>
          <p:cNvSpPr/>
          <p:nvPr/>
        </p:nvSpPr>
        <p:spPr>
          <a:xfrm>
            <a:off x="6272784" y="4027932"/>
            <a:ext cx="56693" cy="68580"/>
          </a:xfrm>
          <a:prstGeom prst="rect">
            <a:avLst/>
          </a:prstGeom>
          <a:solidFill>
            <a:srgbClr val="A8944C"/>
          </a:solidFill>
          <a:ln/>
        </p:spPr>
      </p:sp>
      <p:sp>
        <p:nvSpPr>
          <p:cNvPr id="166" name="Shape 164"/>
          <p:cNvSpPr/>
          <p:nvPr/>
        </p:nvSpPr>
        <p:spPr>
          <a:xfrm>
            <a:off x="6309360" y="4027932"/>
            <a:ext cx="56693" cy="68580"/>
          </a:xfrm>
          <a:prstGeom prst="rect">
            <a:avLst/>
          </a:prstGeom>
          <a:solidFill>
            <a:srgbClr val="B89345"/>
          </a:solidFill>
          <a:ln/>
        </p:spPr>
      </p:sp>
      <p:sp>
        <p:nvSpPr>
          <p:cNvPr id="167" name="Shape 165"/>
          <p:cNvSpPr/>
          <p:nvPr/>
        </p:nvSpPr>
        <p:spPr>
          <a:xfrm>
            <a:off x="6345936" y="4027932"/>
            <a:ext cx="56693" cy="68580"/>
          </a:xfrm>
          <a:prstGeom prst="rect">
            <a:avLst/>
          </a:prstGeom>
          <a:solidFill>
            <a:srgbClr val="C9913E"/>
          </a:solidFill>
          <a:ln/>
        </p:spPr>
      </p:sp>
      <p:sp>
        <p:nvSpPr>
          <p:cNvPr id="168" name="Shape 166"/>
          <p:cNvSpPr/>
          <p:nvPr/>
        </p:nvSpPr>
        <p:spPr>
          <a:xfrm>
            <a:off x="6382512" y="4027932"/>
            <a:ext cx="56693" cy="68580"/>
          </a:xfrm>
          <a:prstGeom prst="rect">
            <a:avLst/>
          </a:prstGeom>
          <a:solidFill>
            <a:srgbClr val="DA9038"/>
          </a:solidFill>
          <a:ln/>
        </p:spPr>
      </p:sp>
      <p:sp>
        <p:nvSpPr>
          <p:cNvPr id="169" name="Shape 167"/>
          <p:cNvSpPr/>
          <p:nvPr/>
        </p:nvSpPr>
        <p:spPr>
          <a:xfrm>
            <a:off x="6419088" y="4027932"/>
            <a:ext cx="56693" cy="68580"/>
          </a:xfrm>
          <a:prstGeom prst="rect">
            <a:avLst/>
          </a:prstGeom>
          <a:solidFill>
            <a:srgbClr val="DC8B35"/>
          </a:solidFill>
          <a:ln/>
        </p:spPr>
      </p:sp>
      <p:sp>
        <p:nvSpPr>
          <p:cNvPr id="170" name="Shape 168"/>
          <p:cNvSpPr/>
          <p:nvPr/>
        </p:nvSpPr>
        <p:spPr>
          <a:xfrm>
            <a:off x="6455664" y="4027932"/>
            <a:ext cx="56693" cy="68580"/>
          </a:xfrm>
          <a:prstGeom prst="rect">
            <a:avLst/>
          </a:prstGeom>
          <a:solidFill>
            <a:srgbClr val="DA8434"/>
          </a:solidFill>
          <a:ln/>
        </p:spPr>
      </p:sp>
      <p:sp>
        <p:nvSpPr>
          <p:cNvPr id="171" name="Shape 169"/>
          <p:cNvSpPr/>
          <p:nvPr/>
        </p:nvSpPr>
        <p:spPr>
          <a:xfrm>
            <a:off x="6492240" y="4027932"/>
            <a:ext cx="56693" cy="68580"/>
          </a:xfrm>
          <a:prstGeom prst="rect">
            <a:avLst/>
          </a:prstGeom>
          <a:solidFill>
            <a:srgbClr val="D77D33"/>
          </a:solidFill>
          <a:ln/>
        </p:spPr>
      </p:sp>
      <p:sp>
        <p:nvSpPr>
          <p:cNvPr id="172" name="Shape 170"/>
          <p:cNvSpPr/>
          <p:nvPr/>
        </p:nvSpPr>
        <p:spPr>
          <a:xfrm>
            <a:off x="6528816" y="4027932"/>
            <a:ext cx="56693" cy="68580"/>
          </a:xfrm>
          <a:prstGeom prst="rect">
            <a:avLst/>
          </a:prstGeom>
          <a:solidFill>
            <a:srgbClr val="D57632"/>
          </a:solidFill>
          <a:ln/>
        </p:spPr>
      </p:sp>
      <p:sp>
        <p:nvSpPr>
          <p:cNvPr id="173" name="Shape 171"/>
          <p:cNvSpPr/>
          <p:nvPr/>
        </p:nvSpPr>
        <p:spPr>
          <a:xfrm>
            <a:off x="6565392" y="4027932"/>
            <a:ext cx="56693" cy="68580"/>
          </a:xfrm>
          <a:prstGeom prst="rect">
            <a:avLst/>
          </a:prstGeom>
          <a:solidFill>
            <a:srgbClr val="D26F31"/>
          </a:solidFill>
          <a:ln/>
        </p:spPr>
      </p:sp>
      <p:sp>
        <p:nvSpPr>
          <p:cNvPr id="174" name="Shape 172"/>
          <p:cNvSpPr/>
          <p:nvPr/>
        </p:nvSpPr>
        <p:spPr>
          <a:xfrm>
            <a:off x="6601968" y="4027932"/>
            <a:ext cx="56693" cy="68580"/>
          </a:xfrm>
          <a:prstGeom prst="rect">
            <a:avLst/>
          </a:prstGeom>
          <a:solidFill>
            <a:srgbClr val="D06830"/>
          </a:solidFill>
          <a:ln/>
        </p:spPr>
      </p:sp>
      <p:sp>
        <p:nvSpPr>
          <p:cNvPr id="175" name="Shape 173"/>
          <p:cNvSpPr/>
          <p:nvPr/>
        </p:nvSpPr>
        <p:spPr>
          <a:xfrm>
            <a:off x="6638544" y="4027932"/>
            <a:ext cx="56693" cy="68580"/>
          </a:xfrm>
          <a:prstGeom prst="rect">
            <a:avLst/>
          </a:prstGeom>
          <a:solidFill>
            <a:srgbClr val="CD612F"/>
          </a:solidFill>
          <a:ln/>
        </p:spPr>
      </p:sp>
      <p:sp>
        <p:nvSpPr>
          <p:cNvPr id="176" name="Shape 174"/>
          <p:cNvSpPr/>
          <p:nvPr/>
        </p:nvSpPr>
        <p:spPr>
          <a:xfrm>
            <a:off x="6675120" y="4027932"/>
            <a:ext cx="56693" cy="68580"/>
          </a:xfrm>
          <a:prstGeom prst="rect">
            <a:avLst/>
          </a:prstGeom>
          <a:solidFill>
            <a:srgbClr val="CB5A2E"/>
          </a:solidFill>
          <a:ln/>
        </p:spPr>
      </p:sp>
      <p:sp>
        <p:nvSpPr>
          <p:cNvPr id="177" name="Shape 175"/>
          <p:cNvSpPr/>
          <p:nvPr/>
        </p:nvSpPr>
        <p:spPr>
          <a:xfrm>
            <a:off x="6711696" y="4027932"/>
            <a:ext cx="56693" cy="68580"/>
          </a:xfrm>
          <a:prstGeom prst="rect">
            <a:avLst/>
          </a:prstGeom>
          <a:solidFill>
            <a:srgbClr val="C8532D"/>
          </a:solidFill>
          <a:ln/>
        </p:spPr>
      </p:sp>
      <p:sp>
        <p:nvSpPr>
          <p:cNvPr id="178" name="Shape 176"/>
          <p:cNvSpPr/>
          <p:nvPr/>
        </p:nvSpPr>
        <p:spPr>
          <a:xfrm>
            <a:off x="6748272" y="4027932"/>
            <a:ext cx="36576" cy="68580"/>
          </a:xfrm>
          <a:prstGeom prst="rect">
            <a:avLst/>
          </a:prstGeom>
          <a:solidFill>
            <a:srgbClr val="C64C2C"/>
          </a:solidFill>
          <a:ln/>
        </p:spPr>
      </p:sp>
      <p:sp>
        <p:nvSpPr>
          <p:cNvPr id="179" name="Shape 177"/>
          <p:cNvSpPr/>
          <p:nvPr/>
        </p:nvSpPr>
        <p:spPr>
          <a:xfrm>
            <a:off x="6053328" y="4096512"/>
            <a:ext cx="0" cy="155448"/>
          </a:xfrm>
          <a:prstGeom prst="line">
            <a:avLst/>
          </a:prstGeom>
          <a:noFill/>
          <a:ln w="28575">
            <a:solidFill>
              <a:srgbClr val="14242C"/>
            </a:solidFill>
            <a:prstDash val="solid"/>
          </a:ln>
        </p:spPr>
      </p:sp>
      <p:sp>
        <p:nvSpPr>
          <p:cNvPr id="180" name="Shape 178"/>
          <p:cNvSpPr/>
          <p:nvPr/>
        </p:nvSpPr>
        <p:spPr>
          <a:xfrm>
            <a:off x="566928" y="4389120"/>
            <a:ext cx="6446520" cy="804672"/>
          </a:xfrm>
          <a:prstGeom prst="roundRect">
            <a:avLst>
              <a:gd name="adj" fmla="val 9091"/>
            </a:avLst>
          </a:prstGeom>
          <a:solidFill>
            <a:srgbClr val="FFFFFF"/>
          </a:solidFill>
          <a:ln w="12700">
            <a:solidFill>
              <a:srgbClr val="E1E9ED"/>
            </a:solidFill>
            <a:prstDash val="solid"/>
          </a:ln>
        </p:spPr>
      </p:sp>
      <p:sp>
        <p:nvSpPr>
          <p:cNvPr id="181" name="Shape 179"/>
          <p:cNvSpPr/>
          <p:nvPr/>
        </p:nvSpPr>
        <p:spPr>
          <a:xfrm>
            <a:off x="768096" y="4535424"/>
            <a:ext cx="457200" cy="269291"/>
          </a:xfrm>
          <a:prstGeom prst="roundRect">
            <a:avLst>
              <a:gd name="adj" fmla="val 169779"/>
            </a:avLst>
          </a:prstGeom>
          <a:solidFill>
            <a:srgbClr val="FFFFFF"/>
          </a:solidFill>
          <a:ln w="15875">
            <a:solidFill>
              <a:srgbClr val="CDD9DF"/>
            </a:solidFill>
            <a:prstDash val="solid"/>
          </a:ln>
        </p:spPr>
      </p:sp>
      <p:sp>
        <p:nvSpPr>
          <p:cNvPr id="182" name="Text 180"/>
          <p:cNvSpPr txBox="1"/>
          <p:nvPr/>
        </p:nvSpPr>
        <p:spPr>
          <a:xfrm>
            <a:off x="768096" y="4544568"/>
            <a:ext cx="457200" cy="251003"/>
          </a:xfrm>
          <a:prstGeom prst="rect">
            <a:avLst/>
          </a:prstGeom>
          <a:noFill/>
          <a:ln/>
        </p:spPr>
        <p:txBody>
          <a:bodyPr wrap="square" lIns="0" tIns="0" rIns="0" bIns="0" rtlCol="0" anchor="ctr"/>
          <a:lstStyle/>
          <a:p>
            <a:pPr algn="ctr" indent="0" marL="0">
              <a:buNone/>
            </a:pPr>
            <a:r>
              <a:rPr lang="en-US" sz="950" b="1" dirty="0">
                <a:solidFill>
                  <a:srgbClr val="5F737D"/>
                </a:solidFill>
                <a:latin typeface="Calibri" pitchFamily="34" charset="0"/>
                <a:ea typeface="Calibri" pitchFamily="34" charset="-122"/>
                <a:cs typeface="Calibri" pitchFamily="34" charset="-120"/>
              </a:rPr>
              <a:t>B1</a:t>
            </a:r>
            <a:endParaRPr lang="en-US" sz="950" dirty="0"/>
          </a:p>
        </p:txBody>
      </p:sp>
      <p:sp>
        <p:nvSpPr>
          <p:cNvPr id="183" name="Text 181"/>
          <p:cNvSpPr txBox="1"/>
          <p:nvPr/>
        </p:nvSpPr>
        <p:spPr>
          <a:xfrm>
            <a:off x="1298448" y="4517136"/>
            <a:ext cx="3017520" cy="292608"/>
          </a:xfrm>
          <a:prstGeom prst="rect">
            <a:avLst/>
          </a:prstGeom>
          <a:noFill/>
          <a:ln/>
        </p:spPr>
        <p:txBody>
          <a:bodyPr wrap="square" lIns="0" tIns="0" rIns="0" bIns="0" rtlCol="0" anchor="ctr"/>
          <a:lstStyle/>
          <a:p>
            <a:pPr algn="l" indent="0" marL="0">
              <a:buNone/>
            </a:pPr>
            <a:r>
              <a:rPr lang="en-US" sz="1450" b="1" dirty="0">
                <a:solidFill>
                  <a:srgbClr val="14242C"/>
                </a:solidFill>
                <a:latin typeface="Calibri" pitchFamily="34" charset="0"/>
                <a:ea typeface="Calibri" pitchFamily="34" charset="-122"/>
                <a:cs typeface="Calibri" pitchFamily="34" charset="-120"/>
              </a:rPr>
              <a:t>Canteen</a:t>
            </a:r>
            <a:endParaRPr lang="en-US" sz="1450" dirty="0"/>
          </a:p>
        </p:txBody>
      </p:sp>
      <p:sp>
        <p:nvSpPr>
          <p:cNvPr id="184" name="Text 182"/>
          <p:cNvSpPr txBox="1"/>
          <p:nvPr/>
        </p:nvSpPr>
        <p:spPr>
          <a:xfrm>
            <a:off x="768096" y="4846320"/>
            <a:ext cx="4114800" cy="274320"/>
          </a:xfrm>
          <a:prstGeom prst="rect">
            <a:avLst/>
          </a:prstGeom>
          <a:noFill/>
          <a:ln/>
        </p:spPr>
        <p:txBody>
          <a:bodyPr wrap="square" lIns="0" tIns="0" rIns="0" bIns="0" rtlCol="0" anchor="t"/>
          <a:lstStyle/>
          <a:p>
            <a:pPr algn="l" indent="0" marL="0">
              <a:buNone/>
            </a:pPr>
            <a:r>
              <a:rPr lang="en-US" sz="1150" dirty="0">
                <a:solidFill>
                  <a:srgbClr val="5F737D"/>
                </a:solidFill>
                <a:latin typeface="Calibri" pitchFamily="34" charset="0"/>
                <a:ea typeface="Calibri" pitchFamily="34" charset="-122"/>
                <a:cs typeface="Calibri" pitchFamily="34" charset="-120"/>
              </a:rPr>
              <a:t>Quiet — no votes in the last two hours</a:t>
            </a:r>
            <a:endParaRPr lang="en-US" sz="1150" dirty="0"/>
          </a:p>
        </p:txBody>
      </p:sp>
      <p:sp>
        <p:nvSpPr>
          <p:cNvPr id="185" name="Text 183"/>
          <p:cNvSpPr txBox="1"/>
          <p:nvPr/>
        </p:nvSpPr>
        <p:spPr>
          <a:xfrm>
            <a:off x="5321808" y="4663440"/>
            <a:ext cx="1463040" cy="274320"/>
          </a:xfrm>
          <a:prstGeom prst="rect">
            <a:avLst/>
          </a:prstGeom>
          <a:noFill/>
          <a:ln/>
        </p:spPr>
        <p:txBody>
          <a:bodyPr wrap="square" lIns="0" tIns="0" rIns="0" bIns="0" rtlCol="0" anchor="t"/>
          <a:lstStyle/>
          <a:p>
            <a:pPr algn="ctr" indent="0" marL="0">
              <a:buNone/>
            </a:pPr>
            <a:r>
              <a:rPr lang="en-US" sz="1050" i="1" dirty="0">
                <a:solidFill>
                  <a:srgbClr val="5F737D"/>
                </a:solidFill>
                <a:latin typeface="Calibri" pitchFamily="34" charset="0"/>
                <a:ea typeface="Calibri" pitchFamily="34" charset="-122"/>
                <a:cs typeface="Calibri" pitchFamily="34" charset="-120"/>
              </a:rPr>
              <a:t>no votes</a:t>
            </a:r>
            <a:endParaRPr lang="en-US" sz="1050" dirty="0"/>
          </a:p>
        </p:txBody>
      </p:sp>
      <p:sp>
        <p:nvSpPr>
          <p:cNvPr id="186" name="Text 184"/>
          <p:cNvSpPr txBox="1"/>
          <p:nvPr/>
        </p:nvSpPr>
        <p:spPr>
          <a:xfrm>
            <a:off x="7415784" y="1645920"/>
            <a:ext cx="4208983" cy="256032"/>
          </a:xfrm>
          <a:prstGeom prst="rect">
            <a:avLst/>
          </a:prstGeom>
          <a:noFill/>
          <a:ln/>
        </p:spPr>
        <p:txBody>
          <a:bodyPr wrap="square" lIns="0" tIns="0" rIns="0" bIns="0" rtlCol="0" anchor="t"/>
          <a:lstStyle/>
          <a:p>
            <a:pPr algn="l" indent="0" marL="0">
              <a:buNone/>
            </a:pPr>
            <a:r>
              <a:rPr lang="en-US" sz="1050" b="1" spc="140" kern="0" dirty="0">
                <a:solidFill>
                  <a:srgbClr val="5F737D"/>
                </a:solidFill>
                <a:latin typeface="Calibri" pitchFamily="34" charset="0"/>
                <a:ea typeface="Calibri" pitchFamily="34" charset="-122"/>
                <a:cs typeface="Calibri" pitchFamily="34" charset="-120"/>
              </a:rPr>
              <a:t>HOW THE ORDER IS DECIDED</a:t>
            </a:r>
            <a:endParaRPr lang="en-US" sz="1050" dirty="0"/>
          </a:p>
        </p:txBody>
      </p:sp>
      <p:sp>
        <p:nvSpPr>
          <p:cNvPr id="187" name="Text 185"/>
          <p:cNvSpPr txBox="1"/>
          <p:nvPr/>
        </p:nvSpPr>
        <p:spPr>
          <a:xfrm>
            <a:off x="7415784" y="1975104"/>
            <a:ext cx="4208983" cy="694944"/>
          </a:xfrm>
          <a:prstGeom prst="rect">
            <a:avLst/>
          </a:prstGeom>
          <a:noFill/>
          <a:ln/>
        </p:spPr>
        <p:txBody>
          <a:bodyPr wrap="square" lIns="0" tIns="0" rIns="0" bIns="0" rtlCol="0" anchor="t"/>
          <a:lstStyle/>
          <a:p>
            <a:pPr algn="l" indent="0" marL="0">
              <a:lnSpc>
                <a:spcPts val="1700"/>
              </a:lnSpc>
              <a:buNone/>
            </a:pPr>
            <a:r>
              <a:rPr lang="en-US" sz="1300" b="1" dirty="0">
                <a:solidFill>
                  <a:srgbClr val="14242C"/>
                </a:solidFill>
                <a:latin typeface="Calibri" pitchFamily="34" charset="0"/>
                <a:ea typeface="Calibri" pitchFamily="34" charset="-122"/>
                <a:cs typeface="Calibri" pitchFamily="34" charset="-120"/>
              </a:rPr>
              <a:t>Split spots first — </a:t>
            </a:r>
            <a:pPr algn="l" indent="0" marL="0">
              <a:lnSpc>
                <a:spcPts val="1700"/>
              </a:lnSpc>
              <a:buNone/>
            </a:pPr>
            <a:r>
              <a:rPr lang="en-US" sz="1300" dirty="0">
                <a:solidFill>
                  <a:srgbClr val="5F737D"/>
                </a:solidFill>
                <a:latin typeface="Calibri" pitchFamily="34" charset="0"/>
                <a:ea typeface="Calibri" pitchFamily="34" charset="-122"/>
                <a:cs typeface="Calibri" pitchFamily="34" charset="-120"/>
              </a:rPr>
              <a:t>no setpoint can help them, so they never sit below a merely warm room.</a:t>
            </a:r>
            <a:endParaRPr lang="en-US" sz="1300" dirty="0"/>
          </a:p>
        </p:txBody>
      </p:sp>
      <p:sp>
        <p:nvSpPr>
          <p:cNvPr id="188" name="Text 186"/>
          <p:cNvSpPr txBox="1"/>
          <p:nvPr/>
        </p:nvSpPr>
        <p:spPr>
          <a:xfrm>
            <a:off x="7415784" y="2743200"/>
            <a:ext cx="4208983" cy="694944"/>
          </a:xfrm>
          <a:prstGeom prst="rect">
            <a:avLst/>
          </a:prstGeom>
          <a:noFill/>
          <a:ln/>
        </p:spPr>
        <p:txBody>
          <a:bodyPr wrap="square" lIns="0" tIns="0" rIns="0" bIns="0" rtlCol="0" anchor="t"/>
          <a:lstStyle/>
          <a:p>
            <a:pPr algn="l" indent="0" marL="0">
              <a:lnSpc>
                <a:spcPts val="1700"/>
              </a:lnSpc>
              <a:buNone/>
            </a:pPr>
            <a:r>
              <a:rPr lang="en-US" sz="1300" b="1" dirty="0">
                <a:solidFill>
                  <a:srgbClr val="14242C"/>
                </a:solidFill>
                <a:latin typeface="Calibri" pitchFamily="34" charset="0"/>
                <a:ea typeface="Calibri" pitchFamily="34" charset="-122"/>
                <a:cs typeface="Calibri" pitchFamily="34" charset="-120"/>
              </a:rPr>
              <a:t>Then severity × turnout — </a:t>
            </a:r>
            <a:pPr algn="l" indent="0" marL="0">
              <a:lnSpc>
                <a:spcPts val="1700"/>
              </a:lnSpc>
              <a:buNone/>
            </a:pPr>
            <a:r>
              <a:rPr lang="en-US" sz="1300" dirty="0">
                <a:solidFill>
                  <a:srgbClr val="5F737D"/>
                </a:solidFill>
                <a:latin typeface="Calibri" pitchFamily="34" charset="0"/>
                <a:ea typeface="Calibri" pitchFamily="34" charset="-122"/>
                <a:cs typeface="Calibri" pitchFamily="34" charset="-120"/>
              </a:rPr>
              <a:t>how far off it is, and how many people said so.</a:t>
            </a:r>
            <a:endParaRPr lang="en-US" sz="1300" dirty="0"/>
          </a:p>
        </p:txBody>
      </p:sp>
      <p:sp>
        <p:nvSpPr>
          <p:cNvPr id="189" name="Text 187"/>
          <p:cNvSpPr txBox="1"/>
          <p:nvPr/>
        </p:nvSpPr>
        <p:spPr>
          <a:xfrm>
            <a:off x="7415784" y="3511296"/>
            <a:ext cx="4208983" cy="694944"/>
          </a:xfrm>
          <a:prstGeom prst="rect">
            <a:avLst/>
          </a:prstGeom>
          <a:noFill/>
          <a:ln/>
        </p:spPr>
        <p:txBody>
          <a:bodyPr wrap="square" lIns="0" tIns="0" rIns="0" bIns="0" rtlCol="0" anchor="t"/>
          <a:lstStyle/>
          <a:p>
            <a:pPr algn="l" indent="0" marL="0">
              <a:lnSpc>
                <a:spcPts val="1700"/>
              </a:lnSpc>
              <a:buNone/>
            </a:pPr>
            <a:r>
              <a:rPr lang="en-US" sz="1300" b="1" dirty="0">
                <a:solidFill>
                  <a:srgbClr val="14242C"/>
                </a:solidFill>
                <a:latin typeface="Calibri" pitchFamily="34" charset="0"/>
                <a:ea typeface="Calibri" pitchFamily="34" charset="-122"/>
                <a:cs typeface="Calibri" pitchFamily="34" charset="-120"/>
              </a:rPr>
              <a:t>Quiet spots sink — </a:t>
            </a:r>
            <a:pPr algn="l" indent="0" marL="0">
              <a:lnSpc>
                <a:spcPts val="1700"/>
              </a:lnSpc>
              <a:buNone/>
            </a:pPr>
            <a:r>
              <a:rPr lang="en-US" sz="1300" dirty="0">
                <a:solidFill>
                  <a:srgbClr val="5F737D"/>
                </a:solidFill>
                <a:latin typeface="Calibri" pitchFamily="34" charset="0"/>
                <a:ea typeface="Calibri" pitchFamily="34" charset="-122"/>
                <a:cs typeface="Calibri" pitchFamily="34" charset="-120"/>
              </a:rPr>
              <a:t>no votes in two hours means no claim on anyone's attention.</a:t>
            </a:r>
            <a:endParaRPr lang="en-US" sz="1300" dirty="0"/>
          </a:p>
        </p:txBody>
      </p:sp>
      <p:sp>
        <p:nvSpPr>
          <p:cNvPr id="190" name="Shape 188"/>
          <p:cNvSpPr/>
          <p:nvPr/>
        </p:nvSpPr>
        <p:spPr>
          <a:xfrm>
            <a:off x="7415784" y="4370832"/>
            <a:ext cx="4208983" cy="1755648"/>
          </a:xfrm>
          <a:prstGeom prst="roundRect">
            <a:avLst>
              <a:gd name="adj" fmla="val 3125"/>
            </a:avLst>
          </a:prstGeom>
          <a:solidFill>
            <a:srgbClr val="F3F7F9"/>
          </a:solidFill>
          <a:ln w="12700">
            <a:solidFill>
              <a:srgbClr val="E1E9ED"/>
            </a:solidFill>
            <a:prstDash val="solid"/>
          </a:ln>
        </p:spPr>
      </p:sp>
      <p:sp>
        <p:nvSpPr>
          <p:cNvPr id="191" name="Text 189"/>
          <p:cNvSpPr txBox="1"/>
          <p:nvPr/>
        </p:nvSpPr>
        <p:spPr>
          <a:xfrm>
            <a:off x="7653528" y="4535424"/>
            <a:ext cx="3733495" cy="256032"/>
          </a:xfrm>
          <a:prstGeom prst="rect">
            <a:avLst/>
          </a:prstGeom>
          <a:noFill/>
          <a:ln/>
        </p:spPr>
        <p:txBody>
          <a:bodyPr wrap="square" lIns="0" tIns="0" rIns="0" bIns="0" rtlCol="0" anchor="t"/>
          <a:lstStyle/>
          <a:p>
            <a:pPr algn="l" indent="0" marL="0">
              <a:buNone/>
            </a:pPr>
            <a:r>
              <a:rPr lang="en-US" sz="1150" dirty="0">
                <a:solidFill>
                  <a:srgbClr val="5F737D"/>
                </a:solidFill>
                <a:latin typeface="Calibri" pitchFamily="34" charset="0"/>
                <a:ea typeface="Calibri" pitchFamily="34" charset="-122"/>
                <a:cs typeface="Calibri" pitchFamily="34" charset="-120"/>
              </a:rPr>
              <a:t>Facilities status</a:t>
            </a:r>
            <a:endParaRPr lang="en-US" sz="1150" dirty="0"/>
          </a:p>
        </p:txBody>
      </p:sp>
      <p:sp>
        <p:nvSpPr>
          <p:cNvPr id="192" name="Shape 190"/>
          <p:cNvSpPr/>
          <p:nvPr/>
        </p:nvSpPr>
        <p:spPr>
          <a:xfrm>
            <a:off x="7653528" y="4828032"/>
            <a:ext cx="3733495" cy="384048"/>
          </a:xfrm>
          <a:prstGeom prst="roundRect">
            <a:avLst>
              <a:gd name="adj" fmla="val 28571"/>
            </a:avLst>
          </a:prstGeom>
          <a:solidFill>
            <a:srgbClr val="FFFFFF"/>
          </a:solidFill>
          <a:ln w="15875">
            <a:solidFill>
              <a:srgbClr val="CDD9DF"/>
            </a:solidFill>
            <a:prstDash val="solid"/>
          </a:ln>
        </p:spPr>
      </p:sp>
      <p:sp>
        <p:nvSpPr>
          <p:cNvPr id="193" name="Text 191"/>
          <p:cNvSpPr txBox="1"/>
          <p:nvPr/>
        </p:nvSpPr>
        <p:spPr>
          <a:xfrm>
            <a:off x="7781544" y="4828032"/>
            <a:ext cx="3477463" cy="384048"/>
          </a:xfrm>
          <a:prstGeom prst="rect">
            <a:avLst/>
          </a:prstGeom>
          <a:noFill/>
          <a:ln/>
        </p:spPr>
        <p:txBody>
          <a:bodyPr wrap="square" lIns="0" tIns="0" rIns="0" bIns="0" rtlCol="0" anchor="ctr"/>
          <a:lstStyle/>
          <a:p>
            <a:pPr algn="l" indent="0" marL="0">
              <a:buNone/>
            </a:pPr>
            <a:r>
              <a:rPr lang="en-US" sz="1250" b="1" dirty="0">
                <a:solidFill>
                  <a:srgbClr val="14242C"/>
                </a:solidFill>
                <a:latin typeface="Calibri" pitchFamily="34" charset="0"/>
                <a:ea typeface="Calibri" pitchFamily="34" charset="-122"/>
                <a:cs typeface="Calibri" pitchFamily="34" charset="-120"/>
              </a:rPr>
              <a:t>Someone's looking at it</a:t>
            </a:r>
            <a:endParaRPr lang="en-US" sz="1250" dirty="0"/>
          </a:p>
        </p:txBody>
      </p:sp>
      <p:sp>
        <p:nvSpPr>
          <p:cNvPr id="194" name="Text 192"/>
          <p:cNvSpPr txBox="1"/>
          <p:nvPr/>
        </p:nvSpPr>
        <p:spPr>
          <a:xfrm>
            <a:off x="7653528" y="5266944"/>
            <a:ext cx="3733495" cy="274320"/>
          </a:xfrm>
          <a:prstGeom prst="rect">
            <a:avLst/>
          </a:prstGeom>
          <a:noFill/>
          <a:ln/>
        </p:spPr>
        <p:txBody>
          <a:bodyPr wrap="square" lIns="0" tIns="0" rIns="0" bIns="0" rtlCol="0" anchor="t"/>
          <a:lstStyle/>
          <a:p>
            <a:pPr algn="l" indent="0" marL="0">
              <a:buNone/>
            </a:pPr>
            <a:r>
              <a:rPr lang="en-US" sz="1000" dirty="0">
                <a:solidFill>
                  <a:srgbClr val="5F737D"/>
                </a:solidFill>
                <a:latin typeface="Calibri" pitchFamily="34" charset="0"/>
                <a:ea typeface="Calibri" pitchFamily="34" charset="-122"/>
                <a:cs typeface="Calibri" pitchFamily="34" charset="-120"/>
              </a:rPr>
              <a:t>Nothing logged · Someone's looking at it · Recently adjusted</a:t>
            </a:r>
            <a:endParaRPr lang="en-US" sz="1000" dirty="0"/>
          </a:p>
        </p:txBody>
      </p:sp>
      <p:sp>
        <p:nvSpPr>
          <p:cNvPr id="195" name="Shape 193"/>
          <p:cNvSpPr/>
          <p:nvPr/>
        </p:nvSpPr>
        <p:spPr>
          <a:xfrm>
            <a:off x="7653528" y="5577840"/>
            <a:ext cx="634822" cy="269291"/>
          </a:xfrm>
          <a:prstGeom prst="roundRect">
            <a:avLst>
              <a:gd name="adj" fmla="val 169779"/>
            </a:avLst>
          </a:prstGeom>
          <a:solidFill>
            <a:srgbClr val="14242C"/>
          </a:solidFill>
          <a:ln w="15875">
            <a:solidFill>
              <a:srgbClr val="14242C"/>
            </a:solidFill>
            <a:prstDash val="solid"/>
          </a:ln>
        </p:spPr>
      </p:sp>
      <p:sp>
        <p:nvSpPr>
          <p:cNvPr id="196" name="Text 194"/>
          <p:cNvSpPr txBox="1"/>
          <p:nvPr/>
        </p:nvSpPr>
        <p:spPr>
          <a:xfrm>
            <a:off x="7653528" y="5586984"/>
            <a:ext cx="634822" cy="251003"/>
          </a:xfrm>
          <a:prstGeom prst="rect">
            <a:avLst/>
          </a:prstGeom>
          <a:noFill/>
          <a:ln/>
        </p:spPr>
        <p:txBody>
          <a:bodyPr wrap="square" lIns="0" tIns="0" rIns="0" bIns="0" rtlCol="0" anchor="ctr"/>
          <a:lstStyle/>
          <a:p>
            <a:pPr algn="ctr" indent="0" marL="0">
              <a:buNone/>
            </a:pPr>
            <a:r>
              <a:rPr lang="en-US" sz="950" b="1" dirty="0">
                <a:solidFill>
                  <a:srgbClr val="E7EDF0"/>
                </a:solidFill>
                <a:latin typeface="Calibri" pitchFamily="34" charset="0"/>
                <a:ea typeface="Calibri" pitchFamily="34" charset="-122"/>
                <a:cs typeface="Calibri" pitchFamily="34" charset="-120"/>
              </a:rPr>
              <a:t>ON IT</a:t>
            </a:r>
            <a:endParaRPr lang="en-US" sz="950" dirty="0"/>
          </a:p>
        </p:txBody>
      </p:sp>
      <p:sp>
        <p:nvSpPr>
          <p:cNvPr id="197" name="Shape 195"/>
          <p:cNvSpPr/>
          <p:nvPr/>
        </p:nvSpPr>
        <p:spPr>
          <a:xfrm>
            <a:off x="8398078" y="5577840"/>
            <a:ext cx="851124" cy="269291"/>
          </a:xfrm>
          <a:prstGeom prst="roundRect">
            <a:avLst>
              <a:gd name="adj" fmla="val 169779"/>
            </a:avLst>
          </a:prstGeom>
          <a:solidFill>
            <a:srgbClr val="14242C"/>
          </a:solidFill>
          <a:ln w="15875">
            <a:solidFill>
              <a:srgbClr val="14242C"/>
            </a:solidFill>
            <a:prstDash val="solid"/>
          </a:ln>
        </p:spPr>
      </p:sp>
      <p:sp>
        <p:nvSpPr>
          <p:cNvPr id="198" name="Text 196"/>
          <p:cNvSpPr txBox="1"/>
          <p:nvPr/>
        </p:nvSpPr>
        <p:spPr>
          <a:xfrm>
            <a:off x="8398078" y="5586984"/>
            <a:ext cx="851124" cy="251003"/>
          </a:xfrm>
          <a:prstGeom prst="rect">
            <a:avLst/>
          </a:prstGeom>
          <a:noFill/>
          <a:ln/>
        </p:spPr>
        <p:txBody>
          <a:bodyPr wrap="square" lIns="0" tIns="0" rIns="0" bIns="0" rtlCol="0" anchor="ctr"/>
          <a:lstStyle/>
          <a:p>
            <a:pPr algn="ctr" indent="0" marL="0">
              <a:buNone/>
            </a:pPr>
            <a:r>
              <a:rPr lang="en-US" sz="950" b="1" dirty="0">
                <a:solidFill>
                  <a:srgbClr val="E7EDF0"/>
                </a:solidFill>
                <a:latin typeface="Calibri" pitchFamily="34" charset="0"/>
                <a:ea typeface="Calibri" pitchFamily="34" charset="-122"/>
                <a:cs typeface="Calibri" pitchFamily="34" charset="-120"/>
              </a:rPr>
              <a:t>ADJUSTED</a:t>
            </a:r>
            <a:endParaRPr lang="en-US" sz="950" dirty="0"/>
          </a:p>
        </p:txBody>
      </p:sp>
      <p:sp>
        <p:nvSpPr>
          <p:cNvPr id="199" name="Text 197"/>
          <p:cNvSpPr txBox="1"/>
          <p:nvPr/>
        </p:nvSpPr>
        <p:spPr>
          <a:xfrm>
            <a:off x="9395506" y="5577840"/>
            <a:ext cx="1991517" cy="475488"/>
          </a:xfrm>
          <a:prstGeom prst="rect">
            <a:avLst/>
          </a:prstGeom>
          <a:noFill/>
          <a:ln/>
        </p:spPr>
        <p:txBody>
          <a:bodyPr wrap="square" lIns="0" tIns="0" rIns="0" bIns="0" rtlCol="0" anchor="ctr"/>
          <a:lstStyle/>
          <a:p>
            <a:pPr algn="l" indent="0" marL="0">
              <a:buNone/>
            </a:pPr>
            <a:r>
              <a:rPr lang="en-US" sz="1100" i="1" dirty="0">
                <a:solidFill>
                  <a:srgbClr val="5F737D"/>
                </a:solidFill>
                <a:latin typeface="Calibri" pitchFamily="34" charset="0"/>
                <a:ea typeface="Calibri" pitchFamily="34" charset="-122"/>
                <a:cs typeface="Calibri" pitchFamily="34" charset="-120"/>
              </a:rPr>
              <a:t>← and it shows on the map</a:t>
            </a:r>
            <a:endParaRPr lang="en-US" sz="1100" dirty="0"/>
          </a:p>
        </p:txBody>
      </p:sp>
      <p:sp>
        <p:nvSpPr>
          <p:cNvPr id="200" name="Text 198"/>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5F737D"/>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7EDF0"/>
        </a:solidFill>
      </p:bgPr>
    </p:bg>
    <p:spTree>
      <p:nvGrpSpPr>
        <p:cNvPr id="1" name=""/>
        <p:cNvGrpSpPr/>
        <p:nvPr/>
      </p:nvGrpSpPr>
      <p:grpSpPr>
        <a:xfrm>
          <a:off x="0" y="0"/>
          <a:ext cx="0" cy="0"/>
          <a:chOff x="0" y="0"/>
          <a:chExt cx="0" cy="0"/>
        </a:xfrm>
      </p:grpSpPr>
      <p:sp>
        <p:nvSpPr>
          <p:cNvPr id="2" name="Text 0"/>
          <p:cNvSpPr txBox="1"/>
          <p:nvPr/>
        </p:nvSpPr>
        <p:spPr>
          <a:xfrm>
            <a:off x="566928" y="475488"/>
            <a:ext cx="11057839" cy="237744"/>
          </a:xfrm>
          <a:prstGeom prst="rect">
            <a:avLst/>
          </a:prstGeom>
          <a:noFill/>
          <a:ln/>
        </p:spPr>
        <p:txBody>
          <a:bodyPr wrap="square" lIns="0" tIns="0" rIns="0" bIns="0" rtlCol="0" anchor="t"/>
          <a:lstStyle/>
          <a:p>
            <a:pPr algn="l" indent="0" marL="0">
              <a:buNone/>
            </a:pPr>
            <a:r>
              <a:rPr lang="en-US" sz="1050" b="1" spc="140" kern="0" dirty="0">
                <a:solidFill>
                  <a:srgbClr val="3B9B78"/>
                </a:solidFill>
                <a:latin typeface="Calibri" pitchFamily="34" charset="0"/>
                <a:ea typeface="Calibri" pitchFamily="34" charset="-122"/>
                <a:cs typeface="Calibri" pitchFamily="34" charset="-120"/>
              </a:rPr>
              <a:t>3:20PM</a:t>
            </a:r>
            <a:endParaRPr lang="en-US" sz="1050" dirty="0"/>
          </a:p>
        </p:txBody>
      </p:sp>
      <p:sp>
        <p:nvSpPr>
          <p:cNvPr id="3" name="Text 1"/>
          <p:cNvSpPr txBox="1"/>
          <p:nvPr/>
        </p:nvSpPr>
        <p:spPr>
          <a:xfrm>
            <a:off x="566928" y="749808"/>
            <a:ext cx="11057839" cy="713232"/>
          </a:xfrm>
          <a:prstGeom prst="rect">
            <a:avLst/>
          </a:prstGeom>
          <a:noFill/>
          <a:ln/>
        </p:spPr>
        <p:txBody>
          <a:bodyPr wrap="square" lIns="0" tIns="0" rIns="0" bIns="0" rtlCol="0" anchor="t"/>
          <a:lstStyle/>
          <a:p>
            <a:pPr algn="l" indent="0" marL="0">
              <a:buNone/>
            </a:pPr>
            <a:r>
              <a:rPr lang="en-US" sz="3400" b="1" spc="-50" kern="0" dirty="0">
                <a:solidFill>
                  <a:srgbClr val="14242C"/>
                </a:solidFill>
                <a:latin typeface="Calibri" pitchFamily="34" charset="0"/>
                <a:ea typeface="Calibri" pitchFamily="34" charset="-122"/>
                <a:cs typeface="Calibri" pitchFamily="34" charset="-120"/>
              </a:rPr>
              <a:t>One damper, two rooms</a:t>
            </a:r>
            <a:endParaRPr lang="en-US" sz="3400" dirty="0"/>
          </a:p>
        </p:txBody>
      </p:sp>
      <p:sp>
        <p:nvSpPr>
          <p:cNvPr id="4" name="Shape 2"/>
          <p:cNvSpPr/>
          <p:nvPr/>
        </p:nvSpPr>
        <p:spPr>
          <a:xfrm>
            <a:off x="566928" y="2162556"/>
            <a:ext cx="5346040" cy="1572768"/>
          </a:xfrm>
          <a:prstGeom prst="roundRect">
            <a:avLst>
              <a:gd name="adj" fmla="val 3488"/>
            </a:avLst>
          </a:prstGeom>
          <a:solidFill>
            <a:srgbClr val="FFFFFF"/>
          </a:solidFill>
          <a:ln w="12700">
            <a:solidFill>
              <a:srgbClr val="E1E9ED"/>
            </a:solidFill>
            <a:prstDash val="solid"/>
          </a:ln>
          <a:effectLst>
            <a:outerShdw sx="100000" sy="100000" kx="0" ky="0" algn="bl" rotWithShape="0" blurRad="127000" dist="38100" dir="5400000">
              <a:srgbClr val="14242C">
                <a:alpha val="12000"/>
              </a:srgbClr>
            </a:outerShdw>
          </a:effectLst>
        </p:spPr>
      </p:sp>
      <p:sp>
        <p:nvSpPr>
          <p:cNvPr id="5" name="Text 3"/>
          <p:cNvSpPr txBox="1"/>
          <p:nvPr/>
        </p:nvSpPr>
        <p:spPr>
          <a:xfrm>
            <a:off x="896112" y="2436876"/>
            <a:ext cx="4687672" cy="384048"/>
          </a:xfrm>
          <a:prstGeom prst="rect">
            <a:avLst/>
          </a:prstGeom>
          <a:noFill/>
          <a:ln/>
        </p:spPr>
        <p:txBody>
          <a:bodyPr wrap="square" lIns="0" tIns="0" rIns="0" bIns="0" rtlCol="0" anchor="t"/>
          <a:lstStyle/>
          <a:p>
            <a:pPr algn="l" indent="0" marL="0">
              <a:buNone/>
            </a:pPr>
            <a:r>
              <a:rPr lang="en-US" sz="1900" b="1" spc="-30" kern="0" dirty="0">
                <a:solidFill>
                  <a:srgbClr val="14242C"/>
                </a:solidFill>
                <a:latin typeface="Calibri" pitchFamily="34" charset="0"/>
                <a:ea typeface="Calibri" pitchFamily="34" charset="-122"/>
                <a:cs typeface="Calibri" pitchFamily="34" charset="-120"/>
              </a:rPr>
              <a:t>What Marcus finds</a:t>
            </a:r>
            <a:endParaRPr lang="en-US" sz="1900" dirty="0"/>
          </a:p>
        </p:txBody>
      </p:sp>
      <p:sp>
        <p:nvSpPr>
          <p:cNvPr id="6" name="Text 4"/>
          <p:cNvSpPr txBox="1"/>
          <p:nvPr/>
        </p:nvSpPr>
        <p:spPr>
          <a:xfrm>
            <a:off x="896112" y="2912364"/>
            <a:ext cx="4687672" cy="566928"/>
          </a:xfrm>
          <a:prstGeom prst="rect">
            <a:avLst/>
          </a:prstGeom>
          <a:noFill/>
          <a:ln/>
        </p:spPr>
        <p:txBody>
          <a:bodyPr wrap="square" lIns="0" tIns="0" rIns="0" bIns="0" rtlCol="0" anchor="t"/>
          <a:lstStyle/>
          <a:p>
            <a:pPr algn="l" indent="0" marL="0">
              <a:lnSpc>
                <a:spcPts val="1900"/>
              </a:lnSpc>
              <a:buNone/>
            </a:pPr>
            <a:r>
              <a:rPr lang="en-US" sz="1400" dirty="0">
                <a:solidFill>
                  <a:srgbClr val="5F737D"/>
                </a:solidFill>
                <a:latin typeface="Calibri" pitchFamily="34" charset="0"/>
                <a:ea typeface="Calibri" pitchFamily="34" charset="-122"/>
                <a:cs typeface="Calibri" pitchFamily="34" charset="-120"/>
              </a:rPr>
              <a:t>The window run and the shaded core share a single damper. One number was always going to fail one of them.</a:t>
            </a:r>
            <a:endParaRPr lang="en-US" sz="1400" dirty="0"/>
          </a:p>
        </p:txBody>
      </p:sp>
      <p:sp>
        <p:nvSpPr>
          <p:cNvPr id="7" name="Shape 5"/>
          <p:cNvSpPr/>
          <p:nvPr/>
        </p:nvSpPr>
        <p:spPr>
          <a:xfrm>
            <a:off x="6278728" y="2162556"/>
            <a:ext cx="5346040" cy="1572768"/>
          </a:xfrm>
          <a:prstGeom prst="roundRect">
            <a:avLst>
              <a:gd name="adj" fmla="val 3488"/>
            </a:avLst>
          </a:prstGeom>
          <a:solidFill>
            <a:srgbClr val="3B9B78">
              <a:alpha val="12000"/>
            </a:srgbClr>
          </a:solidFill>
          <a:ln w="22225">
            <a:solidFill>
              <a:srgbClr val="3B9B78"/>
            </a:solidFill>
            <a:prstDash val="solid"/>
          </a:ln>
          <a:effectLst>
            <a:outerShdw sx="100000" sy="100000" kx="0" ky="0" algn="bl" rotWithShape="0" blurRad="127000" dist="38100" dir="5400000">
              <a:srgbClr val="14242C">
                <a:alpha val="12000"/>
              </a:srgbClr>
            </a:outerShdw>
          </a:effectLst>
        </p:spPr>
      </p:sp>
      <p:sp>
        <p:nvSpPr>
          <p:cNvPr id="8" name="Text 6"/>
          <p:cNvSpPr txBox="1"/>
          <p:nvPr/>
        </p:nvSpPr>
        <p:spPr>
          <a:xfrm>
            <a:off x="6607912" y="2436876"/>
            <a:ext cx="4687672" cy="384048"/>
          </a:xfrm>
          <a:prstGeom prst="rect">
            <a:avLst/>
          </a:prstGeom>
          <a:noFill/>
          <a:ln/>
        </p:spPr>
        <p:txBody>
          <a:bodyPr wrap="square" lIns="0" tIns="0" rIns="0" bIns="0" rtlCol="0" anchor="t"/>
          <a:lstStyle/>
          <a:p>
            <a:pPr algn="l" indent="0" marL="0">
              <a:buNone/>
            </a:pPr>
            <a:r>
              <a:rPr lang="en-US" sz="1900" b="1" spc="-30" kern="0" dirty="0">
                <a:solidFill>
                  <a:srgbClr val="14242C"/>
                </a:solidFill>
                <a:latin typeface="Calibri" pitchFamily="34" charset="0"/>
                <a:ea typeface="Calibri" pitchFamily="34" charset="-122"/>
                <a:cs typeface="Calibri" pitchFamily="34" charset="-120"/>
              </a:rPr>
              <a:t>Split the spot in two</a:t>
            </a:r>
            <a:endParaRPr lang="en-US" sz="1900" dirty="0"/>
          </a:p>
        </p:txBody>
      </p:sp>
      <p:sp>
        <p:nvSpPr>
          <p:cNvPr id="9" name="Text 7"/>
          <p:cNvSpPr txBox="1"/>
          <p:nvPr/>
        </p:nvSpPr>
        <p:spPr>
          <a:xfrm>
            <a:off x="6607912" y="2912364"/>
            <a:ext cx="4687672" cy="566928"/>
          </a:xfrm>
          <a:prstGeom prst="rect">
            <a:avLst/>
          </a:prstGeom>
          <a:noFill/>
          <a:ln/>
        </p:spPr>
        <p:txBody>
          <a:bodyPr wrap="square" lIns="0" tIns="0" rIns="0" bIns="0" rtlCol="0" anchor="t"/>
          <a:lstStyle/>
          <a:p>
            <a:pPr algn="l" indent="0" marL="0">
              <a:lnSpc>
                <a:spcPts val="1900"/>
              </a:lnSpc>
              <a:buNone/>
            </a:pPr>
            <a:r>
              <a:rPr lang="en-US" sz="1400" dirty="0">
                <a:solidFill>
                  <a:srgbClr val="5F737D"/>
                </a:solidFill>
                <a:latin typeface="Calibri" pitchFamily="34" charset="0"/>
                <a:ea typeface="Calibri" pitchFamily="34" charset="-122"/>
                <a:cs typeface="Calibri" pitchFamily="34" charset="-120"/>
              </a:rPr>
              <a:t>The board offers it directly from the warning, because the fix is usually a narrower spot.</a:t>
            </a:r>
            <a:endParaRPr lang="en-US" sz="1400" dirty="0"/>
          </a:p>
        </p:txBody>
      </p:sp>
      <p:sp>
        <p:nvSpPr>
          <p:cNvPr id="10" name="Shape 8"/>
          <p:cNvSpPr/>
          <p:nvPr/>
        </p:nvSpPr>
        <p:spPr>
          <a:xfrm>
            <a:off x="566928" y="4064508"/>
            <a:ext cx="5346040" cy="1572768"/>
          </a:xfrm>
          <a:prstGeom prst="roundRect">
            <a:avLst>
              <a:gd name="adj" fmla="val 3488"/>
            </a:avLst>
          </a:prstGeom>
          <a:solidFill>
            <a:srgbClr val="FFFFFF"/>
          </a:solidFill>
          <a:ln w="12700">
            <a:solidFill>
              <a:srgbClr val="E1E9ED"/>
            </a:solidFill>
            <a:prstDash val="solid"/>
          </a:ln>
          <a:effectLst>
            <a:outerShdw sx="100000" sy="100000" kx="0" ky="0" algn="bl" rotWithShape="0" blurRad="127000" dist="38100" dir="5400000">
              <a:srgbClr val="14242C">
                <a:alpha val="12000"/>
              </a:srgbClr>
            </a:outerShdw>
          </a:effectLst>
        </p:spPr>
      </p:sp>
      <p:sp>
        <p:nvSpPr>
          <p:cNvPr id="11" name="Text 9"/>
          <p:cNvSpPr txBox="1"/>
          <p:nvPr/>
        </p:nvSpPr>
        <p:spPr>
          <a:xfrm>
            <a:off x="896112" y="4338828"/>
            <a:ext cx="4687672" cy="384048"/>
          </a:xfrm>
          <a:prstGeom prst="rect">
            <a:avLst/>
          </a:prstGeom>
          <a:noFill/>
          <a:ln/>
        </p:spPr>
        <p:txBody>
          <a:bodyPr wrap="square" lIns="0" tIns="0" rIns="0" bIns="0" rtlCol="0" anchor="t"/>
          <a:lstStyle/>
          <a:p>
            <a:pPr algn="l" indent="0" marL="0">
              <a:buNone/>
            </a:pPr>
            <a:r>
              <a:rPr lang="en-US" sz="1900" b="1" spc="-30" kern="0" dirty="0">
                <a:solidFill>
                  <a:srgbClr val="14242C"/>
                </a:solidFill>
                <a:latin typeface="Calibri" pitchFamily="34" charset="0"/>
                <a:ea typeface="Calibri" pitchFamily="34" charset="-122"/>
                <a:cs typeface="Calibri" pitchFamily="34" charset="-120"/>
              </a:rPr>
              <a:t>Put them where they really are</a:t>
            </a:r>
            <a:endParaRPr lang="en-US" sz="1900" dirty="0"/>
          </a:p>
        </p:txBody>
      </p:sp>
      <p:sp>
        <p:nvSpPr>
          <p:cNvPr id="12" name="Text 10"/>
          <p:cNvSpPr txBox="1"/>
          <p:nvPr/>
        </p:nvSpPr>
        <p:spPr>
          <a:xfrm>
            <a:off x="896112" y="4814316"/>
            <a:ext cx="4687672" cy="566928"/>
          </a:xfrm>
          <a:prstGeom prst="rect">
            <a:avLst/>
          </a:prstGeom>
          <a:noFill/>
          <a:ln/>
        </p:spPr>
        <p:txBody>
          <a:bodyPr wrap="square" lIns="0" tIns="0" rIns="0" bIns="0" rtlCol="0" anchor="t"/>
          <a:lstStyle/>
          <a:p>
            <a:pPr algn="l" indent="0" marL="0">
              <a:lnSpc>
                <a:spcPts val="1900"/>
              </a:lnSpc>
              <a:buNone/>
            </a:pPr>
            <a:r>
              <a:rPr lang="en-US" sz="1400" dirty="0">
                <a:solidFill>
                  <a:srgbClr val="5F737D"/>
                </a:solidFill>
                <a:latin typeface="Calibri" pitchFamily="34" charset="0"/>
                <a:ea typeface="Calibri" pitchFamily="34" charset="-122"/>
                <a:cs typeface="Calibri" pitchFamily="34" charset="-120"/>
              </a:rPr>
              <a:t>Drop each new spot onto the plan. Swap the plan for a better one later and the pins stay put.</a:t>
            </a:r>
            <a:endParaRPr lang="en-US" sz="1400" dirty="0"/>
          </a:p>
        </p:txBody>
      </p:sp>
      <p:sp>
        <p:nvSpPr>
          <p:cNvPr id="13" name="Shape 11"/>
          <p:cNvSpPr/>
          <p:nvPr/>
        </p:nvSpPr>
        <p:spPr>
          <a:xfrm>
            <a:off x="6278728" y="4064508"/>
            <a:ext cx="5346040" cy="1572768"/>
          </a:xfrm>
          <a:prstGeom prst="roundRect">
            <a:avLst>
              <a:gd name="adj" fmla="val 3488"/>
            </a:avLst>
          </a:prstGeom>
          <a:solidFill>
            <a:srgbClr val="FFFFFF"/>
          </a:solidFill>
          <a:ln w="12700">
            <a:solidFill>
              <a:srgbClr val="E1E9ED"/>
            </a:solidFill>
            <a:prstDash val="solid"/>
          </a:ln>
          <a:effectLst>
            <a:outerShdw sx="100000" sy="100000" kx="0" ky="0" algn="bl" rotWithShape="0" blurRad="127000" dist="38100" dir="5400000">
              <a:srgbClr val="14242C">
                <a:alpha val="12000"/>
              </a:srgbClr>
            </a:outerShdw>
          </a:effectLst>
        </p:spPr>
      </p:sp>
      <p:sp>
        <p:nvSpPr>
          <p:cNvPr id="14" name="Text 12"/>
          <p:cNvSpPr txBox="1"/>
          <p:nvPr/>
        </p:nvSpPr>
        <p:spPr>
          <a:xfrm>
            <a:off x="6607912" y="4338828"/>
            <a:ext cx="4687672" cy="384048"/>
          </a:xfrm>
          <a:prstGeom prst="rect">
            <a:avLst/>
          </a:prstGeom>
          <a:noFill/>
          <a:ln/>
        </p:spPr>
        <p:txBody>
          <a:bodyPr wrap="square" lIns="0" tIns="0" rIns="0" bIns="0" rtlCol="0" anchor="t"/>
          <a:lstStyle/>
          <a:p>
            <a:pPr algn="l" indent="0" marL="0">
              <a:buNone/>
            </a:pPr>
            <a:r>
              <a:rPr lang="en-US" sz="1900" b="1" spc="-30" kern="0" dirty="0">
                <a:solidFill>
                  <a:srgbClr val="14242C"/>
                </a:solidFill>
                <a:latin typeface="Calibri" pitchFamily="34" charset="0"/>
                <a:ea typeface="Calibri" pitchFamily="34" charset="-122"/>
                <a:cs typeface="Calibri" pitchFamily="34" charset="-120"/>
              </a:rPr>
              <a:t>Every floor, its own plan</a:t>
            </a:r>
            <a:endParaRPr lang="en-US" sz="1900" dirty="0"/>
          </a:p>
        </p:txBody>
      </p:sp>
      <p:sp>
        <p:nvSpPr>
          <p:cNvPr id="15" name="Text 13"/>
          <p:cNvSpPr txBox="1"/>
          <p:nvPr/>
        </p:nvSpPr>
        <p:spPr>
          <a:xfrm>
            <a:off x="6607912" y="4814316"/>
            <a:ext cx="4687672" cy="566928"/>
          </a:xfrm>
          <a:prstGeom prst="rect">
            <a:avLst/>
          </a:prstGeom>
          <a:noFill/>
          <a:ln/>
        </p:spPr>
        <p:txBody>
          <a:bodyPr wrap="square" lIns="0" tIns="0" rIns="0" bIns="0" rtlCol="0" anchor="t"/>
          <a:lstStyle/>
          <a:p>
            <a:pPr algn="l" indent="0" marL="0">
              <a:lnSpc>
                <a:spcPts val="1900"/>
              </a:lnSpc>
              <a:buNone/>
            </a:pPr>
            <a:r>
              <a:rPr lang="en-US" sz="1400" dirty="0">
                <a:solidFill>
                  <a:srgbClr val="5F737D"/>
                </a:solidFill>
                <a:latin typeface="Calibri" pitchFamily="34" charset="0"/>
                <a:ea typeface="Calibri" pitchFamily="34" charset="-122"/>
                <a:cs typeface="Calibri" pitchFamily="34" charset="-120"/>
              </a:rPr>
              <a:t>A tab appears per floor on its own, and facilities can upload the real plan for each one.</a:t>
            </a:r>
            <a:endParaRPr lang="en-US" sz="1400" dirty="0"/>
          </a:p>
        </p:txBody>
      </p:sp>
      <p:sp>
        <p:nvSpPr>
          <p:cNvPr id="16" name="Text 14"/>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5F737D"/>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7EDF0"/>
        </a:solidFill>
      </p:bgPr>
    </p:bg>
    <p:spTree>
      <p:nvGrpSpPr>
        <p:cNvPr id="1" name=""/>
        <p:cNvGrpSpPr/>
        <p:nvPr/>
      </p:nvGrpSpPr>
      <p:grpSpPr>
        <a:xfrm>
          <a:off x="0" y="0"/>
          <a:ext cx="0" cy="0"/>
          <a:chOff x="0" y="0"/>
          <a:chExt cx="0" cy="0"/>
        </a:xfrm>
      </p:grpSpPr>
      <p:sp>
        <p:nvSpPr>
          <p:cNvPr id="2" name="Shape 0"/>
          <p:cNvSpPr/>
          <p:nvPr/>
        </p:nvSpPr>
        <p:spPr>
          <a:xfrm>
            <a:off x="566928" y="1627632"/>
            <a:ext cx="6126480" cy="4212087"/>
          </a:xfrm>
          <a:prstGeom prst="roundRect">
            <a:avLst>
              <a:gd name="adj" fmla="val 1085"/>
            </a:avLst>
          </a:prstGeom>
          <a:solidFill>
            <a:srgbClr val="F3F7F9"/>
          </a:solidFill>
          <a:ln w="12700">
            <a:solidFill>
              <a:srgbClr val="CDD9DF"/>
            </a:solidFill>
            <a:prstDash val="solid"/>
          </a:ln>
        </p:spPr>
      </p:sp>
      <p:sp>
        <p:nvSpPr>
          <p:cNvPr id="3" name="Shape 1"/>
          <p:cNvSpPr/>
          <p:nvPr/>
        </p:nvSpPr>
        <p:spPr>
          <a:xfrm>
            <a:off x="720090" y="1780799"/>
            <a:ext cx="5820156" cy="3905753"/>
          </a:xfrm>
          <a:prstGeom prst="rect">
            <a:avLst/>
          </a:prstGeom>
          <a:ln w="13970">
            <a:solidFill>
              <a:srgbClr val="5F737D"/>
            </a:solidFill>
            <a:prstDash val="solid"/>
          </a:ln>
        </p:spPr>
      </p:sp>
      <p:sp>
        <p:nvSpPr>
          <p:cNvPr id="4" name="Shape 2"/>
          <p:cNvSpPr/>
          <p:nvPr/>
        </p:nvSpPr>
        <p:spPr>
          <a:xfrm>
            <a:off x="2787777" y="3082716"/>
            <a:ext cx="1684782" cy="1301918"/>
          </a:xfrm>
          <a:prstGeom prst="rect">
            <a:avLst/>
          </a:prstGeom>
          <a:solidFill>
            <a:srgbClr val="14242C">
              <a:alpha val="6000"/>
            </a:srgbClr>
          </a:solidFill>
          <a:ln w="9525">
            <a:solidFill>
              <a:srgbClr val="CDD9DF"/>
            </a:solidFill>
            <a:prstDash val="solid"/>
          </a:ln>
        </p:spPr>
      </p:sp>
      <p:sp>
        <p:nvSpPr>
          <p:cNvPr id="5" name="Text 3"/>
          <p:cNvSpPr txBox="1"/>
          <p:nvPr/>
        </p:nvSpPr>
        <p:spPr>
          <a:xfrm>
            <a:off x="2921794" y="3345046"/>
            <a:ext cx="1097280" cy="164592"/>
          </a:xfrm>
          <a:prstGeom prst="rect">
            <a:avLst/>
          </a:prstGeom>
          <a:noFill/>
          <a:ln/>
        </p:spPr>
        <p:txBody>
          <a:bodyPr wrap="square" lIns="0" tIns="0" rIns="0" bIns="0" rtlCol="0" anchor="t"/>
          <a:lstStyle/>
          <a:p>
            <a:pPr algn="l" indent="0" marL="0">
              <a:buNone/>
            </a:pPr>
            <a:r>
              <a:rPr lang="en-US" sz="700" dirty="0">
                <a:solidFill>
                  <a:srgbClr val="5F737D"/>
                </a:solidFill>
                <a:latin typeface="Calibri" pitchFamily="34" charset="0"/>
                <a:ea typeface="Calibri" pitchFamily="34" charset="-122"/>
                <a:cs typeface="Calibri" pitchFamily="34" charset="-120"/>
              </a:rPr>
              <a:t>Lifts</a:t>
            </a:r>
            <a:endParaRPr lang="en-US" sz="700" dirty="0"/>
          </a:p>
        </p:txBody>
      </p:sp>
      <p:sp>
        <p:nvSpPr>
          <p:cNvPr id="6" name="Text 4"/>
          <p:cNvSpPr txBox="1"/>
          <p:nvPr/>
        </p:nvSpPr>
        <p:spPr>
          <a:xfrm>
            <a:off x="3400425" y="3345046"/>
            <a:ext cx="1097280" cy="164592"/>
          </a:xfrm>
          <a:prstGeom prst="rect">
            <a:avLst/>
          </a:prstGeom>
          <a:noFill/>
          <a:ln/>
        </p:spPr>
        <p:txBody>
          <a:bodyPr wrap="square" lIns="0" tIns="0" rIns="0" bIns="0" rtlCol="0" anchor="t"/>
          <a:lstStyle/>
          <a:p>
            <a:pPr algn="l" indent="0" marL="0">
              <a:buNone/>
            </a:pPr>
            <a:r>
              <a:rPr lang="en-US" sz="700" dirty="0">
                <a:solidFill>
                  <a:srgbClr val="5F737D"/>
                </a:solidFill>
                <a:latin typeface="Calibri" pitchFamily="34" charset="0"/>
                <a:ea typeface="Calibri" pitchFamily="34" charset="-122"/>
                <a:cs typeface="Calibri" pitchFamily="34" charset="-120"/>
              </a:rPr>
              <a:t>WC</a:t>
            </a:r>
            <a:endParaRPr lang="en-US" sz="700" dirty="0"/>
          </a:p>
        </p:txBody>
      </p:sp>
      <p:sp>
        <p:nvSpPr>
          <p:cNvPr id="7" name="Text 5"/>
          <p:cNvSpPr txBox="1"/>
          <p:nvPr/>
        </p:nvSpPr>
        <p:spPr>
          <a:xfrm>
            <a:off x="3967124" y="3345046"/>
            <a:ext cx="1097280" cy="164592"/>
          </a:xfrm>
          <a:prstGeom prst="rect">
            <a:avLst/>
          </a:prstGeom>
          <a:noFill/>
          <a:ln/>
        </p:spPr>
        <p:txBody>
          <a:bodyPr wrap="square" lIns="0" tIns="0" rIns="0" bIns="0" rtlCol="0" anchor="t"/>
          <a:lstStyle/>
          <a:p>
            <a:pPr algn="l" indent="0" marL="0">
              <a:buNone/>
            </a:pPr>
            <a:r>
              <a:rPr lang="en-US" sz="700" dirty="0">
                <a:solidFill>
                  <a:srgbClr val="5F737D"/>
                </a:solidFill>
                <a:latin typeface="Calibri" pitchFamily="34" charset="0"/>
                <a:ea typeface="Calibri" pitchFamily="34" charset="-122"/>
                <a:cs typeface="Calibri" pitchFamily="34" charset="-120"/>
              </a:rPr>
              <a:t>Stair</a:t>
            </a:r>
            <a:endParaRPr lang="en-US" sz="700" dirty="0"/>
          </a:p>
        </p:txBody>
      </p:sp>
      <p:sp>
        <p:nvSpPr>
          <p:cNvPr id="8" name="Shape 6"/>
          <p:cNvSpPr/>
          <p:nvPr/>
        </p:nvSpPr>
        <p:spPr>
          <a:xfrm>
            <a:off x="5161788" y="1933966"/>
            <a:ext cx="1301877" cy="842417"/>
          </a:xfrm>
          <a:prstGeom prst="rect">
            <a:avLst/>
          </a:prstGeom>
          <a:solidFill>
            <a:srgbClr val="14242C">
              <a:alpha val="6000"/>
            </a:srgbClr>
          </a:solidFill>
          <a:ln w="9525">
            <a:solidFill>
              <a:srgbClr val="CDD9DF"/>
            </a:solidFill>
            <a:prstDash val="solid"/>
          </a:ln>
        </p:spPr>
      </p:sp>
      <p:sp>
        <p:nvSpPr>
          <p:cNvPr id="9" name="Shape 7"/>
          <p:cNvSpPr/>
          <p:nvPr/>
        </p:nvSpPr>
        <p:spPr>
          <a:xfrm>
            <a:off x="5161788" y="2929550"/>
            <a:ext cx="1301877" cy="765834"/>
          </a:xfrm>
          <a:prstGeom prst="rect">
            <a:avLst/>
          </a:prstGeom>
          <a:solidFill>
            <a:srgbClr val="14242C">
              <a:alpha val="6000"/>
            </a:srgbClr>
          </a:solidFill>
          <a:ln w="9525">
            <a:solidFill>
              <a:srgbClr val="CDD9DF"/>
            </a:solidFill>
            <a:prstDash val="solid"/>
          </a:ln>
        </p:spPr>
      </p:sp>
      <p:sp>
        <p:nvSpPr>
          <p:cNvPr id="10" name="Shape 8"/>
          <p:cNvSpPr/>
          <p:nvPr/>
        </p:nvSpPr>
        <p:spPr>
          <a:xfrm>
            <a:off x="5161788" y="3848550"/>
            <a:ext cx="1301877" cy="765834"/>
          </a:xfrm>
          <a:prstGeom prst="rect">
            <a:avLst/>
          </a:prstGeom>
          <a:solidFill>
            <a:srgbClr val="14242C">
              <a:alpha val="6000"/>
            </a:srgbClr>
          </a:solidFill>
          <a:ln w="9525">
            <a:solidFill>
              <a:srgbClr val="CDD9DF"/>
            </a:solidFill>
            <a:prstDash val="solid"/>
          </a:ln>
        </p:spPr>
      </p:sp>
      <p:sp>
        <p:nvSpPr>
          <p:cNvPr id="11" name="Text 9"/>
          <p:cNvSpPr txBox="1"/>
          <p:nvPr/>
        </p:nvSpPr>
        <p:spPr>
          <a:xfrm>
            <a:off x="5257514" y="2004836"/>
            <a:ext cx="1097280" cy="164592"/>
          </a:xfrm>
          <a:prstGeom prst="rect">
            <a:avLst/>
          </a:prstGeom>
          <a:noFill/>
          <a:ln/>
        </p:spPr>
        <p:txBody>
          <a:bodyPr wrap="square" lIns="0" tIns="0" rIns="0" bIns="0" rtlCol="0" anchor="t"/>
          <a:lstStyle/>
          <a:p>
            <a:pPr algn="l" indent="0" marL="0">
              <a:buNone/>
            </a:pPr>
            <a:r>
              <a:rPr lang="en-US" sz="700" dirty="0">
                <a:solidFill>
                  <a:srgbClr val="5F737D"/>
                </a:solidFill>
                <a:latin typeface="Calibri" pitchFamily="34" charset="0"/>
                <a:ea typeface="Calibri" pitchFamily="34" charset="-122"/>
                <a:cs typeface="Calibri" pitchFamily="34" charset="-120"/>
              </a:rPr>
              <a:t>Meeting 7-1</a:t>
            </a:r>
            <a:endParaRPr lang="en-US" sz="700" dirty="0"/>
          </a:p>
        </p:txBody>
      </p:sp>
      <p:sp>
        <p:nvSpPr>
          <p:cNvPr id="12" name="Text 10"/>
          <p:cNvSpPr txBox="1"/>
          <p:nvPr/>
        </p:nvSpPr>
        <p:spPr>
          <a:xfrm>
            <a:off x="5257514" y="3000420"/>
            <a:ext cx="1097280" cy="164592"/>
          </a:xfrm>
          <a:prstGeom prst="rect">
            <a:avLst/>
          </a:prstGeom>
          <a:noFill/>
          <a:ln/>
        </p:spPr>
        <p:txBody>
          <a:bodyPr wrap="square" lIns="0" tIns="0" rIns="0" bIns="0" rtlCol="0" anchor="t"/>
          <a:lstStyle/>
          <a:p>
            <a:pPr algn="l" indent="0" marL="0">
              <a:buNone/>
            </a:pPr>
            <a:r>
              <a:rPr lang="en-US" sz="700" dirty="0">
                <a:solidFill>
                  <a:srgbClr val="5F737D"/>
                </a:solidFill>
                <a:latin typeface="Calibri" pitchFamily="34" charset="0"/>
                <a:ea typeface="Calibri" pitchFamily="34" charset="-122"/>
                <a:cs typeface="Calibri" pitchFamily="34" charset="-120"/>
              </a:rPr>
              <a:t>Meeting 7-2</a:t>
            </a:r>
            <a:endParaRPr lang="en-US" sz="700" dirty="0"/>
          </a:p>
        </p:txBody>
      </p:sp>
      <p:sp>
        <p:nvSpPr>
          <p:cNvPr id="13" name="Text 11"/>
          <p:cNvSpPr txBox="1"/>
          <p:nvPr/>
        </p:nvSpPr>
        <p:spPr>
          <a:xfrm>
            <a:off x="5257514" y="3919421"/>
            <a:ext cx="1097280" cy="164592"/>
          </a:xfrm>
          <a:prstGeom prst="rect">
            <a:avLst/>
          </a:prstGeom>
          <a:noFill/>
          <a:ln/>
        </p:spPr>
        <p:txBody>
          <a:bodyPr wrap="square" lIns="0" tIns="0" rIns="0" bIns="0" rtlCol="0" anchor="t"/>
          <a:lstStyle/>
          <a:p>
            <a:pPr algn="l" indent="0" marL="0">
              <a:buNone/>
            </a:pPr>
            <a:r>
              <a:rPr lang="en-US" sz="700" dirty="0">
                <a:solidFill>
                  <a:srgbClr val="5F737D"/>
                </a:solidFill>
                <a:latin typeface="Calibri" pitchFamily="34" charset="0"/>
                <a:ea typeface="Calibri" pitchFamily="34" charset="-122"/>
                <a:cs typeface="Calibri" pitchFamily="34" charset="-120"/>
              </a:rPr>
              <a:t>Meeting 7-3</a:t>
            </a:r>
            <a:endParaRPr lang="en-US" sz="700" dirty="0"/>
          </a:p>
        </p:txBody>
      </p:sp>
      <p:sp>
        <p:nvSpPr>
          <p:cNvPr id="14" name="Shape 12"/>
          <p:cNvSpPr/>
          <p:nvPr/>
        </p:nvSpPr>
        <p:spPr>
          <a:xfrm>
            <a:off x="796671" y="4614384"/>
            <a:ext cx="1378458" cy="995584"/>
          </a:xfrm>
          <a:prstGeom prst="rect">
            <a:avLst/>
          </a:prstGeom>
          <a:solidFill>
            <a:srgbClr val="14242C">
              <a:alpha val="6000"/>
            </a:srgbClr>
          </a:solidFill>
          <a:ln w="9525">
            <a:solidFill>
              <a:srgbClr val="CDD9DF"/>
            </a:solidFill>
            <a:prstDash val="solid"/>
          </a:ln>
        </p:spPr>
      </p:sp>
      <p:sp>
        <p:nvSpPr>
          <p:cNvPr id="15" name="Text 13"/>
          <p:cNvSpPr txBox="1"/>
          <p:nvPr/>
        </p:nvSpPr>
        <p:spPr>
          <a:xfrm>
            <a:off x="892397" y="4685255"/>
            <a:ext cx="1097280" cy="164592"/>
          </a:xfrm>
          <a:prstGeom prst="rect">
            <a:avLst/>
          </a:prstGeom>
          <a:noFill/>
          <a:ln/>
        </p:spPr>
        <p:txBody>
          <a:bodyPr wrap="square" lIns="0" tIns="0" rIns="0" bIns="0" rtlCol="0" anchor="t"/>
          <a:lstStyle/>
          <a:p>
            <a:pPr algn="l" indent="0" marL="0">
              <a:buNone/>
            </a:pPr>
            <a:r>
              <a:rPr lang="en-US" sz="700" dirty="0">
                <a:solidFill>
                  <a:srgbClr val="5F737D"/>
                </a:solidFill>
                <a:latin typeface="Calibri" pitchFamily="34" charset="0"/>
                <a:ea typeface="Calibri" pitchFamily="34" charset="-122"/>
                <a:cs typeface="Calibri" pitchFamily="34" charset="-120"/>
              </a:rPr>
              <a:t>Pantry</a:t>
            </a:r>
            <a:endParaRPr lang="en-US" sz="700" dirty="0"/>
          </a:p>
        </p:txBody>
      </p:sp>
      <p:sp>
        <p:nvSpPr>
          <p:cNvPr id="16" name="Shape 14"/>
          <p:cNvSpPr/>
          <p:nvPr/>
        </p:nvSpPr>
        <p:spPr>
          <a:xfrm>
            <a:off x="949833" y="2087132"/>
            <a:ext cx="344615" cy="191458"/>
          </a:xfrm>
          <a:prstGeom prst="rect">
            <a:avLst/>
          </a:prstGeom>
          <a:ln w="7620">
            <a:solidFill>
              <a:srgbClr val="CDD9DF"/>
            </a:solidFill>
            <a:prstDash val="solid"/>
          </a:ln>
        </p:spPr>
      </p:sp>
      <p:sp>
        <p:nvSpPr>
          <p:cNvPr id="17" name="Shape 15"/>
          <p:cNvSpPr/>
          <p:nvPr/>
        </p:nvSpPr>
        <p:spPr>
          <a:xfrm>
            <a:off x="949833" y="2278591"/>
            <a:ext cx="344615" cy="191458"/>
          </a:xfrm>
          <a:prstGeom prst="rect">
            <a:avLst/>
          </a:prstGeom>
          <a:ln w="7620">
            <a:solidFill>
              <a:srgbClr val="CDD9DF"/>
            </a:solidFill>
            <a:prstDash val="solid"/>
          </a:ln>
        </p:spPr>
      </p:sp>
      <p:sp>
        <p:nvSpPr>
          <p:cNvPr id="18" name="Shape 16"/>
          <p:cNvSpPr/>
          <p:nvPr/>
        </p:nvSpPr>
        <p:spPr>
          <a:xfrm>
            <a:off x="1371029" y="2087132"/>
            <a:ext cx="344615" cy="191458"/>
          </a:xfrm>
          <a:prstGeom prst="rect">
            <a:avLst/>
          </a:prstGeom>
          <a:ln w="7620">
            <a:solidFill>
              <a:srgbClr val="CDD9DF"/>
            </a:solidFill>
            <a:prstDash val="solid"/>
          </a:ln>
        </p:spPr>
      </p:sp>
      <p:sp>
        <p:nvSpPr>
          <p:cNvPr id="19" name="Shape 17"/>
          <p:cNvSpPr/>
          <p:nvPr/>
        </p:nvSpPr>
        <p:spPr>
          <a:xfrm>
            <a:off x="1371029" y="2278591"/>
            <a:ext cx="344615" cy="191458"/>
          </a:xfrm>
          <a:prstGeom prst="rect">
            <a:avLst/>
          </a:prstGeom>
          <a:ln w="7620">
            <a:solidFill>
              <a:srgbClr val="CDD9DF"/>
            </a:solidFill>
            <a:prstDash val="solid"/>
          </a:ln>
        </p:spPr>
      </p:sp>
      <p:sp>
        <p:nvSpPr>
          <p:cNvPr id="20" name="Shape 18"/>
          <p:cNvSpPr/>
          <p:nvPr/>
        </p:nvSpPr>
        <p:spPr>
          <a:xfrm>
            <a:off x="1792224" y="2087132"/>
            <a:ext cx="344615" cy="191458"/>
          </a:xfrm>
          <a:prstGeom prst="rect">
            <a:avLst/>
          </a:prstGeom>
          <a:ln w="7620">
            <a:solidFill>
              <a:srgbClr val="CDD9DF"/>
            </a:solidFill>
            <a:prstDash val="solid"/>
          </a:ln>
        </p:spPr>
      </p:sp>
      <p:sp>
        <p:nvSpPr>
          <p:cNvPr id="21" name="Shape 19"/>
          <p:cNvSpPr/>
          <p:nvPr/>
        </p:nvSpPr>
        <p:spPr>
          <a:xfrm>
            <a:off x="1792224" y="2278591"/>
            <a:ext cx="344615" cy="191458"/>
          </a:xfrm>
          <a:prstGeom prst="rect">
            <a:avLst/>
          </a:prstGeom>
          <a:ln w="7620">
            <a:solidFill>
              <a:srgbClr val="CDD9DF"/>
            </a:solidFill>
            <a:prstDash val="solid"/>
          </a:ln>
        </p:spPr>
      </p:sp>
      <p:sp>
        <p:nvSpPr>
          <p:cNvPr id="22" name="Shape 20"/>
          <p:cNvSpPr/>
          <p:nvPr/>
        </p:nvSpPr>
        <p:spPr>
          <a:xfrm>
            <a:off x="2366582" y="2087132"/>
            <a:ext cx="344615" cy="191458"/>
          </a:xfrm>
          <a:prstGeom prst="rect">
            <a:avLst/>
          </a:prstGeom>
          <a:ln w="7620">
            <a:solidFill>
              <a:srgbClr val="CDD9DF"/>
            </a:solidFill>
            <a:prstDash val="solid"/>
          </a:ln>
        </p:spPr>
      </p:sp>
      <p:sp>
        <p:nvSpPr>
          <p:cNvPr id="23" name="Shape 21"/>
          <p:cNvSpPr/>
          <p:nvPr/>
        </p:nvSpPr>
        <p:spPr>
          <a:xfrm>
            <a:off x="2366582" y="2278591"/>
            <a:ext cx="344615" cy="191458"/>
          </a:xfrm>
          <a:prstGeom prst="rect">
            <a:avLst/>
          </a:prstGeom>
          <a:ln w="7620">
            <a:solidFill>
              <a:srgbClr val="CDD9DF"/>
            </a:solidFill>
            <a:prstDash val="solid"/>
          </a:ln>
        </p:spPr>
      </p:sp>
      <p:sp>
        <p:nvSpPr>
          <p:cNvPr id="24" name="Shape 22"/>
          <p:cNvSpPr/>
          <p:nvPr/>
        </p:nvSpPr>
        <p:spPr>
          <a:xfrm>
            <a:off x="2787777" y="2087132"/>
            <a:ext cx="344615" cy="191458"/>
          </a:xfrm>
          <a:prstGeom prst="rect">
            <a:avLst/>
          </a:prstGeom>
          <a:ln w="7620">
            <a:solidFill>
              <a:srgbClr val="CDD9DF"/>
            </a:solidFill>
            <a:prstDash val="solid"/>
          </a:ln>
        </p:spPr>
      </p:sp>
      <p:sp>
        <p:nvSpPr>
          <p:cNvPr id="25" name="Shape 23"/>
          <p:cNvSpPr/>
          <p:nvPr/>
        </p:nvSpPr>
        <p:spPr>
          <a:xfrm>
            <a:off x="2787777" y="2278591"/>
            <a:ext cx="344615" cy="191458"/>
          </a:xfrm>
          <a:prstGeom prst="rect">
            <a:avLst/>
          </a:prstGeom>
          <a:ln w="7620">
            <a:solidFill>
              <a:srgbClr val="CDD9DF"/>
            </a:solidFill>
            <a:prstDash val="solid"/>
          </a:ln>
        </p:spPr>
      </p:sp>
      <p:sp>
        <p:nvSpPr>
          <p:cNvPr id="26" name="Shape 24"/>
          <p:cNvSpPr/>
          <p:nvPr/>
        </p:nvSpPr>
        <p:spPr>
          <a:xfrm>
            <a:off x="3208973" y="2087132"/>
            <a:ext cx="344615" cy="191458"/>
          </a:xfrm>
          <a:prstGeom prst="rect">
            <a:avLst/>
          </a:prstGeom>
          <a:ln w="7620">
            <a:solidFill>
              <a:srgbClr val="CDD9DF"/>
            </a:solidFill>
            <a:prstDash val="solid"/>
          </a:ln>
        </p:spPr>
      </p:sp>
      <p:sp>
        <p:nvSpPr>
          <p:cNvPr id="27" name="Shape 25"/>
          <p:cNvSpPr/>
          <p:nvPr/>
        </p:nvSpPr>
        <p:spPr>
          <a:xfrm>
            <a:off x="3208973" y="2278591"/>
            <a:ext cx="344615" cy="191458"/>
          </a:xfrm>
          <a:prstGeom prst="rect">
            <a:avLst/>
          </a:prstGeom>
          <a:ln w="7620">
            <a:solidFill>
              <a:srgbClr val="CDD9DF"/>
            </a:solidFill>
            <a:prstDash val="solid"/>
          </a:ln>
        </p:spPr>
      </p:sp>
      <p:sp>
        <p:nvSpPr>
          <p:cNvPr id="28" name="Shape 26"/>
          <p:cNvSpPr/>
          <p:nvPr/>
        </p:nvSpPr>
        <p:spPr>
          <a:xfrm>
            <a:off x="3783330" y="2087132"/>
            <a:ext cx="344615" cy="191458"/>
          </a:xfrm>
          <a:prstGeom prst="rect">
            <a:avLst/>
          </a:prstGeom>
          <a:ln w="7620">
            <a:solidFill>
              <a:srgbClr val="CDD9DF"/>
            </a:solidFill>
            <a:prstDash val="solid"/>
          </a:ln>
        </p:spPr>
      </p:sp>
      <p:sp>
        <p:nvSpPr>
          <p:cNvPr id="29" name="Shape 27"/>
          <p:cNvSpPr/>
          <p:nvPr/>
        </p:nvSpPr>
        <p:spPr>
          <a:xfrm>
            <a:off x="3783330" y="2278591"/>
            <a:ext cx="344615" cy="191458"/>
          </a:xfrm>
          <a:prstGeom prst="rect">
            <a:avLst/>
          </a:prstGeom>
          <a:ln w="7620">
            <a:solidFill>
              <a:srgbClr val="CDD9DF"/>
            </a:solidFill>
            <a:prstDash val="solid"/>
          </a:ln>
        </p:spPr>
      </p:sp>
      <p:sp>
        <p:nvSpPr>
          <p:cNvPr id="30" name="Shape 28"/>
          <p:cNvSpPr/>
          <p:nvPr/>
        </p:nvSpPr>
        <p:spPr>
          <a:xfrm>
            <a:off x="4204526" y="2087132"/>
            <a:ext cx="344615" cy="191458"/>
          </a:xfrm>
          <a:prstGeom prst="rect">
            <a:avLst/>
          </a:prstGeom>
          <a:ln w="7620">
            <a:solidFill>
              <a:srgbClr val="CDD9DF"/>
            </a:solidFill>
            <a:prstDash val="solid"/>
          </a:ln>
        </p:spPr>
      </p:sp>
      <p:sp>
        <p:nvSpPr>
          <p:cNvPr id="31" name="Shape 29"/>
          <p:cNvSpPr/>
          <p:nvPr/>
        </p:nvSpPr>
        <p:spPr>
          <a:xfrm>
            <a:off x="4204526" y="2278591"/>
            <a:ext cx="344615" cy="191458"/>
          </a:xfrm>
          <a:prstGeom prst="rect">
            <a:avLst/>
          </a:prstGeom>
          <a:ln w="7620">
            <a:solidFill>
              <a:srgbClr val="CDD9DF"/>
            </a:solidFill>
            <a:prstDash val="solid"/>
          </a:ln>
        </p:spPr>
      </p:sp>
      <p:sp>
        <p:nvSpPr>
          <p:cNvPr id="32" name="Shape 30"/>
          <p:cNvSpPr/>
          <p:nvPr/>
        </p:nvSpPr>
        <p:spPr>
          <a:xfrm>
            <a:off x="4625721" y="2087132"/>
            <a:ext cx="344615" cy="191458"/>
          </a:xfrm>
          <a:prstGeom prst="rect">
            <a:avLst/>
          </a:prstGeom>
          <a:ln w="7620">
            <a:solidFill>
              <a:srgbClr val="CDD9DF"/>
            </a:solidFill>
            <a:prstDash val="solid"/>
          </a:ln>
        </p:spPr>
      </p:sp>
      <p:sp>
        <p:nvSpPr>
          <p:cNvPr id="33" name="Shape 31"/>
          <p:cNvSpPr/>
          <p:nvPr/>
        </p:nvSpPr>
        <p:spPr>
          <a:xfrm>
            <a:off x="4625721" y="2278591"/>
            <a:ext cx="344615" cy="191458"/>
          </a:xfrm>
          <a:prstGeom prst="rect">
            <a:avLst/>
          </a:prstGeom>
          <a:ln w="7620">
            <a:solidFill>
              <a:srgbClr val="CDD9DF"/>
            </a:solidFill>
            <a:prstDash val="solid"/>
          </a:ln>
        </p:spPr>
      </p:sp>
      <p:sp>
        <p:nvSpPr>
          <p:cNvPr id="34" name="Shape 32"/>
          <p:cNvSpPr/>
          <p:nvPr/>
        </p:nvSpPr>
        <p:spPr>
          <a:xfrm>
            <a:off x="949833" y="2623216"/>
            <a:ext cx="344615" cy="191458"/>
          </a:xfrm>
          <a:prstGeom prst="rect">
            <a:avLst/>
          </a:prstGeom>
          <a:ln w="7620">
            <a:solidFill>
              <a:srgbClr val="CDD9DF"/>
            </a:solidFill>
            <a:prstDash val="solid"/>
          </a:ln>
        </p:spPr>
      </p:sp>
      <p:sp>
        <p:nvSpPr>
          <p:cNvPr id="35" name="Shape 33"/>
          <p:cNvSpPr/>
          <p:nvPr/>
        </p:nvSpPr>
        <p:spPr>
          <a:xfrm>
            <a:off x="949833" y="2814675"/>
            <a:ext cx="344615" cy="191458"/>
          </a:xfrm>
          <a:prstGeom prst="rect">
            <a:avLst/>
          </a:prstGeom>
          <a:ln w="7620">
            <a:solidFill>
              <a:srgbClr val="CDD9DF"/>
            </a:solidFill>
            <a:prstDash val="solid"/>
          </a:ln>
        </p:spPr>
      </p:sp>
      <p:sp>
        <p:nvSpPr>
          <p:cNvPr id="36" name="Shape 34"/>
          <p:cNvSpPr/>
          <p:nvPr/>
        </p:nvSpPr>
        <p:spPr>
          <a:xfrm>
            <a:off x="1371029" y="2623216"/>
            <a:ext cx="344615" cy="191458"/>
          </a:xfrm>
          <a:prstGeom prst="rect">
            <a:avLst/>
          </a:prstGeom>
          <a:ln w="7620">
            <a:solidFill>
              <a:srgbClr val="CDD9DF"/>
            </a:solidFill>
            <a:prstDash val="solid"/>
          </a:ln>
        </p:spPr>
      </p:sp>
      <p:sp>
        <p:nvSpPr>
          <p:cNvPr id="37" name="Shape 35"/>
          <p:cNvSpPr/>
          <p:nvPr/>
        </p:nvSpPr>
        <p:spPr>
          <a:xfrm>
            <a:off x="1371029" y="2814675"/>
            <a:ext cx="344615" cy="191458"/>
          </a:xfrm>
          <a:prstGeom prst="rect">
            <a:avLst/>
          </a:prstGeom>
          <a:ln w="7620">
            <a:solidFill>
              <a:srgbClr val="CDD9DF"/>
            </a:solidFill>
            <a:prstDash val="solid"/>
          </a:ln>
        </p:spPr>
      </p:sp>
      <p:sp>
        <p:nvSpPr>
          <p:cNvPr id="38" name="Shape 36"/>
          <p:cNvSpPr/>
          <p:nvPr/>
        </p:nvSpPr>
        <p:spPr>
          <a:xfrm>
            <a:off x="1792224" y="2623216"/>
            <a:ext cx="344615" cy="191458"/>
          </a:xfrm>
          <a:prstGeom prst="rect">
            <a:avLst/>
          </a:prstGeom>
          <a:ln w="7620">
            <a:solidFill>
              <a:srgbClr val="CDD9DF"/>
            </a:solidFill>
            <a:prstDash val="solid"/>
          </a:ln>
        </p:spPr>
      </p:sp>
      <p:sp>
        <p:nvSpPr>
          <p:cNvPr id="39" name="Shape 37"/>
          <p:cNvSpPr/>
          <p:nvPr/>
        </p:nvSpPr>
        <p:spPr>
          <a:xfrm>
            <a:off x="1792224" y="2814675"/>
            <a:ext cx="344615" cy="191458"/>
          </a:xfrm>
          <a:prstGeom prst="rect">
            <a:avLst/>
          </a:prstGeom>
          <a:ln w="7620">
            <a:solidFill>
              <a:srgbClr val="CDD9DF"/>
            </a:solidFill>
            <a:prstDash val="solid"/>
          </a:ln>
        </p:spPr>
      </p:sp>
      <p:sp>
        <p:nvSpPr>
          <p:cNvPr id="40" name="Shape 38"/>
          <p:cNvSpPr/>
          <p:nvPr/>
        </p:nvSpPr>
        <p:spPr>
          <a:xfrm>
            <a:off x="2366582" y="2623216"/>
            <a:ext cx="344615" cy="191458"/>
          </a:xfrm>
          <a:prstGeom prst="rect">
            <a:avLst/>
          </a:prstGeom>
          <a:ln w="7620">
            <a:solidFill>
              <a:srgbClr val="CDD9DF"/>
            </a:solidFill>
            <a:prstDash val="solid"/>
          </a:ln>
        </p:spPr>
      </p:sp>
      <p:sp>
        <p:nvSpPr>
          <p:cNvPr id="41" name="Shape 39"/>
          <p:cNvSpPr/>
          <p:nvPr/>
        </p:nvSpPr>
        <p:spPr>
          <a:xfrm>
            <a:off x="2366582" y="2814675"/>
            <a:ext cx="344615" cy="191458"/>
          </a:xfrm>
          <a:prstGeom prst="rect">
            <a:avLst/>
          </a:prstGeom>
          <a:ln w="7620">
            <a:solidFill>
              <a:srgbClr val="CDD9DF"/>
            </a:solidFill>
            <a:prstDash val="solid"/>
          </a:ln>
        </p:spPr>
      </p:sp>
      <p:sp>
        <p:nvSpPr>
          <p:cNvPr id="42" name="Shape 40"/>
          <p:cNvSpPr/>
          <p:nvPr/>
        </p:nvSpPr>
        <p:spPr>
          <a:xfrm>
            <a:off x="2787777" y="2623216"/>
            <a:ext cx="344615" cy="191458"/>
          </a:xfrm>
          <a:prstGeom prst="rect">
            <a:avLst/>
          </a:prstGeom>
          <a:ln w="7620">
            <a:solidFill>
              <a:srgbClr val="CDD9DF"/>
            </a:solidFill>
            <a:prstDash val="solid"/>
          </a:ln>
        </p:spPr>
      </p:sp>
      <p:sp>
        <p:nvSpPr>
          <p:cNvPr id="43" name="Shape 41"/>
          <p:cNvSpPr/>
          <p:nvPr/>
        </p:nvSpPr>
        <p:spPr>
          <a:xfrm>
            <a:off x="2787777" y="2814675"/>
            <a:ext cx="344615" cy="191458"/>
          </a:xfrm>
          <a:prstGeom prst="rect">
            <a:avLst/>
          </a:prstGeom>
          <a:ln w="7620">
            <a:solidFill>
              <a:srgbClr val="CDD9DF"/>
            </a:solidFill>
            <a:prstDash val="solid"/>
          </a:ln>
        </p:spPr>
      </p:sp>
      <p:sp>
        <p:nvSpPr>
          <p:cNvPr id="44" name="Shape 42"/>
          <p:cNvSpPr/>
          <p:nvPr/>
        </p:nvSpPr>
        <p:spPr>
          <a:xfrm>
            <a:off x="3208973" y="2623216"/>
            <a:ext cx="344615" cy="191458"/>
          </a:xfrm>
          <a:prstGeom prst="rect">
            <a:avLst/>
          </a:prstGeom>
          <a:ln w="7620">
            <a:solidFill>
              <a:srgbClr val="CDD9DF"/>
            </a:solidFill>
            <a:prstDash val="solid"/>
          </a:ln>
        </p:spPr>
      </p:sp>
      <p:sp>
        <p:nvSpPr>
          <p:cNvPr id="45" name="Shape 43"/>
          <p:cNvSpPr/>
          <p:nvPr/>
        </p:nvSpPr>
        <p:spPr>
          <a:xfrm>
            <a:off x="3208973" y="2814675"/>
            <a:ext cx="344615" cy="191458"/>
          </a:xfrm>
          <a:prstGeom prst="rect">
            <a:avLst/>
          </a:prstGeom>
          <a:ln w="7620">
            <a:solidFill>
              <a:srgbClr val="CDD9DF"/>
            </a:solidFill>
            <a:prstDash val="solid"/>
          </a:ln>
        </p:spPr>
      </p:sp>
      <p:sp>
        <p:nvSpPr>
          <p:cNvPr id="46" name="Shape 44"/>
          <p:cNvSpPr/>
          <p:nvPr/>
        </p:nvSpPr>
        <p:spPr>
          <a:xfrm>
            <a:off x="3783330" y="2623216"/>
            <a:ext cx="344615" cy="191458"/>
          </a:xfrm>
          <a:prstGeom prst="rect">
            <a:avLst/>
          </a:prstGeom>
          <a:ln w="7620">
            <a:solidFill>
              <a:srgbClr val="CDD9DF"/>
            </a:solidFill>
            <a:prstDash val="solid"/>
          </a:ln>
        </p:spPr>
      </p:sp>
      <p:sp>
        <p:nvSpPr>
          <p:cNvPr id="47" name="Shape 45"/>
          <p:cNvSpPr/>
          <p:nvPr/>
        </p:nvSpPr>
        <p:spPr>
          <a:xfrm>
            <a:off x="3783330" y="2814675"/>
            <a:ext cx="344615" cy="191458"/>
          </a:xfrm>
          <a:prstGeom prst="rect">
            <a:avLst/>
          </a:prstGeom>
          <a:ln w="7620">
            <a:solidFill>
              <a:srgbClr val="CDD9DF"/>
            </a:solidFill>
            <a:prstDash val="solid"/>
          </a:ln>
        </p:spPr>
      </p:sp>
      <p:sp>
        <p:nvSpPr>
          <p:cNvPr id="48" name="Shape 46"/>
          <p:cNvSpPr/>
          <p:nvPr/>
        </p:nvSpPr>
        <p:spPr>
          <a:xfrm>
            <a:off x="4204526" y="2623216"/>
            <a:ext cx="344615" cy="191458"/>
          </a:xfrm>
          <a:prstGeom prst="rect">
            <a:avLst/>
          </a:prstGeom>
          <a:ln w="7620">
            <a:solidFill>
              <a:srgbClr val="CDD9DF"/>
            </a:solidFill>
            <a:prstDash val="solid"/>
          </a:ln>
        </p:spPr>
      </p:sp>
      <p:sp>
        <p:nvSpPr>
          <p:cNvPr id="49" name="Shape 47"/>
          <p:cNvSpPr/>
          <p:nvPr/>
        </p:nvSpPr>
        <p:spPr>
          <a:xfrm>
            <a:off x="4204526" y="2814675"/>
            <a:ext cx="344615" cy="191458"/>
          </a:xfrm>
          <a:prstGeom prst="rect">
            <a:avLst/>
          </a:prstGeom>
          <a:ln w="7620">
            <a:solidFill>
              <a:srgbClr val="CDD9DF"/>
            </a:solidFill>
            <a:prstDash val="solid"/>
          </a:ln>
        </p:spPr>
      </p:sp>
      <p:sp>
        <p:nvSpPr>
          <p:cNvPr id="50" name="Shape 48"/>
          <p:cNvSpPr/>
          <p:nvPr/>
        </p:nvSpPr>
        <p:spPr>
          <a:xfrm>
            <a:off x="4625721" y="2623216"/>
            <a:ext cx="344615" cy="191458"/>
          </a:xfrm>
          <a:prstGeom prst="rect">
            <a:avLst/>
          </a:prstGeom>
          <a:ln w="7620">
            <a:solidFill>
              <a:srgbClr val="CDD9DF"/>
            </a:solidFill>
            <a:prstDash val="solid"/>
          </a:ln>
        </p:spPr>
      </p:sp>
      <p:sp>
        <p:nvSpPr>
          <p:cNvPr id="51" name="Shape 49"/>
          <p:cNvSpPr/>
          <p:nvPr/>
        </p:nvSpPr>
        <p:spPr>
          <a:xfrm>
            <a:off x="4625721" y="2814675"/>
            <a:ext cx="344615" cy="191458"/>
          </a:xfrm>
          <a:prstGeom prst="rect">
            <a:avLst/>
          </a:prstGeom>
          <a:ln w="7620">
            <a:solidFill>
              <a:srgbClr val="CDD9DF"/>
            </a:solidFill>
            <a:prstDash val="solid"/>
          </a:ln>
        </p:spPr>
      </p:sp>
      <p:sp>
        <p:nvSpPr>
          <p:cNvPr id="52" name="Shape 50"/>
          <p:cNvSpPr/>
          <p:nvPr/>
        </p:nvSpPr>
        <p:spPr>
          <a:xfrm>
            <a:off x="2404872" y="4767551"/>
            <a:ext cx="344615" cy="191458"/>
          </a:xfrm>
          <a:prstGeom prst="rect">
            <a:avLst/>
          </a:prstGeom>
          <a:ln w="7620">
            <a:solidFill>
              <a:srgbClr val="CDD9DF"/>
            </a:solidFill>
            <a:prstDash val="solid"/>
          </a:ln>
        </p:spPr>
      </p:sp>
      <p:sp>
        <p:nvSpPr>
          <p:cNvPr id="53" name="Shape 51"/>
          <p:cNvSpPr/>
          <p:nvPr/>
        </p:nvSpPr>
        <p:spPr>
          <a:xfrm>
            <a:off x="2404872" y="4959010"/>
            <a:ext cx="344615" cy="191458"/>
          </a:xfrm>
          <a:prstGeom prst="rect">
            <a:avLst/>
          </a:prstGeom>
          <a:ln w="7620">
            <a:solidFill>
              <a:srgbClr val="CDD9DF"/>
            </a:solidFill>
            <a:prstDash val="solid"/>
          </a:ln>
        </p:spPr>
      </p:sp>
      <p:sp>
        <p:nvSpPr>
          <p:cNvPr id="54" name="Shape 52"/>
          <p:cNvSpPr/>
          <p:nvPr/>
        </p:nvSpPr>
        <p:spPr>
          <a:xfrm>
            <a:off x="2826068" y="4767551"/>
            <a:ext cx="344615" cy="191458"/>
          </a:xfrm>
          <a:prstGeom prst="rect">
            <a:avLst/>
          </a:prstGeom>
          <a:ln w="7620">
            <a:solidFill>
              <a:srgbClr val="CDD9DF"/>
            </a:solidFill>
            <a:prstDash val="solid"/>
          </a:ln>
        </p:spPr>
      </p:sp>
      <p:sp>
        <p:nvSpPr>
          <p:cNvPr id="55" name="Shape 53"/>
          <p:cNvSpPr/>
          <p:nvPr/>
        </p:nvSpPr>
        <p:spPr>
          <a:xfrm>
            <a:off x="2826068" y="4959010"/>
            <a:ext cx="344615" cy="191458"/>
          </a:xfrm>
          <a:prstGeom prst="rect">
            <a:avLst/>
          </a:prstGeom>
          <a:ln w="7620">
            <a:solidFill>
              <a:srgbClr val="CDD9DF"/>
            </a:solidFill>
            <a:prstDash val="solid"/>
          </a:ln>
        </p:spPr>
      </p:sp>
      <p:sp>
        <p:nvSpPr>
          <p:cNvPr id="56" name="Shape 54"/>
          <p:cNvSpPr/>
          <p:nvPr/>
        </p:nvSpPr>
        <p:spPr>
          <a:xfrm>
            <a:off x="3247263" y="4767551"/>
            <a:ext cx="344615" cy="191458"/>
          </a:xfrm>
          <a:prstGeom prst="rect">
            <a:avLst/>
          </a:prstGeom>
          <a:ln w="7620">
            <a:solidFill>
              <a:srgbClr val="CDD9DF"/>
            </a:solidFill>
            <a:prstDash val="solid"/>
          </a:ln>
        </p:spPr>
      </p:sp>
      <p:sp>
        <p:nvSpPr>
          <p:cNvPr id="57" name="Shape 55"/>
          <p:cNvSpPr/>
          <p:nvPr/>
        </p:nvSpPr>
        <p:spPr>
          <a:xfrm>
            <a:off x="3247263" y="4959010"/>
            <a:ext cx="344615" cy="191458"/>
          </a:xfrm>
          <a:prstGeom prst="rect">
            <a:avLst/>
          </a:prstGeom>
          <a:ln w="7620">
            <a:solidFill>
              <a:srgbClr val="CDD9DF"/>
            </a:solidFill>
            <a:prstDash val="solid"/>
          </a:ln>
        </p:spPr>
      </p:sp>
      <p:sp>
        <p:nvSpPr>
          <p:cNvPr id="58" name="Shape 56"/>
          <p:cNvSpPr/>
          <p:nvPr/>
        </p:nvSpPr>
        <p:spPr>
          <a:xfrm>
            <a:off x="3821621" y="4767551"/>
            <a:ext cx="344615" cy="191458"/>
          </a:xfrm>
          <a:prstGeom prst="rect">
            <a:avLst/>
          </a:prstGeom>
          <a:ln w="7620">
            <a:solidFill>
              <a:srgbClr val="CDD9DF"/>
            </a:solidFill>
            <a:prstDash val="solid"/>
          </a:ln>
        </p:spPr>
      </p:sp>
      <p:sp>
        <p:nvSpPr>
          <p:cNvPr id="59" name="Shape 57"/>
          <p:cNvSpPr/>
          <p:nvPr/>
        </p:nvSpPr>
        <p:spPr>
          <a:xfrm>
            <a:off x="3821621" y="4959010"/>
            <a:ext cx="344615" cy="191458"/>
          </a:xfrm>
          <a:prstGeom prst="rect">
            <a:avLst/>
          </a:prstGeom>
          <a:ln w="7620">
            <a:solidFill>
              <a:srgbClr val="CDD9DF"/>
            </a:solidFill>
            <a:prstDash val="solid"/>
          </a:ln>
        </p:spPr>
      </p:sp>
      <p:sp>
        <p:nvSpPr>
          <p:cNvPr id="60" name="Shape 58"/>
          <p:cNvSpPr/>
          <p:nvPr/>
        </p:nvSpPr>
        <p:spPr>
          <a:xfrm>
            <a:off x="4242816" y="4767551"/>
            <a:ext cx="344615" cy="191458"/>
          </a:xfrm>
          <a:prstGeom prst="rect">
            <a:avLst/>
          </a:prstGeom>
          <a:ln w="7620">
            <a:solidFill>
              <a:srgbClr val="CDD9DF"/>
            </a:solidFill>
            <a:prstDash val="solid"/>
          </a:ln>
        </p:spPr>
      </p:sp>
      <p:sp>
        <p:nvSpPr>
          <p:cNvPr id="61" name="Shape 59"/>
          <p:cNvSpPr/>
          <p:nvPr/>
        </p:nvSpPr>
        <p:spPr>
          <a:xfrm>
            <a:off x="4242816" y="4959010"/>
            <a:ext cx="344615" cy="191458"/>
          </a:xfrm>
          <a:prstGeom prst="rect">
            <a:avLst/>
          </a:prstGeom>
          <a:ln w="7620">
            <a:solidFill>
              <a:srgbClr val="CDD9DF"/>
            </a:solidFill>
            <a:prstDash val="solid"/>
          </a:ln>
        </p:spPr>
      </p:sp>
      <p:sp>
        <p:nvSpPr>
          <p:cNvPr id="62" name="Shape 60"/>
          <p:cNvSpPr/>
          <p:nvPr/>
        </p:nvSpPr>
        <p:spPr>
          <a:xfrm>
            <a:off x="4664012" y="4767551"/>
            <a:ext cx="344615" cy="191458"/>
          </a:xfrm>
          <a:prstGeom prst="rect">
            <a:avLst/>
          </a:prstGeom>
          <a:ln w="7620">
            <a:solidFill>
              <a:srgbClr val="CDD9DF"/>
            </a:solidFill>
            <a:prstDash val="solid"/>
          </a:ln>
        </p:spPr>
      </p:sp>
      <p:sp>
        <p:nvSpPr>
          <p:cNvPr id="63" name="Shape 61"/>
          <p:cNvSpPr/>
          <p:nvPr/>
        </p:nvSpPr>
        <p:spPr>
          <a:xfrm>
            <a:off x="4664012" y="4959010"/>
            <a:ext cx="344615" cy="191458"/>
          </a:xfrm>
          <a:prstGeom prst="rect">
            <a:avLst/>
          </a:prstGeom>
          <a:ln w="7620">
            <a:solidFill>
              <a:srgbClr val="CDD9DF"/>
            </a:solidFill>
            <a:prstDash val="solid"/>
          </a:ln>
        </p:spPr>
      </p:sp>
      <p:sp>
        <p:nvSpPr>
          <p:cNvPr id="64" name="Shape 62"/>
          <p:cNvSpPr/>
          <p:nvPr/>
        </p:nvSpPr>
        <p:spPr>
          <a:xfrm>
            <a:off x="949833" y="3312467"/>
            <a:ext cx="344615" cy="191458"/>
          </a:xfrm>
          <a:prstGeom prst="rect">
            <a:avLst/>
          </a:prstGeom>
          <a:ln w="7620">
            <a:solidFill>
              <a:srgbClr val="CDD9DF"/>
            </a:solidFill>
            <a:prstDash val="solid"/>
          </a:ln>
        </p:spPr>
      </p:sp>
      <p:sp>
        <p:nvSpPr>
          <p:cNvPr id="65" name="Shape 63"/>
          <p:cNvSpPr/>
          <p:nvPr/>
        </p:nvSpPr>
        <p:spPr>
          <a:xfrm>
            <a:off x="949833" y="3503925"/>
            <a:ext cx="344615" cy="191458"/>
          </a:xfrm>
          <a:prstGeom prst="rect">
            <a:avLst/>
          </a:prstGeom>
          <a:ln w="7620">
            <a:solidFill>
              <a:srgbClr val="CDD9DF"/>
            </a:solidFill>
            <a:prstDash val="solid"/>
          </a:ln>
        </p:spPr>
      </p:sp>
      <p:sp>
        <p:nvSpPr>
          <p:cNvPr id="66" name="Shape 64"/>
          <p:cNvSpPr/>
          <p:nvPr/>
        </p:nvSpPr>
        <p:spPr>
          <a:xfrm>
            <a:off x="1371029" y="3312467"/>
            <a:ext cx="344615" cy="191458"/>
          </a:xfrm>
          <a:prstGeom prst="rect">
            <a:avLst/>
          </a:prstGeom>
          <a:ln w="7620">
            <a:solidFill>
              <a:srgbClr val="CDD9DF"/>
            </a:solidFill>
            <a:prstDash val="solid"/>
          </a:ln>
        </p:spPr>
      </p:sp>
      <p:sp>
        <p:nvSpPr>
          <p:cNvPr id="67" name="Shape 65"/>
          <p:cNvSpPr/>
          <p:nvPr/>
        </p:nvSpPr>
        <p:spPr>
          <a:xfrm>
            <a:off x="1371029" y="3503925"/>
            <a:ext cx="344615" cy="191458"/>
          </a:xfrm>
          <a:prstGeom prst="rect">
            <a:avLst/>
          </a:prstGeom>
          <a:ln w="7620">
            <a:solidFill>
              <a:srgbClr val="CDD9DF"/>
            </a:solidFill>
            <a:prstDash val="solid"/>
          </a:ln>
        </p:spPr>
      </p:sp>
      <p:sp>
        <p:nvSpPr>
          <p:cNvPr id="68" name="Shape 66"/>
          <p:cNvSpPr/>
          <p:nvPr/>
        </p:nvSpPr>
        <p:spPr>
          <a:xfrm>
            <a:off x="1792224" y="3312467"/>
            <a:ext cx="344615" cy="191458"/>
          </a:xfrm>
          <a:prstGeom prst="rect">
            <a:avLst/>
          </a:prstGeom>
          <a:ln w="7620">
            <a:solidFill>
              <a:srgbClr val="CDD9DF"/>
            </a:solidFill>
            <a:prstDash val="solid"/>
          </a:ln>
        </p:spPr>
      </p:sp>
      <p:sp>
        <p:nvSpPr>
          <p:cNvPr id="69" name="Shape 67"/>
          <p:cNvSpPr/>
          <p:nvPr/>
        </p:nvSpPr>
        <p:spPr>
          <a:xfrm>
            <a:off x="1792224" y="3503925"/>
            <a:ext cx="344615" cy="191458"/>
          </a:xfrm>
          <a:prstGeom prst="rect">
            <a:avLst/>
          </a:prstGeom>
          <a:ln w="7620">
            <a:solidFill>
              <a:srgbClr val="CDD9DF"/>
            </a:solidFill>
            <a:prstDash val="solid"/>
          </a:ln>
        </p:spPr>
      </p:sp>
      <p:sp>
        <p:nvSpPr>
          <p:cNvPr id="70" name="Shape 68"/>
          <p:cNvSpPr/>
          <p:nvPr/>
        </p:nvSpPr>
        <p:spPr>
          <a:xfrm>
            <a:off x="949833" y="3848550"/>
            <a:ext cx="344615" cy="191458"/>
          </a:xfrm>
          <a:prstGeom prst="rect">
            <a:avLst/>
          </a:prstGeom>
          <a:ln w="7620">
            <a:solidFill>
              <a:srgbClr val="CDD9DF"/>
            </a:solidFill>
            <a:prstDash val="solid"/>
          </a:ln>
        </p:spPr>
      </p:sp>
      <p:sp>
        <p:nvSpPr>
          <p:cNvPr id="71" name="Shape 69"/>
          <p:cNvSpPr/>
          <p:nvPr/>
        </p:nvSpPr>
        <p:spPr>
          <a:xfrm>
            <a:off x="949833" y="4040009"/>
            <a:ext cx="344615" cy="191458"/>
          </a:xfrm>
          <a:prstGeom prst="rect">
            <a:avLst/>
          </a:prstGeom>
          <a:ln w="7620">
            <a:solidFill>
              <a:srgbClr val="CDD9DF"/>
            </a:solidFill>
            <a:prstDash val="solid"/>
          </a:ln>
        </p:spPr>
      </p:sp>
      <p:sp>
        <p:nvSpPr>
          <p:cNvPr id="72" name="Shape 70"/>
          <p:cNvSpPr/>
          <p:nvPr/>
        </p:nvSpPr>
        <p:spPr>
          <a:xfrm>
            <a:off x="1371029" y="3848550"/>
            <a:ext cx="344615" cy="191458"/>
          </a:xfrm>
          <a:prstGeom prst="rect">
            <a:avLst/>
          </a:prstGeom>
          <a:ln w="7620">
            <a:solidFill>
              <a:srgbClr val="CDD9DF"/>
            </a:solidFill>
            <a:prstDash val="solid"/>
          </a:ln>
        </p:spPr>
      </p:sp>
      <p:sp>
        <p:nvSpPr>
          <p:cNvPr id="73" name="Shape 71"/>
          <p:cNvSpPr/>
          <p:nvPr/>
        </p:nvSpPr>
        <p:spPr>
          <a:xfrm>
            <a:off x="1371029" y="4040009"/>
            <a:ext cx="344615" cy="191458"/>
          </a:xfrm>
          <a:prstGeom prst="rect">
            <a:avLst/>
          </a:prstGeom>
          <a:ln w="7620">
            <a:solidFill>
              <a:srgbClr val="CDD9DF"/>
            </a:solidFill>
            <a:prstDash val="solid"/>
          </a:ln>
        </p:spPr>
      </p:sp>
      <p:sp>
        <p:nvSpPr>
          <p:cNvPr id="74" name="Shape 72"/>
          <p:cNvSpPr/>
          <p:nvPr/>
        </p:nvSpPr>
        <p:spPr>
          <a:xfrm>
            <a:off x="1792224" y="3848550"/>
            <a:ext cx="344615" cy="191458"/>
          </a:xfrm>
          <a:prstGeom prst="rect">
            <a:avLst/>
          </a:prstGeom>
          <a:ln w="7620">
            <a:solidFill>
              <a:srgbClr val="CDD9DF"/>
            </a:solidFill>
            <a:prstDash val="solid"/>
          </a:ln>
        </p:spPr>
      </p:sp>
      <p:sp>
        <p:nvSpPr>
          <p:cNvPr id="75" name="Shape 73"/>
          <p:cNvSpPr/>
          <p:nvPr/>
        </p:nvSpPr>
        <p:spPr>
          <a:xfrm>
            <a:off x="1792224" y="4040009"/>
            <a:ext cx="344615" cy="191458"/>
          </a:xfrm>
          <a:prstGeom prst="rect">
            <a:avLst/>
          </a:prstGeom>
          <a:ln w="7620">
            <a:solidFill>
              <a:srgbClr val="CDD9DF"/>
            </a:solidFill>
            <a:prstDash val="solid"/>
          </a:ln>
        </p:spPr>
      </p:sp>
      <p:sp>
        <p:nvSpPr>
          <p:cNvPr id="76" name="Shape 74"/>
          <p:cNvSpPr/>
          <p:nvPr/>
        </p:nvSpPr>
        <p:spPr>
          <a:xfrm>
            <a:off x="2821473" y="1592423"/>
            <a:ext cx="1249802" cy="1249802"/>
          </a:xfrm>
          <a:prstGeom prst="ellipse">
            <a:avLst/>
          </a:prstGeom>
          <a:solidFill>
            <a:srgbClr val="5C996B">
              <a:alpha val="8000"/>
            </a:srgbClr>
          </a:solidFill>
          <a:ln/>
        </p:spPr>
      </p:sp>
      <p:sp>
        <p:nvSpPr>
          <p:cNvPr id="77" name="Shape 75"/>
          <p:cNvSpPr/>
          <p:nvPr/>
        </p:nvSpPr>
        <p:spPr>
          <a:xfrm>
            <a:off x="2946453" y="1717403"/>
            <a:ext cx="999842" cy="999842"/>
          </a:xfrm>
          <a:prstGeom prst="ellipse">
            <a:avLst/>
          </a:prstGeom>
          <a:solidFill>
            <a:srgbClr val="5C996B">
              <a:alpha val="14000"/>
            </a:srgbClr>
          </a:solidFill>
          <a:ln/>
        </p:spPr>
      </p:sp>
      <p:sp>
        <p:nvSpPr>
          <p:cNvPr id="78" name="Shape 76"/>
          <p:cNvSpPr/>
          <p:nvPr/>
        </p:nvSpPr>
        <p:spPr>
          <a:xfrm>
            <a:off x="3058935" y="1829886"/>
            <a:ext cx="774877" cy="774877"/>
          </a:xfrm>
          <a:prstGeom prst="ellipse">
            <a:avLst/>
          </a:prstGeom>
          <a:solidFill>
            <a:srgbClr val="5C996B">
              <a:alpha val="20000"/>
            </a:srgbClr>
          </a:solidFill>
          <a:ln/>
        </p:spPr>
      </p:sp>
      <p:sp>
        <p:nvSpPr>
          <p:cNvPr id="79" name="Shape 77"/>
          <p:cNvSpPr/>
          <p:nvPr/>
        </p:nvSpPr>
        <p:spPr>
          <a:xfrm>
            <a:off x="3165168" y="1936119"/>
            <a:ext cx="562411" cy="562411"/>
          </a:xfrm>
          <a:prstGeom prst="ellipse">
            <a:avLst/>
          </a:prstGeom>
          <a:solidFill>
            <a:srgbClr val="5C996B">
              <a:alpha val="26000"/>
            </a:srgbClr>
          </a:solidFill>
          <a:ln/>
        </p:spPr>
      </p:sp>
      <p:sp>
        <p:nvSpPr>
          <p:cNvPr id="80" name="Shape 78"/>
          <p:cNvSpPr/>
          <p:nvPr/>
        </p:nvSpPr>
        <p:spPr>
          <a:xfrm>
            <a:off x="3271401" y="2042352"/>
            <a:ext cx="349945" cy="349945"/>
          </a:xfrm>
          <a:prstGeom prst="ellipse">
            <a:avLst/>
          </a:prstGeom>
          <a:solidFill>
            <a:srgbClr val="5C996B">
              <a:alpha val="32000"/>
            </a:srgbClr>
          </a:solidFill>
          <a:ln/>
        </p:spPr>
      </p:sp>
      <p:sp>
        <p:nvSpPr>
          <p:cNvPr id="81" name="Shape 79"/>
          <p:cNvSpPr/>
          <p:nvPr/>
        </p:nvSpPr>
        <p:spPr>
          <a:xfrm>
            <a:off x="1011098" y="2883618"/>
            <a:ext cx="1194664" cy="1194664"/>
          </a:xfrm>
          <a:prstGeom prst="ellipse">
            <a:avLst/>
          </a:prstGeom>
          <a:solidFill>
            <a:srgbClr val="409C83">
              <a:alpha val="8000"/>
            </a:srgbClr>
          </a:solidFill>
          <a:ln/>
        </p:spPr>
      </p:sp>
      <p:sp>
        <p:nvSpPr>
          <p:cNvPr id="82" name="Shape 80"/>
          <p:cNvSpPr/>
          <p:nvPr/>
        </p:nvSpPr>
        <p:spPr>
          <a:xfrm>
            <a:off x="1130564" y="3003085"/>
            <a:ext cx="955731" cy="955731"/>
          </a:xfrm>
          <a:prstGeom prst="ellipse">
            <a:avLst/>
          </a:prstGeom>
          <a:solidFill>
            <a:srgbClr val="409C83">
              <a:alpha val="13000"/>
            </a:srgbClr>
          </a:solidFill>
          <a:ln/>
        </p:spPr>
      </p:sp>
      <p:sp>
        <p:nvSpPr>
          <p:cNvPr id="83" name="Shape 81"/>
          <p:cNvSpPr/>
          <p:nvPr/>
        </p:nvSpPr>
        <p:spPr>
          <a:xfrm>
            <a:off x="1238084" y="3110604"/>
            <a:ext cx="740691" cy="740691"/>
          </a:xfrm>
          <a:prstGeom prst="ellipse">
            <a:avLst/>
          </a:prstGeom>
          <a:solidFill>
            <a:srgbClr val="409C83">
              <a:alpha val="19000"/>
            </a:srgbClr>
          </a:solidFill>
          <a:ln/>
        </p:spPr>
      </p:sp>
      <p:sp>
        <p:nvSpPr>
          <p:cNvPr id="84" name="Shape 82"/>
          <p:cNvSpPr/>
          <p:nvPr/>
        </p:nvSpPr>
        <p:spPr>
          <a:xfrm>
            <a:off x="1339630" y="3212151"/>
            <a:ext cx="537599" cy="537599"/>
          </a:xfrm>
          <a:prstGeom prst="ellipse">
            <a:avLst/>
          </a:prstGeom>
          <a:solidFill>
            <a:srgbClr val="409C83">
              <a:alpha val="25000"/>
            </a:srgbClr>
          </a:solidFill>
          <a:ln/>
        </p:spPr>
      </p:sp>
      <p:sp>
        <p:nvSpPr>
          <p:cNvPr id="85" name="Shape 83"/>
          <p:cNvSpPr/>
          <p:nvPr/>
        </p:nvSpPr>
        <p:spPr>
          <a:xfrm>
            <a:off x="1441177" y="3313697"/>
            <a:ext cx="334506" cy="334506"/>
          </a:xfrm>
          <a:prstGeom prst="ellipse">
            <a:avLst/>
          </a:prstGeom>
          <a:solidFill>
            <a:srgbClr val="409C83">
              <a:alpha val="31000"/>
            </a:srgbClr>
          </a:solidFill>
          <a:ln/>
        </p:spPr>
      </p:sp>
      <p:sp>
        <p:nvSpPr>
          <p:cNvPr id="86" name="Shape 84"/>
          <p:cNvSpPr/>
          <p:nvPr/>
        </p:nvSpPr>
        <p:spPr>
          <a:xfrm>
            <a:off x="916137" y="4343297"/>
            <a:ext cx="1139525" cy="1139525"/>
          </a:xfrm>
          <a:prstGeom prst="ellipse">
            <a:avLst/>
          </a:prstGeom>
          <a:solidFill>
            <a:srgbClr val="53996E">
              <a:alpha val="8000"/>
            </a:srgbClr>
          </a:solidFill>
          <a:ln/>
        </p:spPr>
      </p:sp>
      <p:sp>
        <p:nvSpPr>
          <p:cNvPr id="87" name="Shape 85"/>
          <p:cNvSpPr/>
          <p:nvPr/>
        </p:nvSpPr>
        <p:spPr>
          <a:xfrm>
            <a:off x="1030090" y="4457249"/>
            <a:ext cx="911620" cy="911620"/>
          </a:xfrm>
          <a:prstGeom prst="ellipse">
            <a:avLst/>
          </a:prstGeom>
          <a:solidFill>
            <a:srgbClr val="53996E">
              <a:alpha val="13000"/>
            </a:srgbClr>
          </a:solidFill>
          <a:ln/>
        </p:spPr>
      </p:sp>
      <p:sp>
        <p:nvSpPr>
          <p:cNvPr id="88" name="Shape 86"/>
          <p:cNvSpPr/>
          <p:nvPr/>
        </p:nvSpPr>
        <p:spPr>
          <a:xfrm>
            <a:off x="1132647" y="4559807"/>
            <a:ext cx="706506" cy="706506"/>
          </a:xfrm>
          <a:prstGeom prst="ellipse">
            <a:avLst/>
          </a:prstGeom>
          <a:solidFill>
            <a:srgbClr val="53996E">
              <a:alpha val="19000"/>
            </a:srgbClr>
          </a:solidFill>
          <a:ln/>
        </p:spPr>
      </p:sp>
      <p:sp>
        <p:nvSpPr>
          <p:cNvPr id="89" name="Shape 87"/>
          <p:cNvSpPr/>
          <p:nvPr/>
        </p:nvSpPr>
        <p:spPr>
          <a:xfrm>
            <a:off x="1229507" y="4656666"/>
            <a:ext cx="512786" cy="512786"/>
          </a:xfrm>
          <a:prstGeom prst="ellipse">
            <a:avLst/>
          </a:prstGeom>
          <a:solidFill>
            <a:srgbClr val="53996E">
              <a:alpha val="25000"/>
            </a:srgbClr>
          </a:solidFill>
          <a:ln/>
        </p:spPr>
      </p:sp>
      <p:sp>
        <p:nvSpPr>
          <p:cNvPr id="90" name="Shape 88"/>
          <p:cNvSpPr/>
          <p:nvPr/>
        </p:nvSpPr>
        <p:spPr>
          <a:xfrm>
            <a:off x="1326366" y="4753526"/>
            <a:ext cx="319067" cy="319067"/>
          </a:xfrm>
          <a:prstGeom prst="ellipse">
            <a:avLst/>
          </a:prstGeom>
          <a:solidFill>
            <a:srgbClr val="53996E">
              <a:alpha val="31000"/>
            </a:srgbClr>
          </a:solidFill>
          <a:ln/>
        </p:spPr>
      </p:sp>
      <p:sp>
        <p:nvSpPr>
          <p:cNvPr id="91" name="Shape 89"/>
          <p:cNvSpPr/>
          <p:nvPr/>
        </p:nvSpPr>
        <p:spPr>
          <a:xfrm>
            <a:off x="4334713" y="4771397"/>
            <a:ext cx="1041502" cy="1041502"/>
          </a:xfrm>
          <a:prstGeom prst="ellipse">
            <a:avLst/>
          </a:prstGeom>
          <a:solidFill>
            <a:srgbClr val="8795A0">
              <a:alpha val="7000"/>
            </a:srgbClr>
          </a:solidFill>
          <a:ln/>
        </p:spPr>
      </p:sp>
      <p:sp>
        <p:nvSpPr>
          <p:cNvPr id="92" name="Shape 90"/>
          <p:cNvSpPr/>
          <p:nvPr/>
        </p:nvSpPr>
        <p:spPr>
          <a:xfrm>
            <a:off x="4438863" y="4875547"/>
            <a:ext cx="833201" cy="833201"/>
          </a:xfrm>
          <a:prstGeom prst="ellipse">
            <a:avLst/>
          </a:prstGeom>
          <a:solidFill>
            <a:srgbClr val="8795A0">
              <a:alpha val="12000"/>
            </a:srgbClr>
          </a:solidFill>
          <a:ln/>
        </p:spPr>
      </p:sp>
      <p:sp>
        <p:nvSpPr>
          <p:cNvPr id="93" name="Shape 91"/>
          <p:cNvSpPr/>
          <p:nvPr/>
        </p:nvSpPr>
        <p:spPr>
          <a:xfrm>
            <a:off x="4532599" y="4969282"/>
            <a:ext cx="645731" cy="645731"/>
          </a:xfrm>
          <a:prstGeom prst="ellipse">
            <a:avLst/>
          </a:prstGeom>
          <a:solidFill>
            <a:srgbClr val="8795A0">
              <a:alpha val="18000"/>
            </a:srgbClr>
          </a:solidFill>
          <a:ln/>
        </p:spPr>
      </p:sp>
      <p:sp>
        <p:nvSpPr>
          <p:cNvPr id="94" name="Shape 92"/>
          <p:cNvSpPr/>
          <p:nvPr/>
        </p:nvSpPr>
        <p:spPr>
          <a:xfrm>
            <a:off x="4621126" y="5057810"/>
            <a:ext cx="468676" cy="468676"/>
          </a:xfrm>
          <a:prstGeom prst="ellipse">
            <a:avLst/>
          </a:prstGeom>
          <a:solidFill>
            <a:srgbClr val="8795A0">
              <a:alpha val="23000"/>
            </a:srgbClr>
          </a:solidFill>
          <a:ln/>
        </p:spPr>
      </p:sp>
      <p:sp>
        <p:nvSpPr>
          <p:cNvPr id="95" name="Shape 93"/>
          <p:cNvSpPr/>
          <p:nvPr/>
        </p:nvSpPr>
        <p:spPr>
          <a:xfrm>
            <a:off x="4709654" y="5146337"/>
            <a:ext cx="291620" cy="291620"/>
          </a:xfrm>
          <a:prstGeom prst="ellipse">
            <a:avLst/>
          </a:prstGeom>
          <a:solidFill>
            <a:srgbClr val="8795A0">
              <a:alpha val="29000"/>
            </a:srgbClr>
          </a:solidFill>
          <a:ln/>
        </p:spPr>
      </p:sp>
      <p:sp>
        <p:nvSpPr>
          <p:cNvPr id="96" name="Shape 94"/>
          <p:cNvSpPr/>
          <p:nvPr/>
        </p:nvSpPr>
        <p:spPr>
          <a:xfrm>
            <a:off x="237744" y="530352"/>
            <a:ext cx="7552944" cy="1097280"/>
          </a:xfrm>
          <a:prstGeom prst="rect">
            <a:avLst/>
          </a:prstGeom>
          <a:solidFill>
            <a:srgbClr val="E7EDF0"/>
          </a:solidFill>
          <a:ln/>
        </p:spPr>
      </p:sp>
      <p:sp>
        <p:nvSpPr>
          <p:cNvPr id="97" name="Shape 95"/>
          <p:cNvSpPr/>
          <p:nvPr/>
        </p:nvSpPr>
        <p:spPr>
          <a:xfrm>
            <a:off x="237744" y="5839719"/>
            <a:ext cx="7552944" cy="871977"/>
          </a:xfrm>
          <a:prstGeom prst="rect">
            <a:avLst/>
          </a:prstGeom>
          <a:solidFill>
            <a:srgbClr val="E7EDF0"/>
          </a:solidFill>
          <a:ln/>
        </p:spPr>
      </p:sp>
      <p:sp>
        <p:nvSpPr>
          <p:cNvPr id="98" name="Shape 96"/>
          <p:cNvSpPr/>
          <p:nvPr/>
        </p:nvSpPr>
        <p:spPr>
          <a:xfrm>
            <a:off x="237744" y="1627632"/>
            <a:ext cx="329184" cy="4212087"/>
          </a:xfrm>
          <a:prstGeom prst="rect">
            <a:avLst/>
          </a:prstGeom>
          <a:solidFill>
            <a:srgbClr val="E7EDF0"/>
          </a:solidFill>
          <a:ln/>
        </p:spPr>
      </p:sp>
      <p:sp>
        <p:nvSpPr>
          <p:cNvPr id="99" name="Shape 97"/>
          <p:cNvSpPr/>
          <p:nvPr/>
        </p:nvSpPr>
        <p:spPr>
          <a:xfrm>
            <a:off x="6693408" y="1627632"/>
            <a:ext cx="1097280" cy="4212087"/>
          </a:xfrm>
          <a:prstGeom prst="rect">
            <a:avLst/>
          </a:prstGeom>
          <a:solidFill>
            <a:srgbClr val="E7EDF0"/>
          </a:solidFill>
          <a:ln/>
        </p:spPr>
      </p:sp>
      <p:sp>
        <p:nvSpPr>
          <p:cNvPr id="100" name="Shape 98"/>
          <p:cNvSpPr/>
          <p:nvPr/>
        </p:nvSpPr>
        <p:spPr>
          <a:xfrm>
            <a:off x="566928" y="1627632"/>
            <a:ext cx="6126480" cy="4212087"/>
          </a:xfrm>
          <a:prstGeom prst="roundRect">
            <a:avLst>
              <a:gd name="adj" fmla="val 1085"/>
            </a:avLst>
          </a:prstGeom>
          <a:ln w="12700">
            <a:solidFill>
              <a:srgbClr val="CDD9DF"/>
            </a:solidFill>
            <a:prstDash val="solid"/>
          </a:ln>
        </p:spPr>
      </p:sp>
      <p:sp>
        <p:nvSpPr>
          <p:cNvPr id="101" name="Shape 99"/>
          <p:cNvSpPr/>
          <p:nvPr/>
        </p:nvSpPr>
        <p:spPr>
          <a:xfrm>
            <a:off x="3396082" y="2167032"/>
            <a:ext cx="100584" cy="100584"/>
          </a:xfrm>
          <a:prstGeom prst="ellipse">
            <a:avLst/>
          </a:prstGeom>
          <a:solidFill>
            <a:srgbClr val="FFFFFF"/>
          </a:solidFill>
          <a:ln w="22225">
            <a:solidFill>
              <a:srgbClr val="14242C"/>
            </a:solidFill>
            <a:prstDash val="solid"/>
          </a:ln>
        </p:spPr>
      </p:sp>
      <p:sp>
        <p:nvSpPr>
          <p:cNvPr id="102" name="Shape 100"/>
          <p:cNvSpPr/>
          <p:nvPr/>
        </p:nvSpPr>
        <p:spPr>
          <a:xfrm>
            <a:off x="3108046" y="2299620"/>
            <a:ext cx="676656" cy="173736"/>
          </a:xfrm>
          <a:prstGeom prst="roundRect">
            <a:avLst>
              <a:gd name="adj" fmla="val 131579"/>
            </a:avLst>
          </a:prstGeom>
          <a:solidFill>
            <a:srgbClr val="14242C"/>
          </a:solidFill>
          <a:ln/>
        </p:spPr>
      </p:sp>
      <p:sp>
        <p:nvSpPr>
          <p:cNvPr id="103" name="Text 101"/>
          <p:cNvSpPr txBox="1"/>
          <p:nvPr/>
        </p:nvSpPr>
        <p:spPr>
          <a:xfrm>
            <a:off x="3108046" y="2306935"/>
            <a:ext cx="676656" cy="160020"/>
          </a:xfrm>
          <a:prstGeom prst="rect">
            <a:avLst/>
          </a:prstGeom>
          <a:noFill/>
          <a:ln/>
        </p:spPr>
        <p:txBody>
          <a:bodyPr wrap="square" lIns="0" tIns="0" rIns="0" bIns="0" rtlCol="0" anchor="ctr"/>
          <a:lstStyle/>
          <a:p>
            <a:pPr algn="ctr" indent="0" marL="0">
              <a:buNone/>
            </a:pPr>
            <a:r>
              <a:rPr lang="en-US" sz="800" b="1" dirty="0">
                <a:solidFill>
                  <a:srgbClr val="E7EDF0"/>
                </a:solidFill>
                <a:latin typeface="Calibri" pitchFamily="34" charset="0"/>
                <a:ea typeface="Calibri" pitchFamily="34" charset="-122"/>
                <a:cs typeface="Calibri" pitchFamily="34" charset="-120"/>
              </a:rPr>
              <a:t>ADJUSTED</a:t>
            </a:r>
            <a:endParaRPr lang="en-US" sz="800" dirty="0"/>
          </a:p>
        </p:txBody>
      </p:sp>
      <p:sp>
        <p:nvSpPr>
          <p:cNvPr id="104" name="Shape 102"/>
          <p:cNvSpPr/>
          <p:nvPr/>
        </p:nvSpPr>
        <p:spPr>
          <a:xfrm>
            <a:off x="3039466" y="2509932"/>
            <a:ext cx="813816" cy="201168"/>
          </a:xfrm>
          <a:prstGeom prst="roundRect">
            <a:avLst>
              <a:gd name="adj" fmla="val 113636"/>
            </a:avLst>
          </a:prstGeom>
          <a:solidFill>
            <a:srgbClr val="FFFFFF">
              <a:alpha val="88000"/>
            </a:srgbClr>
          </a:solidFill>
          <a:ln/>
        </p:spPr>
      </p:sp>
      <p:sp>
        <p:nvSpPr>
          <p:cNvPr id="105" name="Text 103"/>
          <p:cNvSpPr txBox="1"/>
          <p:nvPr/>
        </p:nvSpPr>
        <p:spPr>
          <a:xfrm>
            <a:off x="3039466" y="2519076"/>
            <a:ext cx="813816" cy="182880"/>
          </a:xfrm>
          <a:prstGeom prst="rect">
            <a:avLst/>
          </a:prstGeom>
          <a:noFill/>
          <a:ln/>
        </p:spPr>
        <p:txBody>
          <a:bodyPr wrap="square" lIns="0" tIns="0" rIns="0" bIns="0" rtlCol="0" anchor="ctr"/>
          <a:lstStyle/>
          <a:p>
            <a:pPr algn="ctr" indent="0" marL="0">
              <a:buNone/>
            </a:pPr>
            <a:r>
              <a:rPr lang="en-US" sz="900" b="1" dirty="0">
                <a:solidFill>
                  <a:srgbClr val="14242C"/>
                </a:solidFill>
                <a:latin typeface="Calibri" pitchFamily="34" charset="0"/>
                <a:ea typeface="Calibri" pitchFamily="34" charset="-122"/>
                <a:cs typeface="Calibri" pitchFamily="34" charset="-120"/>
              </a:rPr>
              <a:t>Window run</a:t>
            </a:r>
            <a:endParaRPr lang="en-US" sz="900" dirty="0"/>
          </a:p>
        </p:txBody>
      </p:sp>
      <p:sp>
        <p:nvSpPr>
          <p:cNvPr id="106" name="Shape 104"/>
          <p:cNvSpPr/>
          <p:nvPr/>
        </p:nvSpPr>
        <p:spPr>
          <a:xfrm>
            <a:off x="1558138" y="3430658"/>
            <a:ext cx="100584" cy="100584"/>
          </a:xfrm>
          <a:prstGeom prst="ellipse">
            <a:avLst/>
          </a:prstGeom>
          <a:solidFill>
            <a:srgbClr val="FFFFFF"/>
          </a:solidFill>
          <a:ln w="22225">
            <a:solidFill>
              <a:srgbClr val="14242C"/>
            </a:solidFill>
            <a:prstDash val="solid"/>
          </a:ln>
        </p:spPr>
      </p:sp>
      <p:sp>
        <p:nvSpPr>
          <p:cNvPr id="107" name="Shape 105"/>
          <p:cNvSpPr/>
          <p:nvPr/>
        </p:nvSpPr>
        <p:spPr>
          <a:xfrm>
            <a:off x="1270102" y="3563246"/>
            <a:ext cx="676656" cy="173736"/>
          </a:xfrm>
          <a:prstGeom prst="roundRect">
            <a:avLst>
              <a:gd name="adj" fmla="val 131579"/>
            </a:avLst>
          </a:prstGeom>
          <a:solidFill>
            <a:srgbClr val="14242C"/>
          </a:solidFill>
          <a:ln/>
        </p:spPr>
      </p:sp>
      <p:sp>
        <p:nvSpPr>
          <p:cNvPr id="108" name="Text 106"/>
          <p:cNvSpPr txBox="1"/>
          <p:nvPr/>
        </p:nvSpPr>
        <p:spPr>
          <a:xfrm>
            <a:off x="1270102" y="3570561"/>
            <a:ext cx="676656" cy="160020"/>
          </a:xfrm>
          <a:prstGeom prst="rect">
            <a:avLst/>
          </a:prstGeom>
          <a:noFill/>
          <a:ln/>
        </p:spPr>
        <p:txBody>
          <a:bodyPr wrap="square" lIns="0" tIns="0" rIns="0" bIns="0" rtlCol="0" anchor="ctr"/>
          <a:lstStyle/>
          <a:p>
            <a:pPr algn="ctr" indent="0" marL="0">
              <a:buNone/>
            </a:pPr>
            <a:r>
              <a:rPr lang="en-US" sz="800" b="1" dirty="0">
                <a:solidFill>
                  <a:srgbClr val="E7EDF0"/>
                </a:solidFill>
                <a:latin typeface="Calibri" pitchFamily="34" charset="0"/>
                <a:ea typeface="Calibri" pitchFamily="34" charset="-122"/>
                <a:cs typeface="Calibri" pitchFamily="34" charset="-120"/>
              </a:rPr>
              <a:t>ADJUSTED</a:t>
            </a:r>
            <a:endParaRPr lang="en-US" sz="800" dirty="0"/>
          </a:p>
        </p:txBody>
      </p:sp>
      <p:sp>
        <p:nvSpPr>
          <p:cNvPr id="109" name="Shape 107"/>
          <p:cNvSpPr/>
          <p:nvPr/>
        </p:nvSpPr>
        <p:spPr>
          <a:xfrm>
            <a:off x="1201522" y="3773558"/>
            <a:ext cx="813816" cy="201168"/>
          </a:xfrm>
          <a:prstGeom prst="roundRect">
            <a:avLst>
              <a:gd name="adj" fmla="val 113636"/>
            </a:avLst>
          </a:prstGeom>
          <a:solidFill>
            <a:srgbClr val="FFFFFF">
              <a:alpha val="88000"/>
            </a:srgbClr>
          </a:solidFill>
          <a:ln/>
        </p:spPr>
      </p:sp>
      <p:sp>
        <p:nvSpPr>
          <p:cNvPr id="110" name="Text 108"/>
          <p:cNvSpPr txBox="1"/>
          <p:nvPr/>
        </p:nvSpPr>
        <p:spPr>
          <a:xfrm>
            <a:off x="1201522" y="3782702"/>
            <a:ext cx="813816" cy="182880"/>
          </a:xfrm>
          <a:prstGeom prst="rect">
            <a:avLst/>
          </a:prstGeom>
          <a:noFill/>
          <a:ln/>
        </p:spPr>
        <p:txBody>
          <a:bodyPr wrap="square" lIns="0" tIns="0" rIns="0" bIns="0" rtlCol="0" anchor="ctr"/>
          <a:lstStyle/>
          <a:p>
            <a:pPr algn="ctr" indent="0" marL="0">
              <a:buNone/>
            </a:pPr>
            <a:r>
              <a:rPr lang="en-US" sz="900" b="1" dirty="0">
                <a:solidFill>
                  <a:srgbClr val="14242C"/>
                </a:solidFill>
                <a:latin typeface="Calibri" pitchFamily="34" charset="0"/>
                <a:ea typeface="Calibri" pitchFamily="34" charset="-122"/>
                <a:cs typeface="Calibri" pitchFamily="34" charset="-120"/>
              </a:rPr>
              <a:t>Core desks</a:t>
            </a:r>
            <a:endParaRPr lang="en-US" sz="900" dirty="0"/>
          </a:p>
        </p:txBody>
      </p:sp>
      <p:sp>
        <p:nvSpPr>
          <p:cNvPr id="111" name="Shape 109"/>
          <p:cNvSpPr/>
          <p:nvPr/>
        </p:nvSpPr>
        <p:spPr>
          <a:xfrm>
            <a:off x="1435608" y="4862768"/>
            <a:ext cx="100584" cy="100584"/>
          </a:xfrm>
          <a:prstGeom prst="ellipse">
            <a:avLst/>
          </a:prstGeom>
          <a:solidFill>
            <a:srgbClr val="FFFFFF"/>
          </a:solidFill>
          <a:ln w="22225">
            <a:solidFill>
              <a:srgbClr val="14242C"/>
            </a:solidFill>
            <a:prstDash val="solid"/>
          </a:ln>
        </p:spPr>
      </p:sp>
      <p:sp>
        <p:nvSpPr>
          <p:cNvPr id="112" name="Shape 110"/>
          <p:cNvSpPr/>
          <p:nvPr/>
        </p:nvSpPr>
        <p:spPr>
          <a:xfrm>
            <a:off x="1211580" y="4995356"/>
            <a:ext cx="548640" cy="201168"/>
          </a:xfrm>
          <a:prstGeom prst="roundRect">
            <a:avLst>
              <a:gd name="adj" fmla="val 113636"/>
            </a:avLst>
          </a:prstGeom>
          <a:solidFill>
            <a:srgbClr val="FFFFFF">
              <a:alpha val="88000"/>
            </a:srgbClr>
          </a:solidFill>
          <a:ln/>
        </p:spPr>
      </p:sp>
      <p:sp>
        <p:nvSpPr>
          <p:cNvPr id="113" name="Text 111"/>
          <p:cNvSpPr txBox="1"/>
          <p:nvPr/>
        </p:nvSpPr>
        <p:spPr>
          <a:xfrm>
            <a:off x="1211580" y="5004500"/>
            <a:ext cx="548640" cy="182880"/>
          </a:xfrm>
          <a:prstGeom prst="rect">
            <a:avLst/>
          </a:prstGeom>
          <a:noFill/>
          <a:ln/>
        </p:spPr>
        <p:txBody>
          <a:bodyPr wrap="square" lIns="0" tIns="0" rIns="0" bIns="0" rtlCol="0" anchor="ctr"/>
          <a:lstStyle/>
          <a:p>
            <a:pPr algn="ctr" indent="0" marL="0">
              <a:buNone/>
            </a:pPr>
            <a:r>
              <a:rPr lang="en-US" sz="900" b="1" dirty="0">
                <a:solidFill>
                  <a:srgbClr val="14242C"/>
                </a:solidFill>
                <a:latin typeface="Calibri" pitchFamily="34" charset="0"/>
                <a:ea typeface="Calibri" pitchFamily="34" charset="-122"/>
                <a:cs typeface="Calibri" pitchFamily="34" charset="-120"/>
              </a:rPr>
              <a:t>Pantry</a:t>
            </a:r>
            <a:endParaRPr lang="en-US" sz="900" dirty="0"/>
          </a:p>
        </p:txBody>
      </p:sp>
      <p:sp>
        <p:nvSpPr>
          <p:cNvPr id="114" name="Shape 112"/>
          <p:cNvSpPr/>
          <p:nvPr/>
        </p:nvSpPr>
        <p:spPr>
          <a:xfrm>
            <a:off x="4805172" y="5241855"/>
            <a:ext cx="100584" cy="100584"/>
          </a:xfrm>
          <a:prstGeom prst="ellipse">
            <a:avLst/>
          </a:prstGeom>
          <a:solidFill>
            <a:srgbClr val="FFFFFF"/>
          </a:solidFill>
          <a:ln w="22225">
            <a:solidFill>
              <a:srgbClr val="14242C"/>
            </a:solidFill>
            <a:prstDash val="dash"/>
          </a:ln>
        </p:spPr>
      </p:sp>
      <p:sp>
        <p:nvSpPr>
          <p:cNvPr id="115" name="Shape 113"/>
          <p:cNvSpPr/>
          <p:nvPr/>
        </p:nvSpPr>
        <p:spPr>
          <a:xfrm>
            <a:off x="4248302" y="5374443"/>
            <a:ext cx="1214323" cy="201168"/>
          </a:xfrm>
          <a:prstGeom prst="roundRect">
            <a:avLst>
              <a:gd name="adj" fmla="val 113636"/>
            </a:avLst>
          </a:prstGeom>
          <a:solidFill>
            <a:srgbClr val="FFFFFF">
              <a:alpha val="88000"/>
            </a:srgbClr>
          </a:solidFill>
          <a:ln/>
        </p:spPr>
      </p:sp>
      <p:sp>
        <p:nvSpPr>
          <p:cNvPr id="116" name="Text 114"/>
          <p:cNvSpPr txBox="1"/>
          <p:nvPr/>
        </p:nvSpPr>
        <p:spPr>
          <a:xfrm>
            <a:off x="4248302" y="5383587"/>
            <a:ext cx="1214323" cy="182880"/>
          </a:xfrm>
          <a:prstGeom prst="rect">
            <a:avLst/>
          </a:prstGeom>
          <a:noFill/>
          <a:ln/>
        </p:spPr>
        <p:txBody>
          <a:bodyPr wrap="square" lIns="0" tIns="0" rIns="0" bIns="0" rtlCol="0" anchor="ctr"/>
          <a:lstStyle/>
          <a:p>
            <a:pPr algn="ctr" indent="0" marL="0">
              <a:buNone/>
            </a:pPr>
            <a:r>
              <a:rPr lang="en-US" sz="900" b="1" dirty="0">
                <a:solidFill>
                  <a:srgbClr val="14242C"/>
                </a:solidFill>
                <a:latin typeface="Calibri" pitchFamily="34" charset="0"/>
                <a:ea typeface="Calibri" pitchFamily="34" charset="-122"/>
                <a:cs typeface="Calibri" pitchFamily="34" charset="-120"/>
              </a:rPr>
              <a:t>South-east desks</a:t>
            </a:r>
            <a:endParaRPr lang="en-US" sz="900" dirty="0"/>
          </a:p>
        </p:txBody>
      </p:sp>
      <p:sp>
        <p:nvSpPr>
          <p:cNvPr id="117" name="Shape 115"/>
          <p:cNvSpPr/>
          <p:nvPr/>
        </p:nvSpPr>
        <p:spPr>
          <a:xfrm>
            <a:off x="566928" y="6031743"/>
            <a:ext cx="45263" cy="91440"/>
          </a:xfrm>
          <a:prstGeom prst="rect">
            <a:avLst/>
          </a:prstGeom>
          <a:solidFill>
            <a:srgbClr val="2A6DB5"/>
          </a:solidFill>
          <a:ln/>
        </p:spPr>
      </p:sp>
      <p:sp>
        <p:nvSpPr>
          <p:cNvPr id="118" name="Shape 116"/>
          <p:cNvSpPr/>
          <p:nvPr/>
        </p:nvSpPr>
        <p:spPr>
          <a:xfrm>
            <a:off x="592074" y="6031743"/>
            <a:ext cx="45263" cy="91440"/>
          </a:xfrm>
          <a:prstGeom prst="rect">
            <a:avLst/>
          </a:prstGeom>
          <a:solidFill>
            <a:srgbClr val="2F73B7"/>
          </a:solidFill>
          <a:ln/>
        </p:spPr>
      </p:sp>
      <p:sp>
        <p:nvSpPr>
          <p:cNvPr id="119" name="Shape 117"/>
          <p:cNvSpPr/>
          <p:nvPr/>
        </p:nvSpPr>
        <p:spPr>
          <a:xfrm>
            <a:off x="617220" y="6031743"/>
            <a:ext cx="45263" cy="91440"/>
          </a:xfrm>
          <a:prstGeom prst="rect">
            <a:avLst/>
          </a:prstGeom>
          <a:solidFill>
            <a:srgbClr val="3578B8"/>
          </a:solidFill>
          <a:ln/>
        </p:spPr>
      </p:sp>
      <p:sp>
        <p:nvSpPr>
          <p:cNvPr id="120" name="Shape 118"/>
          <p:cNvSpPr/>
          <p:nvPr/>
        </p:nvSpPr>
        <p:spPr>
          <a:xfrm>
            <a:off x="642366" y="6031743"/>
            <a:ext cx="45263" cy="91440"/>
          </a:xfrm>
          <a:prstGeom prst="rect">
            <a:avLst/>
          </a:prstGeom>
          <a:solidFill>
            <a:srgbClr val="3A7EBA"/>
          </a:solidFill>
          <a:ln/>
        </p:spPr>
      </p:sp>
      <p:sp>
        <p:nvSpPr>
          <p:cNvPr id="121" name="Shape 119"/>
          <p:cNvSpPr/>
          <p:nvPr/>
        </p:nvSpPr>
        <p:spPr>
          <a:xfrm>
            <a:off x="667512" y="6031743"/>
            <a:ext cx="45263" cy="91440"/>
          </a:xfrm>
          <a:prstGeom prst="rect">
            <a:avLst/>
          </a:prstGeom>
          <a:solidFill>
            <a:srgbClr val="4083BB"/>
          </a:solidFill>
          <a:ln/>
        </p:spPr>
      </p:sp>
      <p:sp>
        <p:nvSpPr>
          <p:cNvPr id="122" name="Shape 120"/>
          <p:cNvSpPr/>
          <p:nvPr/>
        </p:nvSpPr>
        <p:spPr>
          <a:xfrm>
            <a:off x="692658" y="6031743"/>
            <a:ext cx="45263" cy="91440"/>
          </a:xfrm>
          <a:prstGeom prst="rect">
            <a:avLst/>
          </a:prstGeom>
          <a:solidFill>
            <a:srgbClr val="4589BD"/>
          </a:solidFill>
          <a:ln/>
        </p:spPr>
      </p:sp>
      <p:sp>
        <p:nvSpPr>
          <p:cNvPr id="123" name="Shape 121"/>
          <p:cNvSpPr/>
          <p:nvPr/>
        </p:nvSpPr>
        <p:spPr>
          <a:xfrm>
            <a:off x="717804" y="6031743"/>
            <a:ext cx="45263" cy="91440"/>
          </a:xfrm>
          <a:prstGeom prst="rect">
            <a:avLst/>
          </a:prstGeom>
          <a:solidFill>
            <a:srgbClr val="4B8EBE"/>
          </a:solidFill>
          <a:ln/>
        </p:spPr>
      </p:sp>
      <p:sp>
        <p:nvSpPr>
          <p:cNvPr id="124" name="Shape 122"/>
          <p:cNvSpPr/>
          <p:nvPr/>
        </p:nvSpPr>
        <p:spPr>
          <a:xfrm>
            <a:off x="742950" y="6031743"/>
            <a:ext cx="45263" cy="91440"/>
          </a:xfrm>
          <a:prstGeom prst="rect">
            <a:avLst/>
          </a:prstGeom>
          <a:solidFill>
            <a:srgbClr val="5094C0"/>
          </a:solidFill>
          <a:ln/>
        </p:spPr>
      </p:sp>
      <p:sp>
        <p:nvSpPr>
          <p:cNvPr id="125" name="Shape 123"/>
          <p:cNvSpPr/>
          <p:nvPr/>
        </p:nvSpPr>
        <p:spPr>
          <a:xfrm>
            <a:off x="768096" y="6031743"/>
            <a:ext cx="45263" cy="91440"/>
          </a:xfrm>
          <a:prstGeom prst="rect">
            <a:avLst/>
          </a:prstGeom>
          <a:solidFill>
            <a:srgbClr val="5599C1"/>
          </a:solidFill>
          <a:ln/>
        </p:spPr>
      </p:sp>
      <p:sp>
        <p:nvSpPr>
          <p:cNvPr id="126" name="Shape 124"/>
          <p:cNvSpPr/>
          <p:nvPr/>
        </p:nvSpPr>
        <p:spPr>
          <a:xfrm>
            <a:off x="793242" y="6031743"/>
            <a:ext cx="45263" cy="91440"/>
          </a:xfrm>
          <a:prstGeom prst="rect">
            <a:avLst/>
          </a:prstGeom>
          <a:solidFill>
            <a:srgbClr val="5B9FC3"/>
          </a:solidFill>
          <a:ln/>
        </p:spPr>
      </p:sp>
      <p:sp>
        <p:nvSpPr>
          <p:cNvPr id="127" name="Shape 125"/>
          <p:cNvSpPr/>
          <p:nvPr/>
        </p:nvSpPr>
        <p:spPr>
          <a:xfrm>
            <a:off x="818388" y="6031743"/>
            <a:ext cx="45263" cy="91440"/>
          </a:xfrm>
          <a:prstGeom prst="rect">
            <a:avLst/>
          </a:prstGeom>
          <a:solidFill>
            <a:srgbClr val="5EA3C2"/>
          </a:solidFill>
          <a:ln/>
        </p:spPr>
      </p:sp>
      <p:sp>
        <p:nvSpPr>
          <p:cNvPr id="128" name="Shape 126"/>
          <p:cNvSpPr/>
          <p:nvPr/>
        </p:nvSpPr>
        <p:spPr>
          <a:xfrm>
            <a:off x="843534" y="6031743"/>
            <a:ext cx="45263" cy="91440"/>
          </a:xfrm>
          <a:prstGeom prst="rect">
            <a:avLst/>
          </a:prstGeom>
          <a:solidFill>
            <a:srgbClr val="5AA2BA"/>
          </a:solidFill>
          <a:ln/>
        </p:spPr>
      </p:sp>
      <p:sp>
        <p:nvSpPr>
          <p:cNvPr id="129" name="Shape 127"/>
          <p:cNvSpPr/>
          <p:nvPr/>
        </p:nvSpPr>
        <p:spPr>
          <a:xfrm>
            <a:off x="868680" y="6031743"/>
            <a:ext cx="45263" cy="91440"/>
          </a:xfrm>
          <a:prstGeom prst="rect">
            <a:avLst/>
          </a:prstGeom>
          <a:solidFill>
            <a:srgbClr val="57A1B2"/>
          </a:solidFill>
          <a:ln/>
        </p:spPr>
      </p:sp>
      <p:sp>
        <p:nvSpPr>
          <p:cNvPr id="130" name="Shape 128"/>
          <p:cNvSpPr/>
          <p:nvPr/>
        </p:nvSpPr>
        <p:spPr>
          <a:xfrm>
            <a:off x="893826" y="6031743"/>
            <a:ext cx="45263" cy="91440"/>
          </a:xfrm>
          <a:prstGeom prst="rect">
            <a:avLst/>
          </a:prstGeom>
          <a:solidFill>
            <a:srgbClr val="53A0AB"/>
          </a:solidFill>
          <a:ln/>
        </p:spPr>
      </p:sp>
      <p:sp>
        <p:nvSpPr>
          <p:cNvPr id="131" name="Shape 129"/>
          <p:cNvSpPr/>
          <p:nvPr/>
        </p:nvSpPr>
        <p:spPr>
          <a:xfrm>
            <a:off x="918972" y="6031743"/>
            <a:ext cx="45263" cy="91440"/>
          </a:xfrm>
          <a:prstGeom prst="rect">
            <a:avLst/>
          </a:prstGeom>
          <a:solidFill>
            <a:srgbClr val="4FA0A3"/>
          </a:solidFill>
          <a:ln/>
        </p:spPr>
      </p:sp>
      <p:sp>
        <p:nvSpPr>
          <p:cNvPr id="132" name="Shape 130"/>
          <p:cNvSpPr/>
          <p:nvPr/>
        </p:nvSpPr>
        <p:spPr>
          <a:xfrm>
            <a:off x="944118" y="6031743"/>
            <a:ext cx="45263" cy="91440"/>
          </a:xfrm>
          <a:prstGeom prst="rect">
            <a:avLst/>
          </a:prstGeom>
          <a:solidFill>
            <a:srgbClr val="4C9F9B"/>
          </a:solidFill>
          <a:ln/>
        </p:spPr>
      </p:sp>
      <p:sp>
        <p:nvSpPr>
          <p:cNvPr id="133" name="Shape 131"/>
          <p:cNvSpPr/>
          <p:nvPr/>
        </p:nvSpPr>
        <p:spPr>
          <a:xfrm>
            <a:off x="969264" y="6031743"/>
            <a:ext cx="45263" cy="91440"/>
          </a:xfrm>
          <a:prstGeom prst="rect">
            <a:avLst/>
          </a:prstGeom>
          <a:solidFill>
            <a:srgbClr val="489E93"/>
          </a:solidFill>
          <a:ln/>
        </p:spPr>
      </p:sp>
      <p:sp>
        <p:nvSpPr>
          <p:cNvPr id="134" name="Shape 132"/>
          <p:cNvSpPr/>
          <p:nvPr/>
        </p:nvSpPr>
        <p:spPr>
          <a:xfrm>
            <a:off x="994410" y="6031743"/>
            <a:ext cx="45263" cy="91440"/>
          </a:xfrm>
          <a:prstGeom prst="rect">
            <a:avLst/>
          </a:prstGeom>
          <a:solidFill>
            <a:srgbClr val="449D8B"/>
          </a:solidFill>
          <a:ln/>
        </p:spPr>
      </p:sp>
      <p:sp>
        <p:nvSpPr>
          <p:cNvPr id="135" name="Shape 133"/>
          <p:cNvSpPr/>
          <p:nvPr/>
        </p:nvSpPr>
        <p:spPr>
          <a:xfrm>
            <a:off x="1019556" y="6031743"/>
            <a:ext cx="45263" cy="91440"/>
          </a:xfrm>
          <a:prstGeom prst="rect">
            <a:avLst/>
          </a:prstGeom>
          <a:solidFill>
            <a:srgbClr val="419C84"/>
          </a:solidFill>
          <a:ln/>
        </p:spPr>
      </p:sp>
      <p:sp>
        <p:nvSpPr>
          <p:cNvPr id="136" name="Shape 134"/>
          <p:cNvSpPr/>
          <p:nvPr/>
        </p:nvSpPr>
        <p:spPr>
          <a:xfrm>
            <a:off x="1044702" y="6031743"/>
            <a:ext cx="45263" cy="91440"/>
          </a:xfrm>
          <a:prstGeom prst="rect">
            <a:avLst/>
          </a:prstGeom>
          <a:solidFill>
            <a:srgbClr val="3D9B7C"/>
          </a:solidFill>
          <a:ln/>
        </p:spPr>
      </p:sp>
      <p:sp>
        <p:nvSpPr>
          <p:cNvPr id="137" name="Shape 135"/>
          <p:cNvSpPr/>
          <p:nvPr/>
        </p:nvSpPr>
        <p:spPr>
          <a:xfrm>
            <a:off x="1069848" y="6031743"/>
            <a:ext cx="45263" cy="91440"/>
          </a:xfrm>
          <a:prstGeom prst="rect">
            <a:avLst/>
          </a:prstGeom>
          <a:solidFill>
            <a:srgbClr val="439A75"/>
          </a:solidFill>
          <a:ln/>
        </p:spPr>
      </p:sp>
      <p:sp>
        <p:nvSpPr>
          <p:cNvPr id="138" name="Shape 136"/>
          <p:cNvSpPr/>
          <p:nvPr/>
        </p:nvSpPr>
        <p:spPr>
          <a:xfrm>
            <a:off x="1094994" y="6031743"/>
            <a:ext cx="45263" cy="91440"/>
          </a:xfrm>
          <a:prstGeom prst="rect">
            <a:avLst/>
          </a:prstGeom>
          <a:solidFill>
            <a:srgbClr val="54996E"/>
          </a:solidFill>
          <a:ln/>
        </p:spPr>
      </p:sp>
      <p:sp>
        <p:nvSpPr>
          <p:cNvPr id="139" name="Shape 137"/>
          <p:cNvSpPr/>
          <p:nvPr/>
        </p:nvSpPr>
        <p:spPr>
          <a:xfrm>
            <a:off x="1120140" y="6031743"/>
            <a:ext cx="45263" cy="91440"/>
          </a:xfrm>
          <a:prstGeom prst="rect">
            <a:avLst/>
          </a:prstGeom>
          <a:solidFill>
            <a:srgbClr val="659867"/>
          </a:solidFill>
          <a:ln/>
        </p:spPr>
      </p:sp>
      <p:sp>
        <p:nvSpPr>
          <p:cNvPr id="140" name="Shape 138"/>
          <p:cNvSpPr/>
          <p:nvPr/>
        </p:nvSpPr>
        <p:spPr>
          <a:xfrm>
            <a:off x="1145286" y="6031743"/>
            <a:ext cx="45263" cy="91440"/>
          </a:xfrm>
          <a:prstGeom prst="rect">
            <a:avLst/>
          </a:prstGeom>
          <a:solidFill>
            <a:srgbClr val="769760"/>
          </a:solidFill>
          <a:ln/>
        </p:spPr>
      </p:sp>
      <p:sp>
        <p:nvSpPr>
          <p:cNvPr id="141" name="Shape 139"/>
          <p:cNvSpPr/>
          <p:nvPr/>
        </p:nvSpPr>
        <p:spPr>
          <a:xfrm>
            <a:off x="1170432" y="6031743"/>
            <a:ext cx="45263" cy="91440"/>
          </a:xfrm>
          <a:prstGeom prst="rect">
            <a:avLst/>
          </a:prstGeom>
          <a:solidFill>
            <a:srgbClr val="86965A"/>
          </a:solidFill>
          <a:ln/>
        </p:spPr>
      </p:sp>
      <p:sp>
        <p:nvSpPr>
          <p:cNvPr id="142" name="Shape 140"/>
          <p:cNvSpPr/>
          <p:nvPr/>
        </p:nvSpPr>
        <p:spPr>
          <a:xfrm>
            <a:off x="1195578" y="6031743"/>
            <a:ext cx="45263" cy="91440"/>
          </a:xfrm>
          <a:prstGeom prst="rect">
            <a:avLst/>
          </a:prstGeom>
          <a:solidFill>
            <a:srgbClr val="979553"/>
          </a:solidFill>
          <a:ln/>
        </p:spPr>
      </p:sp>
      <p:sp>
        <p:nvSpPr>
          <p:cNvPr id="143" name="Shape 141"/>
          <p:cNvSpPr/>
          <p:nvPr/>
        </p:nvSpPr>
        <p:spPr>
          <a:xfrm>
            <a:off x="1220724" y="6031743"/>
            <a:ext cx="45263" cy="91440"/>
          </a:xfrm>
          <a:prstGeom prst="rect">
            <a:avLst/>
          </a:prstGeom>
          <a:solidFill>
            <a:srgbClr val="A8944C"/>
          </a:solidFill>
          <a:ln/>
        </p:spPr>
      </p:sp>
      <p:sp>
        <p:nvSpPr>
          <p:cNvPr id="144" name="Shape 142"/>
          <p:cNvSpPr/>
          <p:nvPr/>
        </p:nvSpPr>
        <p:spPr>
          <a:xfrm>
            <a:off x="1245870" y="6031743"/>
            <a:ext cx="45263" cy="91440"/>
          </a:xfrm>
          <a:prstGeom prst="rect">
            <a:avLst/>
          </a:prstGeom>
          <a:solidFill>
            <a:srgbClr val="B89345"/>
          </a:solidFill>
          <a:ln/>
        </p:spPr>
      </p:sp>
      <p:sp>
        <p:nvSpPr>
          <p:cNvPr id="145" name="Shape 143"/>
          <p:cNvSpPr/>
          <p:nvPr/>
        </p:nvSpPr>
        <p:spPr>
          <a:xfrm>
            <a:off x="1271016" y="6031743"/>
            <a:ext cx="45263" cy="91440"/>
          </a:xfrm>
          <a:prstGeom prst="rect">
            <a:avLst/>
          </a:prstGeom>
          <a:solidFill>
            <a:srgbClr val="C9913E"/>
          </a:solidFill>
          <a:ln/>
        </p:spPr>
      </p:sp>
      <p:sp>
        <p:nvSpPr>
          <p:cNvPr id="146" name="Shape 144"/>
          <p:cNvSpPr/>
          <p:nvPr/>
        </p:nvSpPr>
        <p:spPr>
          <a:xfrm>
            <a:off x="1296162" y="6031743"/>
            <a:ext cx="45263" cy="91440"/>
          </a:xfrm>
          <a:prstGeom prst="rect">
            <a:avLst/>
          </a:prstGeom>
          <a:solidFill>
            <a:srgbClr val="DA9038"/>
          </a:solidFill>
          <a:ln/>
        </p:spPr>
      </p:sp>
      <p:sp>
        <p:nvSpPr>
          <p:cNvPr id="147" name="Shape 145"/>
          <p:cNvSpPr/>
          <p:nvPr/>
        </p:nvSpPr>
        <p:spPr>
          <a:xfrm>
            <a:off x="1321308" y="6031743"/>
            <a:ext cx="45263" cy="91440"/>
          </a:xfrm>
          <a:prstGeom prst="rect">
            <a:avLst/>
          </a:prstGeom>
          <a:solidFill>
            <a:srgbClr val="DC8B35"/>
          </a:solidFill>
          <a:ln/>
        </p:spPr>
      </p:sp>
      <p:sp>
        <p:nvSpPr>
          <p:cNvPr id="148" name="Shape 146"/>
          <p:cNvSpPr/>
          <p:nvPr/>
        </p:nvSpPr>
        <p:spPr>
          <a:xfrm>
            <a:off x="1346454" y="6031743"/>
            <a:ext cx="45263" cy="91440"/>
          </a:xfrm>
          <a:prstGeom prst="rect">
            <a:avLst/>
          </a:prstGeom>
          <a:solidFill>
            <a:srgbClr val="DA8434"/>
          </a:solidFill>
          <a:ln/>
        </p:spPr>
      </p:sp>
      <p:sp>
        <p:nvSpPr>
          <p:cNvPr id="149" name="Shape 147"/>
          <p:cNvSpPr/>
          <p:nvPr/>
        </p:nvSpPr>
        <p:spPr>
          <a:xfrm>
            <a:off x="1371600" y="6031743"/>
            <a:ext cx="45263" cy="91440"/>
          </a:xfrm>
          <a:prstGeom prst="rect">
            <a:avLst/>
          </a:prstGeom>
          <a:solidFill>
            <a:srgbClr val="D77D33"/>
          </a:solidFill>
          <a:ln/>
        </p:spPr>
      </p:sp>
      <p:sp>
        <p:nvSpPr>
          <p:cNvPr id="150" name="Shape 148"/>
          <p:cNvSpPr/>
          <p:nvPr/>
        </p:nvSpPr>
        <p:spPr>
          <a:xfrm>
            <a:off x="1396746" y="6031743"/>
            <a:ext cx="45263" cy="91440"/>
          </a:xfrm>
          <a:prstGeom prst="rect">
            <a:avLst/>
          </a:prstGeom>
          <a:solidFill>
            <a:srgbClr val="D57632"/>
          </a:solidFill>
          <a:ln/>
        </p:spPr>
      </p:sp>
      <p:sp>
        <p:nvSpPr>
          <p:cNvPr id="151" name="Shape 149"/>
          <p:cNvSpPr/>
          <p:nvPr/>
        </p:nvSpPr>
        <p:spPr>
          <a:xfrm>
            <a:off x="1421892" y="6031743"/>
            <a:ext cx="45263" cy="91440"/>
          </a:xfrm>
          <a:prstGeom prst="rect">
            <a:avLst/>
          </a:prstGeom>
          <a:solidFill>
            <a:srgbClr val="D26F31"/>
          </a:solidFill>
          <a:ln/>
        </p:spPr>
      </p:sp>
      <p:sp>
        <p:nvSpPr>
          <p:cNvPr id="152" name="Shape 150"/>
          <p:cNvSpPr/>
          <p:nvPr/>
        </p:nvSpPr>
        <p:spPr>
          <a:xfrm>
            <a:off x="1447038" y="6031743"/>
            <a:ext cx="45263" cy="91440"/>
          </a:xfrm>
          <a:prstGeom prst="rect">
            <a:avLst/>
          </a:prstGeom>
          <a:solidFill>
            <a:srgbClr val="D06830"/>
          </a:solidFill>
          <a:ln/>
        </p:spPr>
      </p:sp>
      <p:sp>
        <p:nvSpPr>
          <p:cNvPr id="153" name="Shape 151"/>
          <p:cNvSpPr/>
          <p:nvPr/>
        </p:nvSpPr>
        <p:spPr>
          <a:xfrm>
            <a:off x="1472184" y="6031743"/>
            <a:ext cx="45263" cy="91440"/>
          </a:xfrm>
          <a:prstGeom prst="rect">
            <a:avLst/>
          </a:prstGeom>
          <a:solidFill>
            <a:srgbClr val="CD612F"/>
          </a:solidFill>
          <a:ln/>
        </p:spPr>
      </p:sp>
      <p:sp>
        <p:nvSpPr>
          <p:cNvPr id="154" name="Shape 152"/>
          <p:cNvSpPr/>
          <p:nvPr/>
        </p:nvSpPr>
        <p:spPr>
          <a:xfrm>
            <a:off x="1497330" y="6031743"/>
            <a:ext cx="45263" cy="91440"/>
          </a:xfrm>
          <a:prstGeom prst="rect">
            <a:avLst/>
          </a:prstGeom>
          <a:solidFill>
            <a:srgbClr val="CB5A2E"/>
          </a:solidFill>
          <a:ln/>
        </p:spPr>
      </p:sp>
      <p:sp>
        <p:nvSpPr>
          <p:cNvPr id="155" name="Shape 153"/>
          <p:cNvSpPr/>
          <p:nvPr/>
        </p:nvSpPr>
        <p:spPr>
          <a:xfrm>
            <a:off x="1522476" y="6031743"/>
            <a:ext cx="45263" cy="91440"/>
          </a:xfrm>
          <a:prstGeom prst="rect">
            <a:avLst/>
          </a:prstGeom>
          <a:solidFill>
            <a:srgbClr val="C8532D"/>
          </a:solidFill>
          <a:ln/>
        </p:spPr>
      </p:sp>
      <p:sp>
        <p:nvSpPr>
          <p:cNvPr id="156" name="Shape 154"/>
          <p:cNvSpPr/>
          <p:nvPr/>
        </p:nvSpPr>
        <p:spPr>
          <a:xfrm>
            <a:off x="1547622" y="6031743"/>
            <a:ext cx="25146" cy="91440"/>
          </a:xfrm>
          <a:prstGeom prst="rect">
            <a:avLst/>
          </a:prstGeom>
          <a:solidFill>
            <a:srgbClr val="C64C2C"/>
          </a:solidFill>
          <a:ln/>
        </p:spPr>
      </p:sp>
      <p:sp>
        <p:nvSpPr>
          <p:cNvPr id="157" name="Text 155"/>
          <p:cNvSpPr txBox="1"/>
          <p:nvPr/>
        </p:nvSpPr>
        <p:spPr>
          <a:xfrm>
            <a:off x="1682496" y="5986023"/>
            <a:ext cx="1920240" cy="237744"/>
          </a:xfrm>
          <a:prstGeom prst="rect">
            <a:avLst/>
          </a:prstGeom>
          <a:noFill/>
          <a:ln/>
        </p:spPr>
        <p:txBody>
          <a:bodyPr wrap="square" lIns="0" tIns="0" rIns="0" bIns="0" rtlCol="0" anchor="ctr"/>
          <a:lstStyle/>
          <a:p>
            <a:pPr algn="l" indent="0" marL="0">
              <a:buNone/>
            </a:pPr>
            <a:r>
              <a:rPr lang="en-US" sz="1100" dirty="0">
                <a:solidFill>
                  <a:srgbClr val="5F737D"/>
                </a:solidFill>
                <a:latin typeface="Calibri" pitchFamily="34" charset="0"/>
                <a:ea typeface="Calibri" pitchFamily="34" charset="-122"/>
                <a:cs typeface="Calibri" pitchFamily="34" charset="-120"/>
              </a:rPr>
              <a:t>freezing to roasting</a:t>
            </a:r>
            <a:endParaRPr lang="en-US" sz="1100" dirty="0"/>
          </a:p>
        </p:txBody>
      </p:sp>
      <p:sp>
        <p:nvSpPr>
          <p:cNvPr id="158" name="Shape 156"/>
          <p:cNvSpPr/>
          <p:nvPr/>
        </p:nvSpPr>
        <p:spPr>
          <a:xfrm>
            <a:off x="3657600" y="6031743"/>
            <a:ext cx="82296" cy="91440"/>
          </a:xfrm>
          <a:prstGeom prst="rect">
            <a:avLst/>
          </a:prstGeom>
          <a:solidFill>
            <a:srgbClr val="2A6DB5"/>
          </a:solidFill>
          <a:ln/>
        </p:spPr>
      </p:sp>
      <p:sp>
        <p:nvSpPr>
          <p:cNvPr id="159" name="Shape 157"/>
          <p:cNvSpPr/>
          <p:nvPr/>
        </p:nvSpPr>
        <p:spPr>
          <a:xfrm>
            <a:off x="3739896" y="6031743"/>
            <a:ext cx="82296" cy="91440"/>
          </a:xfrm>
          <a:prstGeom prst="rect">
            <a:avLst/>
          </a:prstGeom>
          <a:solidFill>
            <a:srgbClr val="C64C2C"/>
          </a:solidFill>
          <a:ln/>
        </p:spPr>
      </p:sp>
      <p:sp>
        <p:nvSpPr>
          <p:cNvPr id="160" name="Shape 158"/>
          <p:cNvSpPr/>
          <p:nvPr/>
        </p:nvSpPr>
        <p:spPr>
          <a:xfrm>
            <a:off x="3822192" y="6031743"/>
            <a:ext cx="82296" cy="91440"/>
          </a:xfrm>
          <a:prstGeom prst="rect">
            <a:avLst/>
          </a:prstGeom>
          <a:solidFill>
            <a:srgbClr val="2A6DB5"/>
          </a:solidFill>
          <a:ln/>
        </p:spPr>
      </p:sp>
      <p:sp>
        <p:nvSpPr>
          <p:cNvPr id="161" name="Shape 159"/>
          <p:cNvSpPr/>
          <p:nvPr/>
        </p:nvSpPr>
        <p:spPr>
          <a:xfrm>
            <a:off x="3904488" y="6031743"/>
            <a:ext cx="82296" cy="91440"/>
          </a:xfrm>
          <a:prstGeom prst="rect">
            <a:avLst/>
          </a:prstGeom>
          <a:solidFill>
            <a:srgbClr val="C64C2C"/>
          </a:solidFill>
          <a:ln/>
        </p:spPr>
      </p:sp>
      <p:sp>
        <p:nvSpPr>
          <p:cNvPr id="162" name="Text 160"/>
          <p:cNvSpPr txBox="1"/>
          <p:nvPr/>
        </p:nvSpPr>
        <p:spPr>
          <a:xfrm>
            <a:off x="4078224" y="5986023"/>
            <a:ext cx="1097280" cy="237744"/>
          </a:xfrm>
          <a:prstGeom prst="rect">
            <a:avLst/>
          </a:prstGeom>
          <a:noFill/>
          <a:ln/>
        </p:spPr>
        <p:txBody>
          <a:bodyPr wrap="square" lIns="0" tIns="0" rIns="0" bIns="0" rtlCol="0" anchor="ctr"/>
          <a:lstStyle/>
          <a:p>
            <a:pPr algn="l" indent="0" marL="0">
              <a:buNone/>
            </a:pPr>
            <a:r>
              <a:rPr lang="en-US" sz="1100" dirty="0">
                <a:solidFill>
                  <a:srgbClr val="5F737D"/>
                </a:solidFill>
                <a:latin typeface="Calibri" pitchFamily="34" charset="0"/>
                <a:ea typeface="Calibri" pitchFamily="34" charset="-122"/>
                <a:cs typeface="Calibri" pitchFamily="34" charset="-120"/>
              </a:rPr>
              <a:t>split</a:t>
            </a:r>
            <a:endParaRPr lang="en-US" sz="1100" dirty="0"/>
          </a:p>
        </p:txBody>
      </p:sp>
      <p:sp>
        <p:nvSpPr>
          <p:cNvPr id="163" name="Text 161"/>
          <p:cNvSpPr txBox="1"/>
          <p:nvPr/>
        </p:nvSpPr>
        <p:spPr>
          <a:xfrm>
            <a:off x="5504688" y="5986023"/>
            <a:ext cx="1188720" cy="237744"/>
          </a:xfrm>
          <a:prstGeom prst="rect">
            <a:avLst/>
          </a:prstGeom>
          <a:noFill/>
          <a:ln/>
        </p:spPr>
        <p:txBody>
          <a:bodyPr wrap="square" lIns="0" tIns="0" rIns="0" bIns="0" rtlCol="0" anchor="ctr"/>
          <a:lstStyle/>
          <a:p>
            <a:pPr algn="r" indent="0" marL="0">
              <a:buNone/>
            </a:pPr>
            <a:r>
              <a:rPr lang="en-US" sz="1100" b="1" dirty="0">
                <a:solidFill>
                  <a:srgbClr val="14242C"/>
                </a:solidFill>
                <a:latin typeface="Calibri" pitchFamily="34" charset="0"/>
                <a:ea typeface="Calibri" pitchFamily="34" charset="-122"/>
                <a:cs typeface="Calibri" pitchFamily="34" charset="-120"/>
              </a:rPr>
              <a:t>Level 7</a:t>
            </a:r>
            <a:endParaRPr lang="en-US" sz="1100" dirty="0"/>
          </a:p>
        </p:txBody>
      </p:sp>
      <p:sp>
        <p:nvSpPr>
          <p:cNvPr id="164" name="Text 162"/>
          <p:cNvSpPr txBox="1"/>
          <p:nvPr/>
        </p:nvSpPr>
        <p:spPr>
          <a:xfrm>
            <a:off x="7150608" y="1664208"/>
            <a:ext cx="4474159" cy="694944"/>
          </a:xfrm>
          <a:prstGeom prst="rect">
            <a:avLst/>
          </a:prstGeom>
          <a:noFill/>
          <a:ln/>
        </p:spPr>
        <p:txBody>
          <a:bodyPr wrap="square" lIns="0" tIns="0" rIns="0" bIns="0" rtlCol="0" anchor="t"/>
          <a:lstStyle/>
          <a:p>
            <a:pPr algn="l" indent="0" marL="0">
              <a:lnSpc>
                <a:spcPts val="2000"/>
              </a:lnSpc>
              <a:buNone/>
            </a:pPr>
            <a:r>
              <a:rPr lang="en-US" sz="1500" dirty="0">
                <a:solidFill>
                  <a:srgbClr val="14242C"/>
                </a:solidFill>
                <a:latin typeface="Calibri" pitchFamily="34" charset="0"/>
                <a:ea typeface="Calibri" pitchFamily="34" charset="-122"/>
                <a:cs typeface="Calibri" pitchFamily="34" charset="-120"/>
              </a:rPr>
              <a:t>The same floor plan. Nothing on it is arguing with itself any more.</a:t>
            </a:r>
            <a:endParaRPr lang="en-US" sz="1500" dirty="0"/>
          </a:p>
        </p:txBody>
      </p:sp>
      <p:sp>
        <p:nvSpPr>
          <p:cNvPr id="165" name="Text 163"/>
          <p:cNvSpPr txBox="1"/>
          <p:nvPr/>
        </p:nvSpPr>
        <p:spPr>
          <a:xfrm>
            <a:off x="7150608" y="2542032"/>
            <a:ext cx="4474159" cy="676656"/>
          </a:xfrm>
          <a:prstGeom prst="rect">
            <a:avLst/>
          </a:prstGeom>
          <a:noFill/>
          <a:ln/>
        </p:spPr>
        <p:txBody>
          <a:bodyPr wrap="square" lIns="0" tIns="0" rIns="0" bIns="0" rtlCol="0" anchor="t"/>
          <a:lstStyle/>
          <a:p>
            <a:pPr algn="l" indent="0" marL="0">
              <a:lnSpc>
                <a:spcPts val="1800"/>
              </a:lnSpc>
              <a:buNone/>
            </a:pPr>
            <a:r>
              <a:rPr lang="en-US" sz="1350" b="1" dirty="0">
                <a:solidFill>
                  <a:srgbClr val="14242C"/>
                </a:solidFill>
                <a:latin typeface="Calibri" pitchFamily="34" charset="0"/>
                <a:ea typeface="Calibri" pitchFamily="34" charset="-122"/>
                <a:cs typeface="Calibri" pitchFamily="34" charset="-120"/>
              </a:rPr>
              <a:t>One damper — </a:t>
            </a:r>
            <a:pPr algn="l" indent="0" marL="0">
              <a:lnSpc>
                <a:spcPts val="1800"/>
              </a:lnSpc>
              <a:buNone/>
            </a:pPr>
            <a:r>
              <a:rPr lang="en-US" sz="1350" dirty="0">
                <a:solidFill>
                  <a:srgbClr val="5F737D"/>
                </a:solidFill>
                <a:latin typeface="Calibri" pitchFamily="34" charset="0"/>
                <a:ea typeface="Calibri" pitchFamily="34" charset="-122"/>
                <a:cs typeface="Calibri" pitchFamily="34" charset="-120"/>
              </a:rPr>
              <a:t>rebalanced — the only physical work anyone did.</a:t>
            </a:r>
            <a:endParaRPr lang="en-US" sz="1350" dirty="0"/>
          </a:p>
        </p:txBody>
      </p:sp>
      <p:sp>
        <p:nvSpPr>
          <p:cNvPr id="166" name="Text 164"/>
          <p:cNvSpPr txBox="1"/>
          <p:nvPr/>
        </p:nvSpPr>
        <p:spPr>
          <a:xfrm>
            <a:off x="7150608" y="3328416"/>
            <a:ext cx="4474159" cy="676656"/>
          </a:xfrm>
          <a:prstGeom prst="rect">
            <a:avLst/>
          </a:prstGeom>
          <a:noFill/>
          <a:ln/>
        </p:spPr>
        <p:txBody>
          <a:bodyPr wrap="square" lIns="0" tIns="0" rIns="0" bIns="0" rtlCol="0" anchor="t"/>
          <a:lstStyle/>
          <a:p>
            <a:pPr algn="l" indent="0" marL="0">
              <a:lnSpc>
                <a:spcPts val="1800"/>
              </a:lnSpc>
              <a:buNone/>
            </a:pPr>
            <a:r>
              <a:rPr lang="en-US" sz="1350" b="1" dirty="0">
                <a:solidFill>
                  <a:srgbClr val="14242C"/>
                </a:solidFill>
                <a:latin typeface="Calibri" pitchFamily="34" charset="0"/>
                <a:ea typeface="Calibri" pitchFamily="34" charset="-122"/>
                <a:cs typeface="Calibri" pitchFamily="34" charset="-120"/>
              </a:rPr>
              <a:t>Two spots — </a:t>
            </a:r>
            <a:pPr algn="l" indent="0" marL="0">
              <a:lnSpc>
                <a:spcPts val="1800"/>
              </a:lnSpc>
              <a:buNone/>
            </a:pPr>
            <a:r>
              <a:rPr lang="en-US" sz="1350" dirty="0">
                <a:solidFill>
                  <a:srgbClr val="5F737D"/>
                </a:solidFill>
                <a:latin typeface="Calibri" pitchFamily="34" charset="0"/>
                <a:ea typeface="Calibri" pitchFamily="34" charset="-122"/>
                <a:cs typeface="Calibri" pitchFamily="34" charset="-120"/>
              </a:rPr>
              <a:t>where there used to be one that could never be right.</a:t>
            </a:r>
            <a:endParaRPr lang="en-US" sz="1350" dirty="0"/>
          </a:p>
        </p:txBody>
      </p:sp>
      <p:sp>
        <p:nvSpPr>
          <p:cNvPr id="167" name="Text 165"/>
          <p:cNvSpPr txBox="1"/>
          <p:nvPr/>
        </p:nvSpPr>
        <p:spPr>
          <a:xfrm>
            <a:off x="7150608" y="4114800"/>
            <a:ext cx="4474159" cy="676656"/>
          </a:xfrm>
          <a:prstGeom prst="rect">
            <a:avLst/>
          </a:prstGeom>
          <a:noFill/>
          <a:ln/>
        </p:spPr>
        <p:txBody>
          <a:bodyPr wrap="square" lIns="0" tIns="0" rIns="0" bIns="0" rtlCol="0" anchor="t"/>
          <a:lstStyle/>
          <a:p>
            <a:pPr algn="l" indent="0" marL="0">
              <a:lnSpc>
                <a:spcPts val="1800"/>
              </a:lnSpc>
              <a:buNone/>
            </a:pPr>
            <a:r>
              <a:rPr lang="en-US" sz="1350" b="1" dirty="0">
                <a:solidFill>
                  <a:srgbClr val="14242C"/>
                </a:solidFill>
                <a:latin typeface="Calibri" pitchFamily="34" charset="0"/>
                <a:ea typeface="Calibri" pitchFamily="34" charset="-122"/>
                <a:cs typeface="Calibri" pitchFamily="34" charset="-120"/>
              </a:rPr>
              <a:t>Both settled — </a:t>
            </a:r>
            <a:pPr algn="l" indent="0" marL="0">
              <a:lnSpc>
                <a:spcPts val="1800"/>
              </a:lnSpc>
              <a:buNone/>
            </a:pPr>
            <a:r>
              <a:rPr lang="en-US" sz="1350" dirty="0">
                <a:solidFill>
                  <a:srgbClr val="5F737D"/>
                </a:solidFill>
                <a:latin typeface="Calibri" pitchFamily="34" charset="0"/>
                <a:ea typeface="Calibri" pitchFamily="34" charset="-122"/>
                <a:cs typeface="Calibri" pitchFamily="34" charset="-120"/>
              </a:rPr>
              <a:t>and both still being voted on, so it stays honest.</a:t>
            </a:r>
            <a:endParaRPr lang="en-US" sz="1350" dirty="0"/>
          </a:p>
        </p:txBody>
      </p:sp>
      <p:sp>
        <p:nvSpPr>
          <p:cNvPr id="168" name="Shape 166"/>
          <p:cNvSpPr/>
          <p:nvPr/>
        </p:nvSpPr>
        <p:spPr>
          <a:xfrm>
            <a:off x="7150608" y="5669280"/>
            <a:ext cx="4474159" cy="566928"/>
          </a:xfrm>
          <a:prstGeom prst="roundRect">
            <a:avLst>
              <a:gd name="adj" fmla="val 9677"/>
            </a:avLst>
          </a:prstGeom>
          <a:solidFill>
            <a:srgbClr val="F3F7F9"/>
          </a:solidFill>
          <a:ln w="12700">
            <a:solidFill>
              <a:srgbClr val="CDD9DF"/>
            </a:solidFill>
            <a:prstDash val="dash"/>
          </a:ln>
        </p:spPr>
      </p:sp>
      <p:sp>
        <p:nvSpPr>
          <p:cNvPr id="169" name="Text 167"/>
          <p:cNvSpPr txBox="1"/>
          <p:nvPr/>
        </p:nvSpPr>
        <p:spPr>
          <a:xfrm>
            <a:off x="7351776" y="5669280"/>
            <a:ext cx="4071823" cy="566928"/>
          </a:xfrm>
          <a:prstGeom prst="rect">
            <a:avLst/>
          </a:prstGeom>
          <a:noFill/>
          <a:ln/>
        </p:spPr>
        <p:txBody>
          <a:bodyPr wrap="square" lIns="0" tIns="0" rIns="0" bIns="0" rtlCol="0" anchor="ctr"/>
          <a:lstStyle/>
          <a:p>
            <a:pPr algn="l" indent="0" marL="0">
              <a:buNone/>
            </a:pPr>
            <a:r>
              <a:rPr lang="en-US" sz="1150" dirty="0">
                <a:solidFill>
                  <a:srgbClr val="5F737D"/>
                </a:solidFill>
                <a:latin typeface="Calibri" pitchFamily="34" charset="0"/>
                <a:ea typeface="Calibri" pitchFamily="34" charset="-122"/>
                <a:cs typeface="Calibri" pitchFamily="34" charset="-120"/>
              </a:rPr>
              <a:t>Nothing on this floor is far off.</a:t>
            </a:r>
            <a:endParaRPr lang="en-US" sz="1150" dirty="0"/>
          </a:p>
        </p:txBody>
      </p:sp>
      <p:sp>
        <p:nvSpPr>
          <p:cNvPr id="170" name="Text 168"/>
          <p:cNvSpPr txBox="1"/>
          <p:nvPr/>
        </p:nvSpPr>
        <p:spPr>
          <a:xfrm>
            <a:off x="7150608" y="4956048"/>
            <a:ext cx="4474159" cy="603504"/>
          </a:xfrm>
          <a:prstGeom prst="rect">
            <a:avLst/>
          </a:prstGeom>
          <a:noFill/>
          <a:ln/>
        </p:spPr>
        <p:txBody>
          <a:bodyPr wrap="square" lIns="0" tIns="0" rIns="0" bIns="0" rtlCol="0" anchor="t"/>
          <a:lstStyle/>
          <a:p>
            <a:pPr algn="l" indent="0" marL="0">
              <a:lnSpc>
                <a:spcPts val="1900"/>
              </a:lnSpc>
              <a:buNone/>
            </a:pPr>
            <a:r>
              <a:rPr lang="en-US" sz="1400" i="1" dirty="0">
                <a:solidFill>
                  <a:srgbClr val="3B9B78"/>
                </a:solidFill>
                <a:latin typeface="Calibri" pitchFamily="34" charset="0"/>
                <a:ea typeface="Calibri" pitchFamily="34" charset="-122"/>
                <a:cs typeface="Calibri" pitchFamily="34" charset="-120"/>
              </a:rPr>
              <a:t>Priya and Daniel never spoke to each other. They just both tapped a button.</a:t>
            </a:r>
            <a:endParaRPr lang="en-US" sz="1400" dirty="0"/>
          </a:p>
        </p:txBody>
      </p:sp>
      <p:sp>
        <p:nvSpPr>
          <p:cNvPr id="171" name="Text 169"/>
          <p:cNvSpPr txBox="1"/>
          <p:nvPr/>
        </p:nvSpPr>
        <p:spPr>
          <a:xfrm>
            <a:off x="566928" y="475488"/>
            <a:ext cx="11057839" cy="237744"/>
          </a:xfrm>
          <a:prstGeom prst="rect">
            <a:avLst/>
          </a:prstGeom>
          <a:noFill/>
          <a:ln/>
        </p:spPr>
        <p:txBody>
          <a:bodyPr wrap="square" lIns="0" tIns="0" rIns="0" bIns="0" rtlCol="0" anchor="t"/>
          <a:lstStyle/>
          <a:p>
            <a:pPr algn="l" indent="0" marL="0">
              <a:buNone/>
            </a:pPr>
            <a:r>
              <a:rPr lang="en-US" sz="1050" b="1" spc="140" kern="0" dirty="0">
                <a:solidFill>
                  <a:srgbClr val="3B9B78"/>
                </a:solidFill>
                <a:latin typeface="Calibri" pitchFamily="34" charset="0"/>
                <a:ea typeface="Calibri" pitchFamily="34" charset="-122"/>
                <a:cs typeface="Calibri" pitchFamily="34" charset="-120"/>
              </a:rPr>
              <a:t>NINETY MINUTES LATER</a:t>
            </a:r>
            <a:endParaRPr lang="en-US" sz="1050" dirty="0"/>
          </a:p>
        </p:txBody>
      </p:sp>
      <p:sp>
        <p:nvSpPr>
          <p:cNvPr id="172" name="Text 170"/>
          <p:cNvSpPr txBox="1"/>
          <p:nvPr/>
        </p:nvSpPr>
        <p:spPr>
          <a:xfrm>
            <a:off x="566928" y="749808"/>
            <a:ext cx="11057839" cy="713232"/>
          </a:xfrm>
          <a:prstGeom prst="rect">
            <a:avLst/>
          </a:prstGeom>
          <a:noFill/>
          <a:ln/>
        </p:spPr>
        <p:txBody>
          <a:bodyPr wrap="square" lIns="0" tIns="0" rIns="0" bIns="0" rtlCol="0" anchor="t"/>
          <a:lstStyle/>
          <a:p>
            <a:pPr algn="l" indent="0" marL="0">
              <a:buNone/>
            </a:pPr>
            <a:r>
              <a:rPr lang="en-US" sz="3400" b="1" spc="-50" kern="0" dirty="0">
                <a:solidFill>
                  <a:srgbClr val="14242C"/>
                </a:solidFill>
                <a:latin typeface="Calibri" pitchFamily="34" charset="0"/>
                <a:ea typeface="Calibri" pitchFamily="34" charset="-122"/>
                <a:cs typeface="Calibri" pitchFamily="34" charset="-120"/>
              </a:rPr>
              <a:t>4:10pm</a:t>
            </a:r>
            <a:endParaRPr lang="en-US" sz="3400" dirty="0"/>
          </a:p>
        </p:txBody>
      </p:sp>
      <p:sp>
        <p:nvSpPr>
          <p:cNvPr id="173" name="Text 171"/>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5F737D"/>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7EDF0"/>
        </a:solidFill>
      </p:bgPr>
    </p:bg>
    <p:spTree>
      <p:nvGrpSpPr>
        <p:cNvPr id="1" name=""/>
        <p:cNvGrpSpPr/>
        <p:nvPr/>
      </p:nvGrpSpPr>
      <p:grpSpPr>
        <a:xfrm>
          <a:off x="0" y="0"/>
          <a:ext cx="0" cy="0"/>
          <a:chOff x="0" y="0"/>
          <a:chExt cx="0" cy="0"/>
        </a:xfrm>
      </p:grpSpPr>
      <p:sp>
        <p:nvSpPr>
          <p:cNvPr id="2" name="Text 0"/>
          <p:cNvSpPr txBox="1"/>
          <p:nvPr/>
        </p:nvSpPr>
        <p:spPr>
          <a:xfrm>
            <a:off x="566928" y="475488"/>
            <a:ext cx="11057839" cy="713232"/>
          </a:xfrm>
          <a:prstGeom prst="rect">
            <a:avLst/>
          </a:prstGeom>
          <a:noFill/>
          <a:ln/>
        </p:spPr>
        <p:txBody>
          <a:bodyPr wrap="square" lIns="0" tIns="0" rIns="0" bIns="0" rtlCol="0" anchor="t"/>
          <a:lstStyle/>
          <a:p>
            <a:pPr algn="l" indent="0" marL="0">
              <a:buNone/>
            </a:pPr>
            <a:r>
              <a:rPr lang="en-US" sz="3400" b="1" spc="-50" kern="0" dirty="0">
                <a:solidFill>
                  <a:srgbClr val="14242C"/>
                </a:solidFill>
                <a:latin typeface="Calibri" pitchFamily="34" charset="0"/>
                <a:ea typeface="Calibri" pitchFamily="34" charset="-122"/>
                <a:cs typeface="Calibri" pitchFamily="34" charset="-120"/>
              </a:rPr>
              <a:t>What you just saw</a:t>
            </a:r>
            <a:endParaRPr lang="en-US" sz="3400" dirty="0"/>
          </a:p>
        </p:txBody>
      </p:sp>
      <p:sp>
        <p:nvSpPr>
          <p:cNvPr id="3" name="Text 1"/>
          <p:cNvSpPr txBox="1"/>
          <p:nvPr/>
        </p:nvSpPr>
        <p:spPr>
          <a:xfrm>
            <a:off x="566928" y="1188720"/>
            <a:ext cx="10241280" cy="365760"/>
          </a:xfrm>
          <a:prstGeom prst="rect">
            <a:avLst/>
          </a:prstGeom>
          <a:noFill/>
          <a:ln/>
        </p:spPr>
        <p:txBody>
          <a:bodyPr wrap="square" lIns="0" tIns="0" rIns="0" bIns="0" rtlCol="0" anchor="t"/>
          <a:lstStyle/>
          <a:p>
            <a:pPr algn="l" indent="0" marL="0">
              <a:buNone/>
            </a:pPr>
            <a:r>
              <a:rPr lang="en-US" sz="1650" dirty="0">
                <a:solidFill>
                  <a:srgbClr val="5F737D"/>
                </a:solidFill>
                <a:latin typeface="Calibri" pitchFamily="34" charset="0"/>
                <a:ea typeface="Calibri" pitchFamily="34" charset="-122"/>
                <a:cs typeface="Calibri" pitchFamily="34" charset="-120"/>
              </a:rPr>
              <a:t>Seven features, and not one of them needed explaining to Priya, Daniel or Marcus.</a:t>
            </a:r>
            <a:endParaRPr lang="en-US" sz="1650" dirty="0"/>
          </a:p>
        </p:txBody>
      </p:sp>
      <p:sp>
        <p:nvSpPr>
          <p:cNvPr id="4" name="Shape 2"/>
          <p:cNvSpPr/>
          <p:nvPr/>
        </p:nvSpPr>
        <p:spPr>
          <a:xfrm>
            <a:off x="566928" y="2555748"/>
            <a:ext cx="219456" cy="219456"/>
          </a:xfrm>
          <a:prstGeom prst="ellipse">
            <a:avLst/>
          </a:prstGeom>
          <a:solidFill>
            <a:srgbClr val="3B9B78"/>
          </a:solidFill>
          <a:ln/>
        </p:spPr>
      </p:sp>
      <p:sp>
        <p:nvSpPr>
          <p:cNvPr id="5" name="Text 3"/>
          <p:cNvSpPr txBox="1"/>
          <p:nvPr/>
        </p:nvSpPr>
        <p:spPr>
          <a:xfrm>
            <a:off x="566928" y="2564892"/>
            <a:ext cx="219456"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6" name="Text 4"/>
          <p:cNvSpPr txBox="1"/>
          <p:nvPr/>
        </p:nvSpPr>
        <p:spPr>
          <a:xfrm>
            <a:off x="914400" y="2519172"/>
            <a:ext cx="4952848" cy="274320"/>
          </a:xfrm>
          <a:prstGeom prst="rect">
            <a:avLst/>
          </a:prstGeom>
          <a:noFill/>
          <a:ln/>
        </p:spPr>
        <p:txBody>
          <a:bodyPr wrap="square" lIns="0" tIns="0" rIns="0" bIns="0" rtlCol="0" anchor="t"/>
          <a:lstStyle/>
          <a:p>
            <a:pPr algn="l" indent="0" marL="0">
              <a:buNone/>
            </a:pPr>
            <a:r>
              <a:rPr lang="en-US" sz="1550" b="1" spc="-20" kern="0" dirty="0">
                <a:solidFill>
                  <a:srgbClr val="14242C"/>
                </a:solidFill>
                <a:latin typeface="Calibri" pitchFamily="34" charset="0"/>
                <a:ea typeface="Calibri" pitchFamily="34" charset="-122"/>
                <a:cs typeface="Calibri" pitchFamily="34" charset="-120"/>
              </a:rPr>
              <a:t>The five-point vote</a:t>
            </a:r>
            <a:endParaRPr lang="en-US" sz="1550" dirty="0"/>
          </a:p>
        </p:txBody>
      </p:sp>
      <p:sp>
        <p:nvSpPr>
          <p:cNvPr id="7" name="Text 5"/>
          <p:cNvSpPr txBox="1"/>
          <p:nvPr/>
        </p:nvSpPr>
        <p:spPr>
          <a:xfrm>
            <a:off x="914400" y="2811780"/>
            <a:ext cx="4952848" cy="310896"/>
          </a:xfrm>
          <a:prstGeom prst="rect">
            <a:avLst/>
          </a:prstGeom>
          <a:noFill/>
          <a:ln/>
        </p:spPr>
        <p:txBody>
          <a:bodyPr wrap="square" lIns="0" tIns="0" rIns="0" bIns="0" rtlCol="0" anchor="t"/>
          <a:lstStyle/>
          <a:p>
            <a:pPr algn="l" indent="0" marL="0">
              <a:buNone/>
            </a:pPr>
            <a:r>
              <a:rPr lang="en-US" sz="1250" dirty="0">
                <a:solidFill>
                  <a:srgbClr val="5F737D"/>
                </a:solidFill>
                <a:latin typeface="Calibri" pitchFamily="34" charset="0"/>
                <a:ea typeface="Calibri" pitchFamily="34" charset="-122"/>
                <a:cs typeface="Calibri" pitchFamily="34" charset="-120"/>
              </a:rPr>
              <a:t>one tap, one vote per person, expires after two hours</a:t>
            </a:r>
            <a:endParaRPr lang="en-US" sz="1250" dirty="0"/>
          </a:p>
        </p:txBody>
      </p:sp>
      <p:sp>
        <p:nvSpPr>
          <p:cNvPr id="8" name="Shape 6"/>
          <p:cNvSpPr/>
          <p:nvPr/>
        </p:nvSpPr>
        <p:spPr>
          <a:xfrm>
            <a:off x="566928" y="3305556"/>
            <a:ext cx="219456" cy="219456"/>
          </a:xfrm>
          <a:prstGeom prst="ellipse">
            <a:avLst/>
          </a:prstGeom>
          <a:solidFill>
            <a:srgbClr val="3B9B78"/>
          </a:solidFill>
          <a:ln/>
        </p:spPr>
      </p:sp>
      <p:sp>
        <p:nvSpPr>
          <p:cNvPr id="9" name="Text 7"/>
          <p:cNvSpPr txBox="1"/>
          <p:nvPr/>
        </p:nvSpPr>
        <p:spPr>
          <a:xfrm>
            <a:off x="566928" y="3314700"/>
            <a:ext cx="219456"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914400" y="3268980"/>
            <a:ext cx="4952848" cy="274320"/>
          </a:xfrm>
          <a:prstGeom prst="rect">
            <a:avLst/>
          </a:prstGeom>
          <a:noFill/>
          <a:ln/>
        </p:spPr>
        <p:txBody>
          <a:bodyPr wrap="square" lIns="0" tIns="0" rIns="0" bIns="0" rtlCol="0" anchor="t"/>
          <a:lstStyle/>
          <a:p>
            <a:pPr algn="l" indent="0" marL="0">
              <a:buNone/>
            </a:pPr>
            <a:r>
              <a:rPr lang="en-US" sz="1550" b="1" spc="-20" kern="0" dirty="0">
                <a:solidFill>
                  <a:srgbClr val="14242C"/>
                </a:solidFill>
                <a:latin typeface="Calibri" pitchFamily="34" charset="0"/>
                <a:ea typeface="Calibri" pitchFamily="34" charset="-122"/>
                <a:cs typeface="Calibri" pitchFamily="34" charset="-120"/>
              </a:rPr>
              <a:t>The spot picker</a:t>
            </a:r>
            <a:endParaRPr lang="en-US" sz="1550" dirty="0"/>
          </a:p>
        </p:txBody>
      </p:sp>
      <p:sp>
        <p:nvSpPr>
          <p:cNvPr id="11" name="Text 9"/>
          <p:cNvSpPr txBox="1"/>
          <p:nvPr/>
        </p:nvSpPr>
        <p:spPr>
          <a:xfrm>
            <a:off x="914400" y="3561588"/>
            <a:ext cx="4952848" cy="310896"/>
          </a:xfrm>
          <a:prstGeom prst="rect">
            <a:avLst/>
          </a:prstGeom>
          <a:noFill/>
          <a:ln/>
        </p:spPr>
        <p:txBody>
          <a:bodyPr wrap="square" lIns="0" tIns="0" rIns="0" bIns="0" rtlCol="0" anchor="t"/>
          <a:lstStyle/>
          <a:p>
            <a:pPr algn="l" indent="0" marL="0">
              <a:buNone/>
            </a:pPr>
            <a:r>
              <a:rPr lang="en-US" sz="1250" dirty="0">
                <a:solidFill>
                  <a:srgbClr val="5F737D"/>
                </a:solidFill>
                <a:latin typeface="Calibri" pitchFamily="34" charset="0"/>
                <a:ea typeface="Calibri" pitchFamily="34" charset="-122"/>
                <a:cs typeface="Calibri" pitchFamily="34" charset="-120"/>
              </a:rPr>
              <a:t>remembers where you sit, so the next vote is one tap</a:t>
            </a:r>
            <a:endParaRPr lang="en-US" sz="1250" dirty="0"/>
          </a:p>
        </p:txBody>
      </p:sp>
      <p:sp>
        <p:nvSpPr>
          <p:cNvPr id="12" name="Shape 10"/>
          <p:cNvSpPr/>
          <p:nvPr/>
        </p:nvSpPr>
        <p:spPr>
          <a:xfrm>
            <a:off x="566928" y="4055364"/>
            <a:ext cx="219456" cy="219456"/>
          </a:xfrm>
          <a:prstGeom prst="ellipse">
            <a:avLst/>
          </a:prstGeom>
          <a:solidFill>
            <a:srgbClr val="3B9B78"/>
          </a:solidFill>
          <a:ln/>
        </p:spPr>
      </p:sp>
      <p:sp>
        <p:nvSpPr>
          <p:cNvPr id="13" name="Text 11"/>
          <p:cNvSpPr txBox="1"/>
          <p:nvPr/>
        </p:nvSpPr>
        <p:spPr>
          <a:xfrm>
            <a:off x="566928" y="4064508"/>
            <a:ext cx="219456"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4" name="Text 12"/>
          <p:cNvSpPr txBox="1"/>
          <p:nvPr/>
        </p:nvSpPr>
        <p:spPr>
          <a:xfrm>
            <a:off x="914400" y="4018788"/>
            <a:ext cx="4952848" cy="274320"/>
          </a:xfrm>
          <a:prstGeom prst="rect">
            <a:avLst/>
          </a:prstGeom>
          <a:noFill/>
          <a:ln/>
        </p:spPr>
        <p:txBody>
          <a:bodyPr wrap="square" lIns="0" tIns="0" rIns="0" bIns="0" rtlCol="0" anchor="t"/>
          <a:lstStyle/>
          <a:p>
            <a:pPr algn="l" indent="0" marL="0">
              <a:buNone/>
            </a:pPr>
            <a:r>
              <a:rPr lang="en-US" sz="1550" b="1" spc="-20" kern="0" dirty="0">
                <a:solidFill>
                  <a:srgbClr val="14242C"/>
                </a:solidFill>
                <a:latin typeface="Calibri" pitchFamily="34" charset="0"/>
                <a:ea typeface="Calibri" pitchFamily="34" charset="-122"/>
                <a:cs typeface="Calibri" pitchFamily="34" charset="-120"/>
              </a:rPr>
              <a:t>The dot plot</a:t>
            </a:r>
            <a:endParaRPr lang="en-US" sz="1550" dirty="0"/>
          </a:p>
        </p:txBody>
      </p:sp>
      <p:sp>
        <p:nvSpPr>
          <p:cNvPr id="15" name="Text 13"/>
          <p:cNvSpPr txBox="1"/>
          <p:nvPr/>
        </p:nvSpPr>
        <p:spPr>
          <a:xfrm>
            <a:off x="914400" y="4311396"/>
            <a:ext cx="4952848" cy="310896"/>
          </a:xfrm>
          <a:prstGeom prst="rect">
            <a:avLst/>
          </a:prstGeom>
          <a:noFill/>
          <a:ln/>
        </p:spPr>
        <p:txBody>
          <a:bodyPr wrap="square" lIns="0" tIns="0" rIns="0" bIns="0" rtlCol="0" anchor="t"/>
          <a:lstStyle/>
          <a:p>
            <a:pPr algn="l" indent="0" marL="0">
              <a:buNone/>
            </a:pPr>
            <a:r>
              <a:rPr lang="en-US" sz="1250" dirty="0">
                <a:solidFill>
                  <a:srgbClr val="5F737D"/>
                </a:solidFill>
                <a:latin typeface="Calibri" pitchFamily="34" charset="0"/>
                <a:ea typeface="Calibri" pitchFamily="34" charset="-122"/>
                <a:cs typeface="Calibri" pitchFamily="34" charset="-120"/>
              </a:rPr>
              <a:t>every vote is a dot, so you see the shape, not a score</a:t>
            </a:r>
            <a:endParaRPr lang="en-US" sz="1250" dirty="0"/>
          </a:p>
        </p:txBody>
      </p:sp>
      <p:sp>
        <p:nvSpPr>
          <p:cNvPr id="16" name="Shape 14"/>
          <p:cNvSpPr/>
          <p:nvPr/>
        </p:nvSpPr>
        <p:spPr>
          <a:xfrm>
            <a:off x="566928" y="4805172"/>
            <a:ext cx="219456" cy="219456"/>
          </a:xfrm>
          <a:prstGeom prst="ellipse">
            <a:avLst/>
          </a:prstGeom>
          <a:solidFill>
            <a:srgbClr val="3B9B78"/>
          </a:solidFill>
          <a:ln/>
        </p:spPr>
      </p:sp>
      <p:sp>
        <p:nvSpPr>
          <p:cNvPr id="17" name="Text 15"/>
          <p:cNvSpPr txBox="1"/>
          <p:nvPr/>
        </p:nvSpPr>
        <p:spPr>
          <a:xfrm>
            <a:off x="566928" y="4814316"/>
            <a:ext cx="219456"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6"/>
          <p:cNvSpPr txBox="1"/>
          <p:nvPr/>
        </p:nvSpPr>
        <p:spPr>
          <a:xfrm>
            <a:off x="914400" y="4768596"/>
            <a:ext cx="4952848" cy="274320"/>
          </a:xfrm>
          <a:prstGeom prst="rect">
            <a:avLst/>
          </a:prstGeom>
          <a:noFill/>
          <a:ln/>
        </p:spPr>
        <p:txBody>
          <a:bodyPr wrap="square" lIns="0" tIns="0" rIns="0" bIns="0" rtlCol="0" anchor="t"/>
          <a:lstStyle/>
          <a:p>
            <a:pPr algn="l" indent="0" marL="0">
              <a:buNone/>
            </a:pPr>
            <a:r>
              <a:rPr lang="en-US" sz="1550" b="1" spc="-20" kern="0" dirty="0">
                <a:solidFill>
                  <a:srgbClr val="14242C"/>
                </a:solidFill>
                <a:latin typeface="Calibri" pitchFamily="34" charset="0"/>
                <a:ea typeface="Calibri" pitchFamily="34" charset="-122"/>
                <a:cs typeface="Calibri" pitchFamily="34" charset="-120"/>
              </a:rPr>
              <a:t>Split detection</a:t>
            </a:r>
            <a:endParaRPr lang="en-US" sz="1550" dirty="0"/>
          </a:p>
        </p:txBody>
      </p:sp>
      <p:sp>
        <p:nvSpPr>
          <p:cNvPr id="19" name="Text 17"/>
          <p:cNvSpPr txBox="1"/>
          <p:nvPr/>
        </p:nvSpPr>
        <p:spPr>
          <a:xfrm>
            <a:off x="914400" y="5061204"/>
            <a:ext cx="4952848" cy="310896"/>
          </a:xfrm>
          <a:prstGeom prst="rect">
            <a:avLst/>
          </a:prstGeom>
          <a:noFill/>
          <a:ln/>
        </p:spPr>
        <p:txBody>
          <a:bodyPr wrap="square" lIns="0" tIns="0" rIns="0" bIns="0" rtlCol="0" anchor="t"/>
          <a:lstStyle/>
          <a:p>
            <a:pPr algn="l" indent="0" marL="0">
              <a:buNone/>
            </a:pPr>
            <a:r>
              <a:rPr lang="en-US" sz="1250" dirty="0">
                <a:solidFill>
                  <a:srgbClr val="5F737D"/>
                </a:solidFill>
                <a:latin typeface="Calibri" pitchFamily="34" charset="0"/>
                <a:ea typeface="Calibri" pitchFamily="34" charset="-122"/>
                <a:cs typeface="Calibri" pitchFamily="34" charset="-120"/>
              </a:rPr>
              <a:t>the refusal to average a room that disagrees with itself</a:t>
            </a:r>
            <a:endParaRPr lang="en-US" sz="1250" dirty="0"/>
          </a:p>
        </p:txBody>
      </p:sp>
      <p:sp>
        <p:nvSpPr>
          <p:cNvPr id="20" name="Shape 18"/>
          <p:cNvSpPr/>
          <p:nvPr/>
        </p:nvSpPr>
        <p:spPr>
          <a:xfrm>
            <a:off x="6324448" y="2555748"/>
            <a:ext cx="219456" cy="219456"/>
          </a:xfrm>
          <a:prstGeom prst="ellipse">
            <a:avLst/>
          </a:prstGeom>
          <a:solidFill>
            <a:srgbClr val="3B9B78"/>
          </a:solidFill>
          <a:ln/>
        </p:spPr>
      </p:sp>
      <p:sp>
        <p:nvSpPr>
          <p:cNvPr id="21" name="Text 19"/>
          <p:cNvSpPr txBox="1"/>
          <p:nvPr/>
        </p:nvSpPr>
        <p:spPr>
          <a:xfrm>
            <a:off x="6324448" y="2564892"/>
            <a:ext cx="219456"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txBox="1"/>
          <p:nvPr/>
        </p:nvSpPr>
        <p:spPr>
          <a:xfrm>
            <a:off x="6671920" y="2519172"/>
            <a:ext cx="4952848" cy="274320"/>
          </a:xfrm>
          <a:prstGeom prst="rect">
            <a:avLst/>
          </a:prstGeom>
          <a:noFill/>
          <a:ln/>
        </p:spPr>
        <p:txBody>
          <a:bodyPr wrap="square" lIns="0" tIns="0" rIns="0" bIns="0" rtlCol="0" anchor="t"/>
          <a:lstStyle/>
          <a:p>
            <a:pPr algn="l" indent="0" marL="0">
              <a:buNone/>
            </a:pPr>
            <a:r>
              <a:rPr lang="en-US" sz="1550" b="1" spc="-20" kern="0" dirty="0">
                <a:solidFill>
                  <a:srgbClr val="14242C"/>
                </a:solidFill>
                <a:latin typeface="Calibri" pitchFamily="34" charset="0"/>
                <a:ea typeface="Calibri" pitchFamily="34" charset="-122"/>
                <a:cs typeface="Calibri" pitchFamily="34" charset="-120"/>
              </a:rPr>
              <a:t>The heat map</a:t>
            </a:r>
            <a:endParaRPr lang="en-US" sz="1550" dirty="0"/>
          </a:p>
        </p:txBody>
      </p:sp>
      <p:sp>
        <p:nvSpPr>
          <p:cNvPr id="23" name="Text 21"/>
          <p:cNvSpPr txBox="1"/>
          <p:nvPr/>
        </p:nvSpPr>
        <p:spPr>
          <a:xfrm>
            <a:off x="6671920" y="2811780"/>
            <a:ext cx="4952848" cy="310896"/>
          </a:xfrm>
          <a:prstGeom prst="rect">
            <a:avLst/>
          </a:prstGeom>
          <a:noFill/>
          <a:ln/>
        </p:spPr>
        <p:txBody>
          <a:bodyPr wrap="square" lIns="0" tIns="0" rIns="0" bIns="0" rtlCol="0" anchor="t"/>
          <a:lstStyle/>
          <a:p>
            <a:pPr algn="l" indent="0" marL="0">
              <a:buNone/>
            </a:pPr>
            <a:r>
              <a:rPr lang="en-US" sz="1250" dirty="0">
                <a:solidFill>
                  <a:srgbClr val="5F737D"/>
                </a:solidFill>
                <a:latin typeface="Calibri" pitchFamily="34" charset="0"/>
                <a:ea typeface="Calibri" pitchFamily="34" charset="-122"/>
                <a:cs typeface="Calibri" pitchFamily="34" charset="-120"/>
              </a:rPr>
              <a:t>your floor plan, with turnout as size and severity as colour</a:t>
            </a:r>
            <a:endParaRPr lang="en-US" sz="1250" dirty="0"/>
          </a:p>
        </p:txBody>
      </p:sp>
      <p:sp>
        <p:nvSpPr>
          <p:cNvPr id="24" name="Shape 22"/>
          <p:cNvSpPr/>
          <p:nvPr/>
        </p:nvSpPr>
        <p:spPr>
          <a:xfrm>
            <a:off x="6324448" y="3305556"/>
            <a:ext cx="219456" cy="219456"/>
          </a:xfrm>
          <a:prstGeom prst="ellipse">
            <a:avLst/>
          </a:prstGeom>
          <a:solidFill>
            <a:srgbClr val="3B9B78"/>
          </a:solidFill>
          <a:ln/>
        </p:spPr>
      </p:sp>
      <p:sp>
        <p:nvSpPr>
          <p:cNvPr id="25" name="Text 23"/>
          <p:cNvSpPr txBox="1"/>
          <p:nvPr/>
        </p:nvSpPr>
        <p:spPr>
          <a:xfrm>
            <a:off x="6324448" y="3314700"/>
            <a:ext cx="219456"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6" name="Text 24"/>
          <p:cNvSpPr txBox="1"/>
          <p:nvPr/>
        </p:nvSpPr>
        <p:spPr>
          <a:xfrm>
            <a:off x="6671920" y="3268980"/>
            <a:ext cx="4952848" cy="274320"/>
          </a:xfrm>
          <a:prstGeom prst="rect">
            <a:avLst/>
          </a:prstGeom>
          <a:noFill/>
          <a:ln/>
        </p:spPr>
        <p:txBody>
          <a:bodyPr wrap="square" lIns="0" tIns="0" rIns="0" bIns="0" rtlCol="0" anchor="t"/>
          <a:lstStyle/>
          <a:p>
            <a:pPr algn="l" indent="0" marL="0">
              <a:buNone/>
            </a:pPr>
            <a:r>
              <a:rPr lang="en-US" sz="1550" b="1" spc="-20" kern="0" dirty="0">
                <a:solidFill>
                  <a:srgbClr val="14242C"/>
                </a:solidFill>
                <a:latin typeface="Calibri" pitchFamily="34" charset="0"/>
                <a:ea typeface="Calibri" pitchFamily="34" charset="-122"/>
                <a:cs typeface="Calibri" pitchFamily="34" charset="-120"/>
              </a:rPr>
              <a:t>The ranked list</a:t>
            </a:r>
            <a:endParaRPr lang="en-US" sz="1550" dirty="0"/>
          </a:p>
        </p:txBody>
      </p:sp>
      <p:sp>
        <p:nvSpPr>
          <p:cNvPr id="27" name="Text 25"/>
          <p:cNvSpPr txBox="1"/>
          <p:nvPr/>
        </p:nvSpPr>
        <p:spPr>
          <a:xfrm>
            <a:off x="6671920" y="3561588"/>
            <a:ext cx="4952848" cy="310896"/>
          </a:xfrm>
          <a:prstGeom prst="rect">
            <a:avLst/>
          </a:prstGeom>
          <a:noFill/>
          <a:ln/>
        </p:spPr>
        <p:txBody>
          <a:bodyPr wrap="square" lIns="0" tIns="0" rIns="0" bIns="0" rtlCol="0" anchor="t"/>
          <a:lstStyle/>
          <a:p>
            <a:pPr algn="l" indent="0" marL="0">
              <a:buNone/>
            </a:pPr>
            <a:r>
              <a:rPr lang="en-US" sz="1250" dirty="0">
                <a:solidFill>
                  <a:srgbClr val="5F737D"/>
                </a:solidFill>
                <a:latin typeface="Calibri" pitchFamily="34" charset="0"/>
                <a:ea typeface="Calibri" pitchFamily="34" charset="-122"/>
                <a:cs typeface="Calibri" pitchFamily="34" charset="-120"/>
              </a:rPr>
              <a:t>what needs a look, worst first, quiet spots last</a:t>
            </a:r>
            <a:endParaRPr lang="en-US" sz="1250" dirty="0"/>
          </a:p>
        </p:txBody>
      </p:sp>
      <p:sp>
        <p:nvSpPr>
          <p:cNvPr id="28" name="Shape 26"/>
          <p:cNvSpPr/>
          <p:nvPr/>
        </p:nvSpPr>
        <p:spPr>
          <a:xfrm>
            <a:off x="6324448" y="4055364"/>
            <a:ext cx="219456" cy="219456"/>
          </a:xfrm>
          <a:prstGeom prst="ellipse">
            <a:avLst/>
          </a:prstGeom>
          <a:solidFill>
            <a:srgbClr val="3B9B78"/>
          </a:solidFill>
          <a:ln/>
        </p:spPr>
      </p:sp>
      <p:sp>
        <p:nvSpPr>
          <p:cNvPr id="29" name="Text 27"/>
          <p:cNvSpPr txBox="1"/>
          <p:nvPr/>
        </p:nvSpPr>
        <p:spPr>
          <a:xfrm>
            <a:off x="6324448" y="4064508"/>
            <a:ext cx="219456"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0" name="Text 28"/>
          <p:cNvSpPr txBox="1"/>
          <p:nvPr/>
        </p:nvSpPr>
        <p:spPr>
          <a:xfrm>
            <a:off x="6671920" y="4018788"/>
            <a:ext cx="4952848" cy="274320"/>
          </a:xfrm>
          <a:prstGeom prst="rect">
            <a:avLst/>
          </a:prstGeom>
          <a:noFill/>
          <a:ln/>
        </p:spPr>
        <p:txBody>
          <a:bodyPr wrap="square" lIns="0" tIns="0" rIns="0" bIns="0" rtlCol="0" anchor="t"/>
          <a:lstStyle/>
          <a:p>
            <a:pPr algn="l" indent="0" marL="0">
              <a:buNone/>
            </a:pPr>
            <a:r>
              <a:rPr lang="en-US" sz="1550" b="1" spc="-20" kern="0" dirty="0">
                <a:solidFill>
                  <a:srgbClr val="14242C"/>
                </a:solidFill>
                <a:latin typeface="Calibri" pitchFamily="34" charset="0"/>
                <a:ea typeface="Calibri" pitchFamily="34" charset="-122"/>
                <a:cs typeface="Calibri" pitchFamily="34" charset="-120"/>
              </a:rPr>
              <a:t>Facilities status</a:t>
            </a:r>
            <a:endParaRPr lang="en-US" sz="1550" dirty="0"/>
          </a:p>
        </p:txBody>
      </p:sp>
      <p:sp>
        <p:nvSpPr>
          <p:cNvPr id="31" name="Text 29"/>
          <p:cNvSpPr txBox="1"/>
          <p:nvPr/>
        </p:nvSpPr>
        <p:spPr>
          <a:xfrm>
            <a:off x="6671920" y="4311396"/>
            <a:ext cx="4952848" cy="310896"/>
          </a:xfrm>
          <a:prstGeom prst="rect">
            <a:avLst/>
          </a:prstGeom>
          <a:noFill/>
          <a:ln/>
        </p:spPr>
        <p:txBody>
          <a:bodyPr wrap="square" lIns="0" tIns="0" rIns="0" bIns="0" rtlCol="0" anchor="t"/>
          <a:lstStyle/>
          <a:p>
            <a:pPr algn="l" indent="0" marL="0">
              <a:buNone/>
            </a:pPr>
            <a:r>
              <a:rPr lang="en-US" sz="1250" dirty="0">
                <a:solidFill>
                  <a:srgbClr val="5F737D"/>
                </a:solidFill>
                <a:latin typeface="Calibri" pitchFamily="34" charset="0"/>
                <a:ea typeface="Calibri" pitchFamily="34" charset="-122"/>
                <a:cs typeface="Calibri" pitchFamily="34" charset="-120"/>
              </a:rPr>
              <a:t>ON IT and ADJUSTED, visible to the whole floor</a:t>
            </a:r>
            <a:endParaRPr lang="en-US" sz="1250" dirty="0"/>
          </a:p>
        </p:txBody>
      </p:sp>
      <p:sp>
        <p:nvSpPr>
          <p:cNvPr id="32" name="Text 30"/>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5F737D"/>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A1F"/>
        </a:solidFill>
      </p:bgPr>
    </p:bg>
    <p:spTree>
      <p:nvGrpSpPr>
        <p:cNvPr id="1" name=""/>
        <p:cNvGrpSpPr/>
        <p:nvPr/>
      </p:nvGrpSpPr>
      <p:grpSpPr>
        <a:xfrm>
          <a:off x="0" y="0"/>
          <a:ext cx="0" cy="0"/>
          <a:chOff x="0" y="0"/>
          <a:chExt cx="0" cy="0"/>
        </a:xfrm>
      </p:grpSpPr>
      <p:sp>
        <p:nvSpPr>
          <p:cNvPr id="2" name="Text 0"/>
          <p:cNvSpPr txBox="1"/>
          <p:nvPr/>
        </p:nvSpPr>
        <p:spPr>
          <a:xfrm>
            <a:off x="566928" y="475488"/>
            <a:ext cx="11057839" cy="713232"/>
          </a:xfrm>
          <a:prstGeom prst="rect">
            <a:avLst/>
          </a:prstGeom>
          <a:noFill/>
          <a:ln/>
        </p:spPr>
        <p:txBody>
          <a:bodyPr wrap="square" lIns="0" tIns="0" rIns="0" bIns="0" rtlCol="0" anchor="t"/>
          <a:lstStyle/>
          <a:p>
            <a:pPr algn="l" indent="0" marL="0">
              <a:buNone/>
            </a:pPr>
            <a:r>
              <a:rPr lang="en-US" sz="3400" b="1" spc="-50" kern="0" dirty="0">
                <a:solidFill>
                  <a:srgbClr val="E6EEF1"/>
                </a:solidFill>
                <a:latin typeface="Calibri" pitchFamily="34" charset="0"/>
                <a:ea typeface="Calibri" pitchFamily="34" charset="-122"/>
                <a:cs typeface="Calibri" pitchFamily="34" charset="-120"/>
              </a:rPr>
              <a:t>What makes it different</a:t>
            </a:r>
            <a:endParaRPr lang="en-US" sz="3400" dirty="0"/>
          </a:p>
        </p:txBody>
      </p:sp>
      <p:sp>
        <p:nvSpPr>
          <p:cNvPr id="3" name="Shape 1"/>
          <p:cNvSpPr/>
          <p:nvPr/>
        </p:nvSpPr>
        <p:spPr>
          <a:xfrm>
            <a:off x="566928" y="1915668"/>
            <a:ext cx="3454298" cy="2962656"/>
          </a:xfrm>
          <a:prstGeom prst="roundRect">
            <a:avLst>
              <a:gd name="adj" fmla="val 1852"/>
            </a:avLst>
          </a:prstGeom>
          <a:solidFill>
            <a:srgbClr val="56BC93">
              <a:alpha val="12000"/>
            </a:srgbClr>
          </a:solidFill>
          <a:ln w="22225">
            <a:solidFill>
              <a:srgbClr val="56BC93"/>
            </a:solidFill>
            <a:prstDash val="solid"/>
          </a:ln>
        </p:spPr>
      </p:sp>
      <p:sp>
        <p:nvSpPr>
          <p:cNvPr id="4" name="Shape 2"/>
          <p:cNvSpPr/>
          <p:nvPr/>
        </p:nvSpPr>
        <p:spPr>
          <a:xfrm>
            <a:off x="877824" y="2226564"/>
            <a:ext cx="420624" cy="420624"/>
          </a:xfrm>
          <a:prstGeom prst="ellipse">
            <a:avLst/>
          </a:prstGeom>
          <a:solidFill>
            <a:srgbClr val="56BC93"/>
          </a:solidFill>
          <a:ln/>
        </p:spPr>
      </p:sp>
      <p:sp>
        <p:nvSpPr>
          <p:cNvPr id="5" name="Text 3"/>
          <p:cNvSpPr txBox="1"/>
          <p:nvPr/>
        </p:nvSpPr>
        <p:spPr>
          <a:xfrm>
            <a:off x="877824" y="2237537"/>
            <a:ext cx="420624" cy="402336"/>
          </a:xfrm>
          <a:prstGeom prst="rect">
            <a:avLst/>
          </a:prstGeom>
          <a:noFill/>
          <a:ln/>
        </p:spPr>
        <p:txBody>
          <a:bodyPr wrap="square" lIns="0" tIns="0" rIns="0" bIns="0" rtlCol="0" anchor="ctr"/>
          <a:lstStyle/>
          <a:p>
            <a:pPr algn="ctr" indent="0" marL="0">
              <a:buNone/>
            </a:pPr>
            <a:r>
              <a:rPr lang="en-US" sz="1200" b="1" dirty="0">
                <a:solidFill>
                  <a:srgbClr val="101A1F"/>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877824" y="2793492"/>
            <a:ext cx="2832506" cy="676656"/>
          </a:xfrm>
          <a:prstGeom prst="rect">
            <a:avLst/>
          </a:prstGeom>
          <a:noFill/>
          <a:ln/>
        </p:spPr>
        <p:txBody>
          <a:bodyPr wrap="square" lIns="0" tIns="0" rIns="0" bIns="0" rtlCol="0" anchor="t"/>
          <a:lstStyle/>
          <a:p>
            <a:pPr algn="l" indent="0" marL="0">
              <a:buNone/>
            </a:pPr>
            <a:r>
              <a:rPr lang="en-US" sz="1900" b="1" spc="-20" kern="0" dirty="0">
                <a:solidFill>
                  <a:srgbClr val="E6EEF1"/>
                </a:solidFill>
                <a:latin typeface="Calibri" pitchFamily="34" charset="0"/>
                <a:ea typeface="Calibri" pitchFamily="34" charset="-122"/>
                <a:cs typeface="Calibri" pitchFamily="34" charset="-120"/>
              </a:rPr>
              <a:t>It refuses to average a split room</a:t>
            </a:r>
            <a:endParaRPr lang="en-US" sz="1900" dirty="0"/>
          </a:p>
        </p:txBody>
      </p:sp>
      <p:sp>
        <p:nvSpPr>
          <p:cNvPr id="7" name="Text 5"/>
          <p:cNvSpPr txBox="1"/>
          <p:nvPr/>
        </p:nvSpPr>
        <p:spPr>
          <a:xfrm>
            <a:off x="877824" y="3616452"/>
            <a:ext cx="2832506" cy="1097280"/>
          </a:xfrm>
          <a:prstGeom prst="rect">
            <a:avLst/>
          </a:prstGeom>
          <a:noFill/>
          <a:ln/>
        </p:spPr>
        <p:txBody>
          <a:bodyPr wrap="square" lIns="0" tIns="0" rIns="0" bIns="0" rtlCol="0" anchor="t"/>
          <a:lstStyle/>
          <a:p>
            <a:pPr algn="l" indent="0" marL="0">
              <a:lnSpc>
                <a:spcPts val="1800"/>
              </a:lnSpc>
              <a:buNone/>
            </a:pPr>
            <a:r>
              <a:rPr lang="en-US" sz="1350" dirty="0">
                <a:solidFill>
                  <a:srgbClr val="93A6AF"/>
                </a:solidFill>
                <a:latin typeface="Calibri" pitchFamily="34" charset="0"/>
                <a:ea typeface="Calibri" pitchFamily="34" charset="-122"/>
                <a:cs typeface="Calibri" pitchFamily="34" charset="-120"/>
              </a:rPr>
              <a:t>Every polling tool reports a mean. This one detects when a mean would be a lie, and reports the disagreement instead.</a:t>
            </a:r>
            <a:endParaRPr lang="en-US" sz="1350" dirty="0"/>
          </a:p>
        </p:txBody>
      </p:sp>
      <p:sp>
        <p:nvSpPr>
          <p:cNvPr id="8" name="Shape 6"/>
          <p:cNvSpPr/>
          <p:nvPr/>
        </p:nvSpPr>
        <p:spPr>
          <a:xfrm>
            <a:off x="4368698" y="1915668"/>
            <a:ext cx="3454298" cy="2962656"/>
          </a:xfrm>
          <a:prstGeom prst="roundRect">
            <a:avLst>
              <a:gd name="adj" fmla="val 1852"/>
            </a:avLst>
          </a:prstGeom>
          <a:solidFill>
            <a:srgbClr val="17242B"/>
          </a:solidFill>
          <a:ln w="12700">
            <a:solidFill>
              <a:srgbClr val="223139"/>
            </a:solidFill>
            <a:prstDash val="solid"/>
          </a:ln>
        </p:spPr>
      </p:sp>
      <p:sp>
        <p:nvSpPr>
          <p:cNvPr id="9" name="Shape 7"/>
          <p:cNvSpPr/>
          <p:nvPr/>
        </p:nvSpPr>
        <p:spPr>
          <a:xfrm>
            <a:off x="4679594" y="2226564"/>
            <a:ext cx="420624" cy="420624"/>
          </a:xfrm>
          <a:prstGeom prst="ellipse">
            <a:avLst/>
          </a:prstGeom>
          <a:solidFill>
            <a:srgbClr val="E6EEF1"/>
          </a:solidFill>
          <a:ln/>
        </p:spPr>
      </p:sp>
      <p:sp>
        <p:nvSpPr>
          <p:cNvPr id="10" name="Text 8"/>
          <p:cNvSpPr txBox="1"/>
          <p:nvPr/>
        </p:nvSpPr>
        <p:spPr>
          <a:xfrm>
            <a:off x="4679594" y="2237537"/>
            <a:ext cx="420624" cy="402336"/>
          </a:xfrm>
          <a:prstGeom prst="rect">
            <a:avLst/>
          </a:prstGeom>
          <a:noFill/>
          <a:ln/>
        </p:spPr>
        <p:txBody>
          <a:bodyPr wrap="square" lIns="0" tIns="0" rIns="0" bIns="0" rtlCol="0" anchor="ctr"/>
          <a:lstStyle/>
          <a:p>
            <a:pPr algn="ctr" indent="0" marL="0">
              <a:buNone/>
            </a:pPr>
            <a:r>
              <a:rPr lang="en-US" sz="1200" b="1" dirty="0">
                <a:solidFill>
                  <a:srgbClr val="101A1F"/>
                </a:solidFill>
                <a:latin typeface="Calibri" pitchFamily="34" charset="0"/>
                <a:ea typeface="Calibri" pitchFamily="34" charset="-122"/>
                <a:cs typeface="Calibri" pitchFamily="34" charset="-120"/>
              </a:rPr>
              <a:t>02</a:t>
            </a:r>
            <a:endParaRPr lang="en-US" sz="1200" dirty="0"/>
          </a:p>
        </p:txBody>
      </p:sp>
      <p:sp>
        <p:nvSpPr>
          <p:cNvPr id="11" name="Text 9"/>
          <p:cNvSpPr txBox="1"/>
          <p:nvPr/>
        </p:nvSpPr>
        <p:spPr>
          <a:xfrm>
            <a:off x="4679594" y="2793492"/>
            <a:ext cx="2832506" cy="676656"/>
          </a:xfrm>
          <a:prstGeom prst="rect">
            <a:avLst/>
          </a:prstGeom>
          <a:noFill/>
          <a:ln/>
        </p:spPr>
        <p:txBody>
          <a:bodyPr wrap="square" lIns="0" tIns="0" rIns="0" bIns="0" rtlCol="0" anchor="t"/>
          <a:lstStyle/>
          <a:p>
            <a:pPr algn="l" indent="0" marL="0">
              <a:buNone/>
            </a:pPr>
            <a:r>
              <a:rPr lang="en-US" sz="1900" b="1" spc="-20" kern="0" dirty="0">
                <a:solidFill>
                  <a:srgbClr val="E6EEF1"/>
                </a:solidFill>
                <a:latin typeface="Calibri" pitchFamily="34" charset="0"/>
                <a:ea typeface="Calibri" pitchFamily="34" charset="-122"/>
                <a:cs typeface="Calibri" pitchFamily="34" charset="-120"/>
              </a:rPr>
              <a:t>It shows shape, not score</a:t>
            </a:r>
            <a:endParaRPr lang="en-US" sz="1900" dirty="0"/>
          </a:p>
        </p:txBody>
      </p:sp>
      <p:sp>
        <p:nvSpPr>
          <p:cNvPr id="12" name="Text 10"/>
          <p:cNvSpPr txBox="1"/>
          <p:nvPr/>
        </p:nvSpPr>
        <p:spPr>
          <a:xfrm>
            <a:off x="4679594" y="3616452"/>
            <a:ext cx="2832506" cy="1097280"/>
          </a:xfrm>
          <a:prstGeom prst="rect">
            <a:avLst/>
          </a:prstGeom>
          <a:noFill/>
          <a:ln/>
        </p:spPr>
        <p:txBody>
          <a:bodyPr wrap="square" lIns="0" tIns="0" rIns="0" bIns="0" rtlCol="0" anchor="t"/>
          <a:lstStyle/>
          <a:p>
            <a:pPr algn="l" indent="0" marL="0">
              <a:lnSpc>
                <a:spcPts val="1800"/>
              </a:lnSpc>
              <a:buNone/>
            </a:pPr>
            <a:r>
              <a:rPr lang="en-US" sz="1350" dirty="0">
                <a:solidFill>
                  <a:srgbClr val="93A6AF"/>
                </a:solidFill>
                <a:latin typeface="Calibri" pitchFamily="34" charset="0"/>
                <a:ea typeface="Calibri" pitchFamily="34" charset="-122"/>
                <a:cs typeface="Calibri" pitchFamily="34" charset="-120"/>
              </a:rPr>
              <a:t>Dots, not a number. Three freezing and three roasting cannot hide behind a 0.0.</a:t>
            </a:r>
            <a:endParaRPr lang="en-US" sz="1350" dirty="0"/>
          </a:p>
        </p:txBody>
      </p:sp>
      <p:sp>
        <p:nvSpPr>
          <p:cNvPr id="13" name="Shape 11"/>
          <p:cNvSpPr/>
          <p:nvPr/>
        </p:nvSpPr>
        <p:spPr>
          <a:xfrm>
            <a:off x="8170469" y="1915668"/>
            <a:ext cx="3454298" cy="2962656"/>
          </a:xfrm>
          <a:prstGeom prst="roundRect">
            <a:avLst>
              <a:gd name="adj" fmla="val 1852"/>
            </a:avLst>
          </a:prstGeom>
          <a:solidFill>
            <a:srgbClr val="17242B"/>
          </a:solidFill>
          <a:ln w="12700">
            <a:solidFill>
              <a:srgbClr val="223139"/>
            </a:solidFill>
            <a:prstDash val="solid"/>
          </a:ln>
        </p:spPr>
      </p:sp>
      <p:sp>
        <p:nvSpPr>
          <p:cNvPr id="14" name="Shape 12"/>
          <p:cNvSpPr/>
          <p:nvPr/>
        </p:nvSpPr>
        <p:spPr>
          <a:xfrm>
            <a:off x="8481365" y="2226564"/>
            <a:ext cx="420624" cy="420624"/>
          </a:xfrm>
          <a:prstGeom prst="ellipse">
            <a:avLst/>
          </a:prstGeom>
          <a:solidFill>
            <a:srgbClr val="E6EEF1"/>
          </a:solidFill>
          <a:ln/>
        </p:spPr>
      </p:sp>
      <p:sp>
        <p:nvSpPr>
          <p:cNvPr id="15" name="Text 13"/>
          <p:cNvSpPr txBox="1"/>
          <p:nvPr/>
        </p:nvSpPr>
        <p:spPr>
          <a:xfrm>
            <a:off x="8481365" y="2237537"/>
            <a:ext cx="420624" cy="402336"/>
          </a:xfrm>
          <a:prstGeom prst="rect">
            <a:avLst/>
          </a:prstGeom>
          <a:noFill/>
          <a:ln/>
        </p:spPr>
        <p:txBody>
          <a:bodyPr wrap="square" lIns="0" tIns="0" rIns="0" bIns="0" rtlCol="0" anchor="ctr"/>
          <a:lstStyle/>
          <a:p>
            <a:pPr algn="ctr" indent="0" marL="0">
              <a:buNone/>
            </a:pPr>
            <a:r>
              <a:rPr lang="en-US" sz="1200" b="1" dirty="0">
                <a:solidFill>
                  <a:srgbClr val="101A1F"/>
                </a:solidFill>
                <a:latin typeface="Calibri" pitchFamily="34" charset="0"/>
                <a:ea typeface="Calibri" pitchFamily="34" charset="-122"/>
                <a:cs typeface="Calibri" pitchFamily="34" charset="-120"/>
              </a:rPr>
              <a:t>03</a:t>
            </a:r>
            <a:endParaRPr lang="en-US" sz="1200" dirty="0"/>
          </a:p>
        </p:txBody>
      </p:sp>
      <p:sp>
        <p:nvSpPr>
          <p:cNvPr id="16" name="Text 14"/>
          <p:cNvSpPr txBox="1"/>
          <p:nvPr/>
        </p:nvSpPr>
        <p:spPr>
          <a:xfrm>
            <a:off x="8481365" y="2793492"/>
            <a:ext cx="2832506" cy="676656"/>
          </a:xfrm>
          <a:prstGeom prst="rect">
            <a:avLst/>
          </a:prstGeom>
          <a:noFill/>
          <a:ln/>
        </p:spPr>
        <p:txBody>
          <a:bodyPr wrap="square" lIns="0" tIns="0" rIns="0" bIns="0" rtlCol="0" anchor="t"/>
          <a:lstStyle/>
          <a:p>
            <a:pPr algn="l" indent="0" marL="0">
              <a:buNone/>
            </a:pPr>
            <a:r>
              <a:rPr lang="en-US" sz="1900" b="1" spc="-20" kern="0" dirty="0">
                <a:solidFill>
                  <a:srgbClr val="E6EEF1"/>
                </a:solidFill>
                <a:latin typeface="Calibri" pitchFamily="34" charset="0"/>
                <a:ea typeface="Calibri" pitchFamily="34" charset="-122"/>
                <a:cs typeface="Calibri" pitchFamily="34" charset="-120"/>
              </a:rPr>
              <a:t>It expires</a:t>
            </a:r>
            <a:endParaRPr lang="en-US" sz="1900" dirty="0"/>
          </a:p>
        </p:txBody>
      </p:sp>
      <p:sp>
        <p:nvSpPr>
          <p:cNvPr id="17" name="Text 15"/>
          <p:cNvSpPr txBox="1"/>
          <p:nvPr/>
        </p:nvSpPr>
        <p:spPr>
          <a:xfrm>
            <a:off x="8481365" y="3616452"/>
            <a:ext cx="2832506" cy="1097280"/>
          </a:xfrm>
          <a:prstGeom prst="rect">
            <a:avLst/>
          </a:prstGeom>
          <a:noFill/>
          <a:ln/>
        </p:spPr>
        <p:txBody>
          <a:bodyPr wrap="square" lIns="0" tIns="0" rIns="0" bIns="0" rtlCol="0" anchor="t"/>
          <a:lstStyle/>
          <a:p>
            <a:pPr algn="l" indent="0" marL="0">
              <a:lnSpc>
                <a:spcPts val="1800"/>
              </a:lnSpc>
              <a:buNone/>
            </a:pPr>
            <a:r>
              <a:rPr lang="en-US" sz="1350" dirty="0">
                <a:solidFill>
                  <a:srgbClr val="93A6AF"/>
                </a:solidFill>
                <a:latin typeface="Calibri" pitchFamily="34" charset="0"/>
                <a:ea typeface="Calibri" pitchFamily="34" charset="-122"/>
                <a:cs typeface="Calibri" pitchFamily="34" charset="-120"/>
              </a:rPr>
              <a:t>Two hours and a vote is gone. The board is how the floor feels now — never a survey from March.</a:t>
            </a:r>
            <a:endParaRPr lang="en-US" sz="1350" dirty="0"/>
          </a:p>
        </p:txBody>
      </p:sp>
      <p:sp>
        <p:nvSpPr>
          <p:cNvPr id="18" name="Text 16"/>
          <p:cNvSpPr txBox="1"/>
          <p:nvPr/>
        </p:nvSpPr>
        <p:spPr>
          <a:xfrm>
            <a:off x="566928" y="5335524"/>
            <a:ext cx="11057839" cy="420624"/>
          </a:xfrm>
          <a:prstGeom prst="rect">
            <a:avLst/>
          </a:prstGeom>
          <a:noFill/>
          <a:ln/>
        </p:spPr>
        <p:txBody>
          <a:bodyPr wrap="square" lIns="0" tIns="0" rIns="0" bIns="0" rtlCol="0" anchor="t"/>
          <a:lstStyle/>
          <a:p>
            <a:pPr algn="l" indent="0" marL="0">
              <a:buNone/>
            </a:pPr>
            <a:r>
              <a:rPr lang="en-US" sz="1550" i="1" dirty="0">
                <a:solidFill>
                  <a:srgbClr val="78BBD8"/>
                </a:solidFill>
                <a:latin typeface="Calibri" pitchFamily="34" charset="0"/>
                <a:ea typeface="Calibri" pitchFamily="34" charset="-122"/>
                <a:cs typeface="Calibri" pitchFamily="34" charset="-120"/>
              </a:rPr>
              <a:t>A sensor measures the air. This measures the people in it — and they are the ones filing the tickets.</a:t>
            </a:r>
            <a:endParaRPr lang="en-US" sz="1550" dirty="0"/>
          </a:p>
        </p:txBody>
      </p:sp>
      <p:sp>
        <p:nvSpPr>
          <p:cNvPr id="19" name="Text 17"/>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93A6AF"/>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1A1F"/>
        </a:solidFill>
      </p:bgPr>
    </p:bg>
    <p:spTree>
      <p:nvGrpSpPr>
        <p:cNvPr id="1" name=""/>
        <p:cNvGrpSpPr/>
        <p:nvPr/>
      </p:nvGrpSpPr>
      <p:grpSpPr>
        <a:xfrm>
          <a:off x="0" y="0"/>
          <a:ext cx="0" cy="0"/>
          <a:chOff x="0" y="0"/>
          <a:chExt cx="0" cy="0"/>
        </a:xfrm>
      </p:grpSpPr>
      <p:sp>
        <p:nvSpPr>
          <p:cNvPr id="2" name="Text 0"/>
          <p:cNvSpPr txBox="1"/>
          <p:nvPr/>
        </p:nvSpPr>
        <p:spPr>
          <a:xfrm>
            <a:off x="566928" y="2048256"/>
            <a:ext cx="11057839" cy="1234440"/>
          </a:xfrm>
          <a:prstGeom prst="rect">
            <a:avLst/>
          </a:prstGeom>
          <a:noFill/>
          <a:ln/>
        </p:spPr>
        <p:txBody>
          <a:bodyPr wrap="square" lIns="0" tIns="0" rIns="0" bIns="0" rtlCol="0" anchor="t"/>
          <a:lstStyle/>
          <a:p>
            <a:pPr algn="l" indent="0" marL="0">
              <a:buNone/>
            </a:pPr>
            <a:r>
              <a:rPr lang="en-US" sz="7000" b="1" spc="-200" kern="0" dirty="0">
                <a:solidFill>
                  <a:srgbClr val="E6EEF1"/>
                </a:solidFill>
                <a:latin typeface="Calibri" pitchFamily="34" charset="0"/>
                <a:ea typeface="Calibri" pitchFamily="34" charset="-122"/>
                <a:cs typeface="Calibri" pitchFamily="34" charset="-120"/>
              </a:rPr>
              <a:t>Thermocracy</a:t>
            </a:r>
            <a:endParaRPr lang="en-US" sz="7000" dirty="0"/>
          </a:p>
        </p:txBody>
      </p:sp>
      <p:sp>
        <p:nvSpPr>
          <p:cNvPr id="3" name="Text 1"/>
          <p:cNvSpPr txBox="1"/>
          <p:nvPr/>
        </p:nvSpPr>
        <p:spPr>
          <a:xfrm>
            <a:off x="566928" y="3364992"/>
            <a:ext cx="11057839" cy="548640"/>
          </a:xfrm>
          <a:prstGeom prst="rect">
            <a:avLst/>
          </a:prstGeom>
          <a:noFill/>
          <a:ln/>
        </p:spPr>
        <p:txBody>
          <a:bodyPr wrap="square" lIns="0" tIns="0" rIns="0" bIns="0" rtlCol="0" anchor="t"/>
          <a:lstStyle/>
          <a:p>
            <a:pPr algn="l" indent="0" marL="0">
              <a:buNone/>
            </a:pPr>
            <a:r>
              <a:rPr lang="en-US" sz="2700" dirty="0">
                <a:solidFill>
                  <a:srgbClr val="78BBD8"/>
                </a:solidFill>
                <a:latin typeface="Calibri" pitchFamily="34" charset="0"/>
                <a:ea typeface="Calibri" pitchFamily="34" charset="-122"/>
                <a:cs typeface="Calibri" pitchFamily="34" charset="-120"/>
              </a:rPr>
              <a:t>Is it you, or is it the room?</a:t>
            </a:r>
            <a:endParaRPr lang="en-US" sz="2700" dirty="0"/>
          </a:p>
        </p:txBody>
      </p:sp>
      <p:sp>
        <p:nvSpPr>
          <p:cNvPr id="4" name="Shape 2"/>
          <p:cNvSpPr/>
          <p:nvPr/>
        </p:nvSpPr>
        <p:spPr>
          <a:xfrm>
            <a:off x="566928" y="4517136"/>
            <a:ext cx="296563" cy="155448"/>
          </a:xfrm>
          <a:prstGeom prst="rect">
            <a:avLst/>
          </a:prstGeom>
          <a:solidFill>
            <a:srgbClr val="5D9EE0"/>
          </a:solidFill>
          <a:ln/>
        </p:spPr>
      </p:sp>
      <p:sp>
        <p:nvSpPr>
          <p:cNvPr id="5" name="Shape 3"/>
          <p:cNvSpPr/>
          <p:nvPr/>
        </p:nvSpPr>
        <p:spPr>
          <a:xfrm>
            <a:off x="843374" y="4517136"/>
            <a:ext cx="296563" cy="155448"/>
          </a:xfrm>
          <a:prstGeom prst="rect">
            <a:avLst/>
          </a:prstGeom>
          <a:solidFill>
            <a:srgbClr val="60A1DF"/>
          </a:solidFill>
          <a:ln/>
        </p:spPr>
      </p:sp>
      <p:sp>
        <p:nvSpPr>
          <p:cNvPr id="6" name="Shape 4"/>
          <p:cNvSpPr/>
          <p:nvPr/>
        </p:nvSpPr>
        <p:spPr>
          <a:xfrm>
            <a:off x="1119820" y="4517136"/>
            <a:ext cx="296563" cy="155448"/>
          </a:xfrm>
          <a:prstGeom prst="rect">
            <a:avLst/>
          </a:prstGeom>
          <a:solidFill>
            <a:srgbClr val="63A4DE"/>
          </a:solidFill>
          <a:ln/>
        </p:spPr>
      </p:sp>
      <p:sp>
        <p:nvSpPr>
          <p:cNvPr id="7" name="Shape 5"/>
          <p:cNvSpPr/>
          <p:nvPr/>
        </p:nvSpPr>
        <p:spPr>
          <a:xfrm>
            <a:off x="1396266" y="4517136"/>
            <a:ext cx="296563" cy="155448"/>
          </a:xfrm>
          <a:prstGeom prst="rect">
            <a:avLst/>
          </a:prstGeom>
          <a:solidFill>
            <a:srgbClr val="65A7DE"/>
          </a:solidFill>
          <a:ln/>
        </p:spPr>
      </p:sp>
      <p:sp>
        <p:nvSpPr>
          <p:cNvPr id="8" name="Shape 6"/>
          <p:cNvSpPr/>
          <p:nvPr/>
        </p:nvSpPr>
        <p:spPr>
          <a:xfrm>
            <a:off x="1672712" y="4517136"/>
            <a:ext cx="296563" cy="155448"/>
          </a:xfrm>
          <a:prstGeom prst="rect">
            <a:avLst/>
          </a:prstGeom>
          <a:solidFill>
            <a:srgbClr val="68AADD"/>
          </a:solidFill>
          <a:ln/>
        </p:spPr>
      </p:sp>
      <p:sp>
        <p:nvSpPr>
          <p:cNvPr id="9" name="Shape 7"/>
          <p:cNvSpPr/>
          <p:nvPr/>
        </p:nvSpPr>
        <p:spPr>
          <a:xfrm>
            <a:off x="1949158" y="4517136"/>
            <a:ext cx="296563" cy="155448"/>
          </a:xfrm>
          <a:prstGeom prst="rect">
            <a:avLst/>
          </a:prstGeom>
          <a:solidFill>
            <a:srgbClr val="6BADDC"/>
          </a:solidFill>
          <a:ln/>
        </p:spPr>
      </p:sp>
      <p:sp>
        <p:nvSpPr>
          <p:cNvPr id="10" name="Shape 8"/>
          <p:cNvSpPr/>
          <p:nvPr/>
        </p:nvSpPr>
        <p:spPr>
          <a:xfrm>
            <a:off x="2225604" y="4517136"/>
            <a:ext cx="296563" cy="155448"/>
          </a:xfrm>
          <a:prstGeom prst="rect">
            <a:avLst/>
          </a:prstGeom>
          <a:solidFill>
            <a:srgbClr val="6EB0DB"/>
          </a:solidFill>
          <a:ln/>
        </p:spPr>
      </p:sp>
      <p:sp>
        <p:nvSpPr>
          <p:cNvPr id="11" name="Shape 9"/>
          <p:cNvSpPr/>
          <p:nvPr/>
        </p:nvSpPr>
        <p:spPr>
          <a:xfrm>
            <a:off x="2502050" y="4517136"/>
            <a:ext cx="296563" cy="155448"/>
          </a:xfrm>
          <a:prstGeom prst="rect">
            <a:avLst/>
          </a:prstGeom>
          <a:solidFill>
            <a:srgbClr val="70B3DA"/>
          </a:solidFill>
          <a:ln/>
        </p:spPr>
      </p:sp>
      <p:sp>
        <p:nvSpPr>
          <p:cNvPr id="12" name="Shape 10"/>
          <p:cNvSpPr/>
          <p:nvPr/>
        </p:nvSpPr>
        <p:spPr>
          <a:xfrm>
            <a:off x="2778496" y="4517136"/>
            <a:ext cx="296563" cy="155448"/>
          </a:xfrm>
          <a:prstGeom prst="rect">
            <a:avLst/>
          </a:prstGeom>
          <a:solidFill>
            <a:srgbClr val="73B6D9"/>
          </a:solidFill>
          <a:ln/>
        </p:spPr>
      </p:sp>
      <p:sp>
        <p:nvSpPr>
          <p:cNvPr id="13" name="Shape 11"/>
          <p:cNvSpPr/>
          <p:nvPr/>
        </p:nvSpPr>
        <p:spPr>
          <a:xfrm>
            <a:off x="3054942" y="4517136"/>
            <a:ext cx="296563" cy="155448"/>
          </a:xfrm>
          <a:prstGeom prst="rect">
            <a:avLst/>
          </a:prstGeom>
          <a:solidFill>
            <a:srgbClr val="76B9D9"/>
          </a:solidFill>
          <a:ln/>
        </p:spPr>
      </p:sp>
      <p:sp>
        <p:nvSpPr>
          <p:cNvPr id="14" name="Shape 12"/>
          <p:cNvSpPr/>
          <p:nvPr/>
        </p:nvSpPr>
        <p:spPr>
          <a:xfrm>
            <a:off x="3331388" y="4517136"/>
            <a:ext cx="296563" cy="155448"/>
          </a:xfrm>
          <a:prstGeom prst="rect">
            <a:avLst/>
          </a:prstGeom>
          <a:solidFill>
            <a:srgbClr val="77BBD6"/>
          </a:solidFill>
          <a:ln/>
        </p:spPr>
      </p:sp>
      <p:sp>
        <p:nvSpPr>
          <p:cNvPr id="15" name="Shape 13"/>
          <p:cNvSpPr/>
          <p:nvPr/>
        </p:nvSpPr>
        <p:spPr>
          <a:xfrm>
            <a:off x="3607834" y="4517136"/>
            <a:ext cx="296563" cy="155448"/>
          </a:xfrm>
          <a:prstGeom prst="rect">
            <a:avLst/>
          </a:prstGeom>
          <a:solidFill>
            <a:srgbClr val="74BBCF"/>
          </a:solidFill>
          <a:ln/>
        </p:spPr>
      </p:sp>
      <p:sp>
        <p:nvSpPr>
          <p:cNvPr id="16" name="Shape 14"/>
          <p:cNvSpPr/>
          <p:nvPr/>
        </p:nvSpPr>
        <p:spPr>
          <a:xfrm>
            <a:off x="3884280" y="4517136"/>
            <a:ext cx="296563" cy="155448"/>
          </a:xfrm>
          <a:prstGeom prst="rect">
            <a:avLst/>
          </a:prstGeom>
          <a:solidFill>
            <a:srgbClr val="70BBC8"/>
          </a:solidFill>
          <a:ln/>
        </p:spPr>
      </p:sp>
      <p:sp>
        <p:nvSpPr>
          <p:cNvPr id="17" name="Shape 15"/>
          <p:cNvSpPr/>
          <p:nvPr/>
        </p:nvSpPr>
        <p:spPr>
          <a:xfrm>
            <a:off x="4160726" y="4517136"/>
            <a:ext cx="296563" cy="155448"/>
          </a:xfrm>
          <a:prstGeom prst="rect">
            <a:avLst/>
          </a:prstGeom>
          <a:solidFill>
            <a:srgbClr val="6DBBC1"/>
          </a:solidFill>
          <a:ln/>
        </p:spPr>
      </p:sp>
      <p:sp>
        <p:nvSpPr>
          <p:cNvPr id="18" name="Shape 16"/>
          <p:cNvSpPr/>
          <p:nvPr/>
        </p:nvSpPr>
        <p:spPr>
          <a:xfrm>
            <a:off x="4437172" y="4517136"/>
            <a:ext cx="296563" cy="155448"/>
          </a:xfrm>
          <a:prstGeom prst="rect">
            <a:avLst/>
          </a:prstGeom>
          <a:solidFill>
            <a:srgbClr val="69BBBA"/>
          </a:solidFill>
          <a:ln/>
        </p:spPr>
      </p:sp>
      <p:sp>
        <p:nvSpPr>
          <p:cNvPr id="19" name="Shape 17"/>
          <p:cNvSpPr/>
          <p:nvPr/>
        </p:nvSpPr>
        <p:spPr>
          <a:xfrm>
            <a:off x="4713618" y="4517136"/>
            <a:ext cx="296563" cy="155448"/>
          </a:xfrm>
          <a:prstGeom prst="rect">
            <a:avLst/>
          </a:prstGeom>
          <a:solidFill>
            <a:srgbClr val="66BCB3"/>
          </a:solidFill>
          <a:ln/>
        </p:spPr>
      </p:sp>
      <p:sp>
        <p:nvSpPr>
          <p:cNvPr id="20" name="Shape 18"/>
          <p:cNvSpPr/>
          <p:nvPr/>
        </p:nvSpPr>
        <p:spPr>
          <a:xfrm>
            <a:off x="4990064" y="4517136"/>
            <a:ext cx="296563" cy="155448"/>
          </a:xfrm>
          <a:prstGeom prst="rect">
            <a:avLst/>
          </a:prstGeom>
          <a:solidFill>
            <a:srgbClr val="62BCAC"/>
          </a:solidFill>
          <a:ln/>
        </p:spPr>
      </p:sp>
      <p:sp>
        <p:nvSpPr>
          <p:cNvPr id="21" name="Shape 19"/>
          <p:cNvSpPr/>
          <p:nvPr/>
        </p:nvSpPr>
        <p:spPr>
          <a:xfrm>
            <a:off x="5266510" y="4517136"/>
            <a:ext cx="296563" cy="155448"/>
          </a:xfrm>
          <a:prstGeom prst="rect">
            <a:avLst/>
          </a:prstGeom>
          <a:solidFill>
            <a:srgbClr val="5FBCA5"/>
          </a:solidFill>
          <a:ln/>
        </p:spPr>
      </p:sp>
      <p:sp>
        <p:nvSpPr>
          <p:cNvPr id="22" name="Shape 20"/>
          <p:cNvSpPr/>
          <p:nvPr/>
        </p:nvSpPr>
        <p:spPr>
          <a:xfrm>
            <a:off x="5542956" y="4517136"/>
            <a:ext cx="296563" cy="155448"/>
          </a:xfrm>
          <a:prstGeom prst="rect">
            <a:avLst/>
          </a:prstGeom>
          <a:solidFill>
            <a:srgbClr val="5BBC9E"/>
          </a:solidFill>
          <a:ln/>
        </p:spPr>
      </p:sp>
      <p:sp>
        <p:nvSpPr>
          <p:cNvPr id="23" name="Shape 21"/>
          <p:cNvSpPr/>
          <p:nvPr/>
        </p:nvSpPr>
        <p:spPr>
          <a:xfrm>
            <a:off x="5819402" y="4517136"/>
            <a:ext cx="296563" cy="155448"/>
          </a:xfrm>
          <a:prstGeom prst="rect">
            <a:avLst/>
          </a:prstGeom>
          <a:solidFill>
            <a:srgbClr val="58BC97"/>
          </a:solidFill>
          <a:ln/>
        </p:spPr>
      </p:sp>
      <p:sp>
        <p:nvSpPr>
          <p:cNvPr id="24" name="Shape 22"/>
          <p:cNvSpPr/>
          <p:nvPr/>
        </p:nvSpPr>
        <p:spPr>
          <a:xfrm>
            <a:off x="6095848" y="4517136"/>
            <a:ext cx="296563" cy="155448"/>
          </a:xfrm>
          <a:prstGeom prst="rect">
            <a:avLst/>
          </a:prstGeom>
          <a:solidFill>
            <a:srgbClr val="5DBB90"/>
          </a:solidFill>
          <a:ln/>
        </p:spPr>
      </p:sp>
      <p:sp>
        <p:nvSpPr>
          <p:cNvPr id="25" name="Shape 23"/>
          <p:cNvSpPr/>
          <p:nvPr/>
        </p:nvSpPr>
        <p:spPr>
          <a:xfrm>
            <a:off x="6372294" y="4517136"/>
            <a:ext cx="296563" cy="155448"/>
          </a:xfrm>
          <a:prstGeom prst="rect">
            <a:avLst/>
          </a:prstGeom>
          <a:solidFill>
            <a:srgbClr val="6CB98A"/>
          </a:solidFill>
          <a:ln/>
        </p:spPr>
      </p:sp>
      <p:sp>
        <p:nvSpPr>
          <p:cNvPr id="26" name="Shape 24"/>
          <p:cNvSpPr/>
          <p:nvPr/>
        </p:nvSpPr>
        <p:spPr>
          <a:xfrm>
            <a:off x="6648740" y="4517136"/>
            <a:ext cx="296563" cy="155448"/>
          </a:xfrm>
          <a:prstGeom prst="rect">
            <a:avLst/>
          </a:prstGeom>
          <a:solidFill>
            <a:srgbClr val="7BB784"/>
          </a:solidFill>
          <a:ln/>
        </p:spPr>
      </p:sp>
      <p:sp>
        <p:nvSpPr>
          <p:cNvPr id="27" name="Shape 25"/>
          <p:cNvSpPr/>
          <p:nvPr/>
        </p:nvSpPr>
        <p:spPr>
          <a:xfrm>
            <a:off x="6925186" y="4517136"/>
            <a:ext cx="296563" cy="155448"/>
          </a:xfrm>
          <a:prstGeom prst="rect">
            <a:avLst/>
          </a:prstGeom>
          <a:solidFill>
            <a:srgbClr val="8AB47D"/>
          </a:solidFill>
          <a:ln/>
        </p:spPr>
      </p:sp>
      <p:sp>
        <p:nvSpPr>
          <p:cNvPr id="28" name="Shape 26"/>
          <p:cNvSpPr/>
          <p:nvPr/>
        </p:nvSpPr>
        <p:spPr>
          <a:xfrm>
            <a:off x="7201632" y="4517136"/>
            <a:ext cx="296563" cy="155448"/>
          </a:xfrm>
          <a:prstGeom prst="rect">
            <a:avLst/>
          </a:prstGeom>
          <a:solidFill>
            <a:srgbClr val="99B277"/>
          </a:solidFill>
          <a:ln/>
        </p:spPr>
      </p:sp>
      <p:sp>
        <p:nvSpPr>
          <p:cNvPr id="29" name="Shape 27"/>
          <p:cNvSpPr/>
          <p:nvPr/>
        </p:nvSpPr>
        <p:spPr>
          <a:xfrm>
            <a:off x="7478078" y="4517136"/>
            <a:ext cx="296563" cy="155448"/>
          </a:xfrm>
          <a:prstGeom prst="rect">
            <a:avLst/>
          </a:prstGeom>
          <a:solidFill>
            <a:srgbClr val="A8B071"/>
          </a:solidFill>
          <a:ln/>
        </p:spPr>
      </p:sp>
      <p:sp>
        <p:nvSpPr>
          <p:cNvPr id="30" name="Shape 28"/>
          <p:cNvSpPr/>
          <p:nvPr/>
        </p:nvSpPr>
        <p:spPr>
          <a:xfrm>
            <a:off x="7754523" y="4517136"/>
            <a:ext cx="296563" cy="155448"/>
          </a:xfrm>
          <a:prstGeom prst="rect">
            <a:avLst/>
          </a:prstGeom>
          <a:solidFill>
            <a:srgbClr val="B7AE6B"/>
          </a:solidFill>
          <a:ln/>
        </p:spPr>
      </p:sp>
      <p:sp>
        <p:nvSpPr>
          <p:cNvPr id="31" name="Shape 29"/>
          <p:cNvSpPr/>
          <p:nvPr/>
        </p:nvSpPr>
        <p:spPr>
          <a:xfrm>
            <a:off x="8030969" y="4517136"/>
            <a:ext cx="296563" cy="155448"/>
          </a:xfrm>
          <a:prstGeom prst="rect">
            <a:avLst/>
          </a:prstGeom>
          <a:solidFill>
            <a:srgbClr val="C6AC65"/>
          </a:solidFill>
          <a:ln/>
        </p:spPr>
      </p:sp>
      <p:sp>
        <p:nvSpPr>
          <p:cNvPr id="32" name="Shape 30"/>
          <p:cNvSpPr/>
          <p:nvPr/>
        </p:nvSpPr>
        <p:spPr>
          <a:xfrm>
            <a:off x="8307415" y="4517136"/>
            <a:ext cx="296563" cy="155448"/>
          </a:xfrm>
          <a:prstGeom prst="rect">
            <a:avLst/>
          </a:prstGeom>
          <a:solidFill>
            <a:srgbClr val="D5AA5F"/>
          </a:solidFill>
          <a:ln/>
        </p:spPr>
      </p:sp>
      <p:sp>
        <p:nvSpPr>
          <p:cNvPr id="33" name="Shape 31"/>
          <p:cNvSpPr/>
          <p:nvPr/>
        </p:nvSpPr>
        <p:spPr>
          <a:xfrm>
            <a:off x="8583861" y="4517136"/>
            <a:ext cx="296563" cy="155448"/>
          </a:xfrm>
          <a:prstGeom prst="rect">
            <a:avLst/>
          </a:prstGeom>
          <a:solidFill>
            <a:srgbClr val="E4A859"/>
          </a:solidFill>
          <a:ln/>
        </p:spPr>
      </p:sp>
      <p:sp>
        <p:nvSpPr>
          <p:cNvPr id="34" name="Shape 32"/>
          <p:cNvSpPr/>
          <p:nvPr/>
        </p:nvSpPr>
        <p:spPr>
          <a:xfrm>
            <a:off x="8860307" y="4517136"/>
            <a:ext cx="296563" cy="155448"/>
          </a:xfrm>
          <a:prstGeom prst="rect">
            <a:avLst/>
          </a:prstGeom>
          <a:solidFill>
            <a:srgbClr val="E7A357"/>
          </a:solidFill>
          <a:ln/>
        </p:spPr>
      </p:sp>
      <p:sp>
        <p:nvSpPr>
          <p:cNvPr id="35" name="Shape 33"/>
          <p:cNvSpPr/>
          <p:nvPr/>
        </p:nvSpPr>
        <p:spPr>
          <a:xfrm>
            <a:off x="9136753" y="4517136"/>
            <a:ext cx="296563" cy="155448"/>
          </a:xfrm>
          <a:prstGeom prst="rect">
            <a:avLst/>
          </a:prstGeom>
          <a:solidFill>
            <a:srgbClr val="E79D56"/>
          </a:solidFill>
          <a:ln/>
        </p:spPr>
      </p:sp>
      <p:sp>
        <p:nvSpPr>
          <p:cNvPr id="36" name="Shape 34"/>
          <p:cNvSpPr/>
          <p:nvPr/>
        </p:nvSpPr>
        <p:spPr>
          <a:xfrm>
            <a:off x="9413199" y="4517136"/>
            <a:ext cx="296563" cy="155448"/>
          </a:xfrm>
          <a:prstGeom prst="rect">
            <a:avLst/>
          </a:prstGeom>
          <a:solidFill>
            <a:srgbClr val="E69856"/>
          </a:solidFill>
          <a:ln/>
        </p:spPr>
      </p:sp>
      <p:sp>
        <p:nvSpPr>
          <p:cNvPr id="37" name="Shape 35"/>
          <p:cNvSpPr/>
          <p:nvPr/>
        </p:nvSpPr>
        <p:spPr>
          <a:xfrm>
            <a:off x="9689645" y="4517136"/>
            <a:ext cx="296563" cy="155448"/>
          </a:xfrm>
          <a:prstGeom prst="rect">
            <a:avLst/>
          </a:prstGeom>
          <a:solidFill>
            <a:srgbClr val="E59255"/>
          </a:solidFill>
          <a:ln/>
        </p:spPr>
      </p:sp>
      <p:sp>
        <p:nvSpPr>
          <p:cNvPr id="38" name="Shape 36"/>
          <p:cNvSpPr/>
          <p:nvPr/>
        </p:nvSpPr>
        <p:spPr>
          <a:xfrm>
            <a:off x="9966091" y="4517136"/>
            <a:ext cx="296563" cy="155448"/>
          </a:xfrm>
          <a:prstGeom prst="rect">
            <a:avLst/>
          </a:prstGeom>
          <a:solidFill>
            <a:srgbClr val="E48D55"/>
          </a:solidFill>
          <a:ln/>
        </p:spPr>
      </p:sp>
      <p:sp>
        <p:nvSpPr>
          <p:cNvPr id="39" name="Shape 37"/>
          <p:cNvSpPr/>
          <p:nvPr/>
        </p:nvSpPr>
        <p:spPr>
          <a:xfrm>
            <a:off x="10242537" y="4517136"/>
            <a:ext cx="296563" cy="155448"/>
          </a:xfrm>
          <a:prstGeom prst="rect">
            <a:avLst/>
          </a:prstGeom>
          <a:solidFill>
            <a:srgbClr val="E38754"/>
          </a:solidFill>
          <a:ln/>
        </p:spPr>
      </p:sp>
      <p:sp>
        <p:nvSpPr>
          <p:cNvPr id="40" name="Shape 38"/>
          <p:cNvSpPr/>
          <p:nvPr/>
        </p:nvSpPr>
        <p:spPr>
          <a:xfrm>
            <a:off x="10518983" y="4517136"/>
            <a:ext cx="296563" cy="155448"/>
          </a:xfrm>
          <a:prstGeom prst="rect">
            <a:avLst/>
          </a:prstGeom>
          <a:solidFill>
            <a:srgbClr val="E28254"/>
          </a:solidFill>
          <a:ln/>
        </p:spPr>
      </p:sp>
      <p:sp>
        <p:nvSpPr>
          <p:cNvPr id="41" name="Shape 39"/>
          <p:cNvSpPr/>
          <p:nvPr/>
        </p:nvSpPr>
        <p:spPr>
          <a:xfrm>
            <a:off x="10795429" y="4517136"/>
            <a:ext cx="296563" cy="155448"/>
          </a:xfrm>
          <a:prstGeom prst="rect">
            <a:avLst/>
          </a:prstGeom>
          <a:solidFill>
            <a:srgbClr val="E27C53"/>
          </a:solidFill>
          <a:ln/>
        </p:spPr>
      </p:sp>
      <p:sp>
        <p:nvSpPr>
          <p:cNvPr id="42" name="Shape 40"/>
          <p:cNvSpPr/>
          <p:nvPr/>
        </p:nvSpPr>
        <p:spPr>
          <a:xfrm>
            <a:off x="11071875" y="4517136"/>
            <a:ext cx="296563" cy="155448"/>
          </a:xfrm>
          <a:prstGeom prst="rect">
            <a:avLst/>
          </a:prstGeom>
          <a:solidFill>
            <a:srgbClr val="E17753"/>
          </a:solidFill>
          <a:ln/>
        </p:spPr>
      </p:sp>
      <p:sp>
        <p:nvSpPr>
          <p:cNvPr id="43" name="Shape 41"/>
          <p:cNvSpPr/>
          <p:nvPr/>
        </p:nvSpPr>
        <p:spPr>
          <a:xfrm>
            <a:off x="11348321" y="4517136"/>
            <a:ext cx="276446" cy="155448"/>
          </a:xfrm>
          <a:prstGeom prst="rect">
            <a:avLst/>
          </a:prstGeom>
          <a:solidFill>
            <a:srgbClr val="E07152"/>
          </a:solidFill>
          <a:ln/>
        </p:spPr>
      </p:sp>
      <p:sp>
        <p:nvSpPr>
          <p:cNvPr id="44" name="Text 42"/>
          <p:cNvSpPr txBox="1"/>
          <p:nvPr/>
        </p:nvSpPr>
        <p:spPr>
          <a:xfrm>
            <a:off x="566928" y="4754880"/>
            <a:ext cx="2743200" cy="237744"/>
          </a:xfrm>
          <a:prstGeom prst="rect">
            <a:avLst/>
          </a:prstGeom>
          <a:noFill/>
          <a:ln/>
        </p:spPr>
        <p:txBody>
          <a:bodyPr wrap="square" lIns="0" tIns="0" rIns="0" bIns="0" rtlCol="0" anchor="t"/>
          <a:lstStyle/>
          <a:p>
            <a:pPr algn="l" indent="0" marL="0">
              <a:buNone/>
            </a:pPr>
            <a:r>
              <a:rPr lang="en-US" sz="1100" dirty="0">
                <a:solidFill>
                  <a:srgbClr val="93A6AF"/>
                </a:solidFill>
                <a:latin typeface="Calibri" pitchFamily="34" charset="0"/>
                <a:ea typeface="Calibri" pitchFamily="34" charset="-122"/>
                <a:cs typeface="Calibri" pitchFamily="34" charset="-120"/>
              </a:rPr>
              <a:t>freezing</a:t>
            </a:r>
            <a:endParaRPr lang="en-US" sz="1100" dirty="0"/>
          </a:p>
        </p:txBody>
      </p:sp>
      <p:sp>
        <p:nvSpPr>
          <p:cNvPr id="45" name="Text 43"/>
          <p:cNvSpPr txBox="1"/>
          <p:nvPr/>
        </p:nvSpPr>
        <p:spPr>
          <a:xfrm>
            <a:off x="8881567" y="4754880"/>
            <a:ext cx="2743200" cy="237744"/>
          </a:xfrm>
          <a:prstGeom prst="rect">
            <a:avLst/>
          </a:prstGeom>
          <a:noFill/>
          <a:ln/>
        </p:spPr>
        <p:txBody>
          <a:bodyPr wrap="square" lIns="0" tIns="0" rIns="0" bIns="0" rtlCol="0" anchor="t"/>
          <a:lstStyle/>
          <a:p>
            <a:pPr algn="r" indent="0" marL="0">
              <a:buNone/>
            </a:pPr>
            <a:r>
              <a:rPr lang="en-US" sz="1100" dirty="0">
                <a:solidFill>
                  <a:srgbClr val="93A6AF"/>
                </a:solidFill>
                <a:latin typeface="Calibri" pitchFamily="34" charset="0"/>
                <a:ea typeface="Calibri" pitchFamily="34" charset="-122"/>
                <a:cs typeface="Calibri" pitchFamily="34" charset="-120"/>
              </a:rPr>
              <a:t>roasting</a:t>
            </a:r>
            <a:endParaRPr lang="en-US" sz="1100" dirty="0"/>
          </a:p>
        </p:txBody>
      </p:sp>
      <p:sp>
        <p:nvSpPr>
          <p:cNvPr id="46" name="Text 44"/>
          <p:cNvSpPr txBox="1"/>
          <p:nvPr/>
        </p:nvSpPr>
        <p:spPr>
          <a:xfrm>
            <a:off x="566928" y="5340096"/>
            <a:ext cx="8595360" cy="457200"/>
          </a:xfrm>
          <a:prstGeom prst="rect">
            <a:avLst/>
          </a:prstGeom>
          <a:noFill/>
          <a:ln/>
        </p:spPr>
        <p:txBody>
          <a:bodyPr wrap="square" lIns="0" tIns="0" rIns="0" bIns="0" rtlCol="0" anchor="t"/>
          <a:lstStyle/>
          <a:p>
            <a:pPr algn="l" indent="0" marL="0">
              <a:buNone/>
            </a:pPr>
            <a:r>
              <a:rPr lang="en-US" sz="1550" dirty="0">
                <a:solidFill>
                  <a:srgbClr val="E6EEF1"/>
                </a:solidFill>
                <a:latin typeface="Calibri" pitchFamily="34" charset="0"/>
                <a:ea typeface="Calibri" pitchFamily="34" charset="-122"/>
                <a:cs typeface="Calibri" pitchFamily="34" charset="-120"/>
              </a:rPr>
              <a:t>Now the floor can answer.</a:t>
            </a:r>
            <a:endParaRPr lang="en-US" sz="1550" dirty="0"/>
          </a:p>
        </p:txBody>
      </p:sp>
      <p:sp>
        <p:nvSpPr>
          <p:cNvPr id="47" name="Text 45"/>
          <p:cNvSpPr txBox="1"/>
          <p:nvPr/>
        </p:nvSpPr>
        <p:spPr>
          <a:xfrm>
            <a:off x="566928" y="5797296"/>
            <a:ext cx="8595360" cy="365760"/>
          </a:xfrm>
          <a:prstGeom prst="rect">
            <a:avLst/>
          </a:prstGeom>
          <a:noFill/>
          <a:ln/>
        </p:spPr>
        <p:txBody>
          <a:bodyPr wrap="square" lIns="0" tIns="0" rIns="0" bIns="0" rtlCol="0" anchor="t"/>
          <a:lstStyle/>
          <a:p>
            <a:pPr algn="l" indent="0" marL="0">
              <a:buNone/>
            </a:pPr>
            <a:r>
              <a:rPr lang="en-US" sz="1300" dirty="0">
                <a:solidFill>
                  <a:srgbClr val="93A6AF"/>
                </a:solidFill>
                <a:latin typeface="Calibri" pitchFamily="34" charset="0"/>
                <a:ea typeface="Calibri" pitchFamily="34" charset="-122"/>
                <a:cs typeface="Calibri" pitchFamily="34" charset="-120"/>
              </a:rPr>
              <a:t>Level 7 settled its own argument in ninety minutes.</a:t>
            </a:r>
            <a:endParaRPr lang="en-US" sz="1300" dirty="0"/>
          </a:p>
        </p:txBody>
      </p:sp>
      <p:sp>
        <p:nvSpPr>
          <p:cNvPr id="48" name="Text 46"/>
          <p:cNvSpPr txBox="1"/>
          <p:nvPr/>
        </p:nvSpPr>
        <p:spPr>
          <a:xfrm>
            <a:off x="11076127" y="6419088"/>
            <a:ext cx="548640" cy="237744"/>
          </a:xfrm>
          <a:prstGeom prst="rect">
            <a:avLst/>
          </a:prstGeom>
          <a:noFill/>
          <a:ln/>
        </p:spPr>
        <p:txBody>
          <a:bodyPr wrap="square" lIns="0" tIns="0" rIns="0" bIns="0" rtlCol="0" anchor="t"/>
          <a:lstStyle/>
          <a:p>
            <a:pPr algn="r" indent="0" marL="0">
              <a:buNone/>
            </a:pPr>
            <a:r>
              <a:rPr lang="en-US" sz="950" dirty="0">
                <a:solidFill>
                  <a:srgbClr val="93A6AF"/>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Thermocracy — is it you, or is it the room?</dc:title>
  <dc:subject>A shared board for how the office actually feels</dc:subject>
  <dc:creator>Thermocracy</dc:creator>
  <cp:lastModifiedBy>Thermocracy</cp:lastModifiedBy>
  <cp:revision>1</cp:revision>
  <dcterms:created xsi:type="dcterms:W3CDTF">2026-09-23T05:20:53Z</dcterms:created>
  <dcterms:modified xsi:type="dcterms:W3CDTF">2026-09-23T05:20:53Z</dcterms:modified>
</cp:coreProperties>
</file>